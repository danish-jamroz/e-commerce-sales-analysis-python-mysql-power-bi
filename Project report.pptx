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4"/>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Lst>
  <p:sldSz cx="12192000" cy="6858000"/>
  <p:notesSz cx="6858000" cy="12192000"/>
  <p:embeddedFontLst>
    <p:embeddedFont>
      <p:font typeface="Heebo" panose="020B0604020202020204" charset="-79"/>
      <p:regular r:id="rId55"/>
    </p:embeddedFont>
    <p:embeddedFont>
      <p:font typeface="Crimson Pro SemiBold" panose="020B0604020202020204" charset="0"/>
      <p:regular r:id="rId56"/>
    </p:embeddedFont>
    <p:embeddedFont>
      <p:font typeface="Heebo Bold" panose="020B0604020202020204" charset="-79"/>
      <p:regular r:id="rId57"/>
    </p:embeddedFont>
    <p:embeddedFont>
      <p:font typeface="Calibri" panose="020F0502020204030204" pitchFamily="34" charset="0"/>
      <p:regular r:id="rId58"/>
      <p:bold r:id="rId59"/>
      <p:italic r:id="rId60"/>
      <p:boldItalic r:id="rId6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8" d="100"/>
          <a:sy n="68" d="100"/>
        </p:scale>
        <p:origin x="5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61"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9065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73614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574075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3974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875246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11839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1224801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10667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88811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184087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9575033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6751804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980097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341031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801317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5382422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6774437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5415339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5882347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7186988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47868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5520608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2085486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0559383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7500263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1757692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8916164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3647361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7375150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8247223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1174822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7885033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7853899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2312481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7905924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3806297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2588244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96440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7490987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6039035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4450744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8432893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3617649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41314096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39444877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42581366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31332518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5615034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562525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744478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1"/>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6.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8.png"/><Relationship Id="rId9" Type="http://schemas.openxmlformats.org/officeDocument/2006/relationships/image" Target="NUL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NUL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10.png"/><Relationship Id="rId9" Type="http://schemas.openxmlformats.org/officeDocument/2006/relationships/image" Target="NULL"/></Relationships>
</file>

<file path=ppt/slides/_rels/slide10.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1.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11.jpeg"/><Relationship Id="rId7" Type="http://schemas.openxmlformats.org/officeDocument/2006/relationships/image" Target="NUL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NUL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9.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16.png"/><Relationship Id="rId7" Type="http://schemas.openxmlformats.org/officeDocument/2006/relationships/image" Target="NUL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NULL"/><Relationship Id="rId4" Type="http://schemas.openxmlformats.org/officeDocument/2006/relationships/image" Target="NUL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2838351"/>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Ecommerce Sales Analysis Project</a:t>
            </a:r>
            <a:endParaRPr lang="en-US" sz="37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1444526"/>
            <a:ext cx="2536861" cy="287139"/>
          </a:xfrm>
          <a:prstGeom prst="roundRect">
            <a:avLst>
              <a:gd name="adj" fmla="val 7899"/>
            </a:avLst>
          </a:prstGeom>
          <a:noFill/>
          <a:ln w="6350">
            <a:solidFill>
              <a:srgbClr val="2150FE"/>
            </a:solidFill>
            <a:prstDash val="solid"/>
          </a:ln>
        </p:spPr>
      </p:sp>
      <p:sp>
        <p:nvSpPr>
          <p:cNvPr id="3" name="Text 1"/>
          <p:cNvSpPr/>
          <p:nvPr/>
        </p:nvSpPr>
        <p:spPr>
          <a:xfrm>
            <a:off x="774879" y="1501180"/>
            <a:ext cx="2919637" cy="173831"/>
          </a:xfrm>
          <a:prstGeom prst="rect">
            <a:avLst/>
          </a:prstGeom>
          <a:noFill/>
          <a:ln/>
        </p:spPr>
        <p:txBody>
          <a:bodyPr wrap="none" lIns="0" tIns="0" rIns="0" bIns="0" rtlCol="0" anchor="t"/>
          <a:lstStyle/>
          <a:p>
            <a:pPr marL="0" indent="0" algn="l">
              <a:lnSpc>
                <a:spcPct val="96000"/>
              </a:lnSpc>
              <a:buNone/>
            </a:pPr>
            <a:r>
              <a:rPr lang="en-US" sz="1150" dirty="0">
                <a:solidFill>
                  <a:srgbClr val="2150FE"/>
                </a:solidFill>
                <a:latin typeface="Heebo" pitchFamily="34" charset="0"/>
                <a:ea typeface="Heebo" pitchFamily="34" charset="-122"/>
                <a:cs typeface="Heebo" pitchFamily="34" charset="-120"/>
              </a:rPr>
              <a:t>BUSINESS PROBLEM STATEMENT</a:t>
            </a:r>
            <a:endParaRPr lang="en-US" sz="1150" dirty="0"/>
          </a:p>
        </p:txBody>
      </p:sp>
      <p:sp>
        <p:nvSpPr>
          <p:cNvPr id="4" name="Text 2"/>
          <p:cNvSpPr/>
          <p:nvPr/>
        </p:nvSpPr>
        <p:spPr>
          <a:xfrm>
            <a:off x="661475" y="1807270"/>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Business Problem Statement</a:t>
            </a:r>
            <a:endParaRPr lang="en-US" sz="3700" dirty="0"/>
          </a:p>
        </p:txBody>
      </p:sp>
      <p:sp>
        <p:nvSpPr>
          <p:cNvPr id="5" name="Text 3"/>
          <p:cNvSpPr/>
          <p:nvPr/>
        </p:nvSpPr>
        <p:spPr>
          <a:xfrm>
            <a:off x="661475" y="2988866"/>
            <a:ext cx="6336745" cy="2116931"/>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The organization operates a multi-category e-commerce platform serving customers across multiple regions and sales channels. While order volumes have remained relatively stable, senior leadership has observed that </a:t>
            </a:r>
            <a:r>
              <a:rPr lang="en-US" sz="1450" b="1" dirty="0">
                <a:solidFill>
                  <a:srgbClr val="4C4C4D"/>
                </a:solidFill>
                <a:latin typeface="Heebo Bold" pitchFamily="34" charset="0"/>
                <a:ea typeface="Heebo Bold" pitchFamily="34" charset="-122"/>
                <a:cs typeface="Heebo Bold" pitchFamily="34" charset="-120"/>
              </a:rPr>
              <a:t>revenue growth is not translating into proportional profitability</a:t>
            </a:r>
            <a:r>
              <a:rPr lang="en-US" sz="1450" dirty="0">
                <a:solidFill>
                  <a:srgbClr val="4C4C4D"/>
                </a:solidFill>
                <a:latin typeface="Heebo" pitchFamily="34" charset="0"/>
                <a:ea typeface="Heebo" pitchFamily="34" charset="-122"/>
                <a:cs typeface="Heebo" pitchFamily="34" charset="-120"/>
              </a:rPr>
              <a:t>. This suggests that certain products, customer segments, discount practices, or operational inefficiencies may be quietly eroding margins even as top-line sales figures appear healthy.</a:t>
            </a:r>
            <a:endParaRPr lang="en-US" sz="1450" dirty="0"/>
          </a:p>
        </p:txBody>
      </p:sp>
      <p:pic>
        <p:nvPicPr>
          <p:cNvPr id="6" name="Image 0" descr="preencoded.png"/>
          <p:cNvPicPr>
            <a:picLocks noChangeAspect="1"/>
          </p:cNvPicPr>
          <p:nvPr/>
        </p:nvPicPr>
        <p:blipFill>
          <a:blip r:embed="rId3"/>
          <a:stretch>
            <a:fillRect/>
          </a:stretch>
        </p:blipFill>
        <p:spPr>
          <a:xfrm>
            <a:off x="7465727" y="2894013"/>
            <a:ext cx="4070744" cy="2306737"/>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1841897"/>
            <a:ext cx="1803256" cy="287139"/>
          </a:xfrm>
          <a:prstGeom prst="roundRect">
            <a:avLst>
              <a:gd name="adj" fmla="val 7899"/>
            </a:avLst>
          </a:prstGeom>
          <a:noFill/>
          <a:ln w="6350">
            <a:solidFill>
              <a:srgbClr val="2150FE"/>
            </a:solidFill>
            <a:prstDash val="solid"/>
          </a:ln>
        </p:spPr>
      </p:sp>
      <p:sp>
        <p:nvSpPr>
          <p:cNvPr id="3" name="Text 1"/>
          <p:cNvSpPr/>
          <p:nvPr/>
        </p:nvSpPr>
        <p:spPr>
          <a:xfrm>
            <a:off x="774879" y="1898551"/>
            <a:ext cx="2186032" cy="173831"/>
          </a:xfrm>
          <a:prstGeom prst="rect">
            <a:avLst/>
          </a:prstGeom>
          <a:noFill/>
          <a:ln/>
        </p:spPr>
        <p:txBody>
          <a:bodyPr wrap="none" lIns="0" tIns="0" rIns="0" bIns="0" rtlCol="0" anchor="t"/>
          <a:lstStyle/>
          <a:p>
            <a:pPr marL="0" indent="0" algn="l">
              <a:lnSpc>
                <a:spcPct val="96000"/>
              </a:lnSpc>
              <a:buNone/>
            </a:pPr>
            <a:r>
              <a:rPr lang="en-US" sz="1150" dirty="0">
                <a:solidFill>
                  <a:srgbClr val="2150FE"/>
                </a:solidFill>
                <a:latin typeface="Heebo" pitchFamily="34" charset="0"/>
                <a:ea typeface="Heebo" pitchFamily="34" charset="-122"/>
                <a:cs typeface="Heebo" pitchFamily="34" charset="-120"/>
              </a:rPr>
              <a:t>PROBLEM STATEMENT</a:t>
            </a:r>
            <a:endParaRPr lang="en-US" sz="1150" dirty="0"/>
          </a:p>
        </p:txBody>
      </p:sp>
      <p:sp>
        <p:nvSpPr>
          <p:cNvPr id="4" name="Text 2"/>
          <p:cNvSpPr/>
          <p:nvPr/>
        </p:nvSpPr>
        <p:spPr>
          <a:xfrm>
            <a:off x="661475" y="220464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Problem Statement</a:t>
            </a:r>
            <a:endParaRPr lang="en-US" sz="3700" dirty="0"/>
          </a:p>
        </p:txBody>
      </p:sp>
      <p:sp>
        <p:nvSpPr>
          <p:cNvPr id="5" name="Text 3"/>
          <p:cNvSpPr/>
          <p:nvPr/>
        </p:nvSpPr>
        <p:spPr>
          <a:xfrm>
            <a:off x="944936" y="3291384"/>
            <a:ext cx="10585284"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"Although the company continues to generate consistent sales volume, profitability growth has stagnated. Leadership lacks clear visibility into which product categories, customer segments, sales channels, and operational factors are contributing to — or detracting from — overall profitability. Without this insight, the organization risks continuing to invest in low-yield areas while under-leveraging its most profitable opportunities. This analysis aims to identify the key drivers of sales performance and profitability, and to provide data-driven recommendations that support sustainable, margin-conscious revenue growth."</a:t>
            </a:r>
            <a:endParaRPr lang="en-US" sz="1450" dirty="0"/>
          </a:p>
        </p:txBody>
      </p:sp>
      <p:sp>
        <p:nvSpPr>
          <p:cNvPr id="6" name="Shape 4"/>
          <p:cNvSpPr/>
          <p:nvPr/>
        </p:nvSpPr>
        <p:spPr>
          <a:xfrm>
            <a:off x="661475" y="3078758"/>
            <a:ext cx="25399" cy="1937345"/>
          </a:xfrm>
          <a:prstGeom prst="roundRect">
            <a:avLst>
              <a:gd name="adj" fmla="val 60001"/>
            </a:avLst>
          </a:prstGeom>
          <a:solidFill>
            <a:srgbClr val="2150FE"/>
          </a:solidFill>
          <a:ln/>
        </p:spPr>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3133626"/>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Business Questions</a:t>
            </a:r>
            <a:endParaRPr lang="en-US" sz="3700" dirty="0"/>
          </a:p>
        </p:txBody>
      </p:sp>
    </p:spTree>
    <p:extLst>
      <p:ext uri="{BB962C8B-B14F-4D97-AF65-F5344CB8AC3E}">
        <p14:creationId xmlns:p14="http://schemas.microsoft.com/office/powerpoint/2010/main" val="27877070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2142530"/>
            <a:ext cx="1627048" cy="287139"/>
          </a:xfrm>
          <a:prstGeom prst="roundRect">
            <a:avLst>
              <a:gd name="adj" fmla="val 7899"/>
            </a:avLst>
          </a:prstGeom>
          <a:solidFill>
            <a:srgbClr val="CCD7FF"/>
          </a:solidFill>
          <a:ln/>
        </p:spPr>
      </p:sp>
      <p:sp>
        <p:nvSpPr>
          <p:cNvPr id="3" name="Text 1"/>
          <p:cNvSpPr/>
          <p:nvPr/>
        </p:nvSpPr>
        <p:spPr>
          <a:xfrm>
            <a:off x="774879" y="2199184"/>
            <a:ext cx="2009824"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01 — PROFITABILITY</a:t>
            </a:r>
            <a:endParaRPr lang="en-US" sz="1150" dirty="0"/>
          </a:p>
        </p:txBody>
      </p:sp>
      <p:sp>
        <p:nvSpPr>
          <p:cNvPr id="4" name="Text 2"/>
          <p:cNvSpPr/>
          <p:nvPr/>
        </p:nvSpPr>
        <p:spPr>
          <a:xfrm>
            <a:off x="661475" y="2505273"/>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Overall Profitability Performance</a:t>
            </a:r>
            <a:endParaRPr lang="en-US" sz="37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661475" y="3379391"/>
            <a:ext cx="3496877" cy="1336080"/>
          </a:xfrm>
          <a:prstGeom prst="rect">
            <a:avLst/>
          </a:prstGeom>
        </p:spPr>
      </p:pic>
      <p:sp>
        <p:nvSpPr>
          <p:cNvPr id="6" name="Text 3"/>
          <p:cNvSpPr/>
          <p:nvPr/>
        </p:nvSpPr>
        <p:spPr>
          <a:xfrm>
            <a:off x="977479" y="3593802"/>
            <a:ext cx="2966467"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How is the company's current sales performance translating into profitability?</a:t>
            </a:r>
            <a:endParaRPr lang="en-US" sz="14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347359" y="3379391"/>
            <a:ext cx="3496877" cy="1336080"/>
          </a:xfrm>
          <a:prstGeom prst="rect">
            <a:avLst/>
          </a:prstGeom>
        </p:spPr>
      </p:pic>
      <p:sp>
        <p:nvSpPr>
          <p:cNvPr id="8" name="Text 4"/>
          <p:cNvSpPr/>
          <p:nvPr/>
        </p:nvSpPr>
        <p:spPr>
          <a:xfrm>
            <a:off x="4663363" y="3593802"/>
            <a:ext cx="2966467"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Why is profit growth not increasing proportionally with revenue growth?</a:t>
            </a:r>
            <a:endParaRPr lang="en-US" sz="1450" dirty="0"/>
          </a:p>
        </p:txBody>
      </p:sp>
      <p:pic>
        <p:nvPicPr>
          <p:cNvPr id="9"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8033244" y="3379391"/>
            <a:ext cx="3496877" cy="1336080"/>
          </a:xfrm>
          <a:prstGeom prst="rect">
            <a:avLst/>
          </a:prstGeom>
        </p:spPr>
      </p:pic>
      <p:sp>
        <p:nvSpPr>
          <p:cNvPr id="10" name="Text 5"/>
          <p:cNvSpPr/>
          <p:nvPr/>
        </p:nvSpPr>
        <p:spPr>
          <a:xfrm>
            <a:off x="8349247" y="3593802"/>
            <a:ext cx="296646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What factors are influencing overall profitability?</a:t>
            </a:r>
            <a:endParaRPr lang="en-US" sz="1450" dirty="0"/>
          </a:p>
        </p:txBody>
      </p:sp>
    </p:spTree>
    <p:extLst>
      <p:ext uri="{BB962C8B-B14F-4D97-AF65-F5344CB8AC3E}">
        <p14:creationId xmlns:p14="http://schemas.microsoft.com/office/powerpoint/2010/main" val="29609706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682353"/>
            <a:ext cx="2181667" cy="287139"/>
          </a:xfrm>
          <a:prstGeom prst="roundRect">
            <a:avLst>
              <a:gd name="adj" fmla="val 7899"/>
            </a:avLst>
          </a:prstGeom>
          <a:solidFill>
            <a:srgbClr val="CCD7FF"/>
          </a:solidFill>
          <a:ln/>
        </p:spPr>
      </p:sp>
      <p:sp>
        <p:nvSpPr>
          <p:cNvPr id="3" name="Text 1"/>
          <p:cNvSpPr/>
          <p:nvPr/>
        </p:nvSpPr>
        <p:spPr>
          <a:xfrm>
            <a:off x="774879" y="1739007"/>
            <a:ext cx="2564443"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02 — PRODUCT &amp; CATEGORY</a:t>
            </a:r>
            <a:endParaRPr lang="en-US" sz="1150" dirty="0"/>
          </a:p>
        </p:txBody>
      </p:sp>
      <p:sp>
        <p:nvSpPr>
          <p:cNvPr id="4" name="Text 2"/>
          <p:cNvSpPr/>
          <p:nvPr/>
        </p:nvSpPr>
        <p:spPr>
          <a:xfrm>
            <a:off x="661475" y="204509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Product and Category Performance</a:t>
            </a:r>
            <a:endParaRPr lang="en-US" sz="37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661475" y="2919214"/>
            <a:ext cx="5339820" cy="1033661"/>
          </a:xfrm>
          <a:prstGeom prst="rect">
            <a:avLst/>
          </a:prstGeom>
        </p:spPr>
      </p:pic>
      <p:sp>
        <p:nvSpPr>
          <p:cNvPr id="6" name="Text 3"/>
          <p:cNvSpPr/>
          <p:nvPr/>
        </p:nvSpPr>
        <p:spPr>
          <a:xfrm>
            <a:off x="977479" y="3133626"/>
            <a:ext cx="480940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Which product categories and products are driving profitable growth?</a:t>
            </a:r>
            <a:endParaRPr lang="en-US" sz="14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6190301" y="2919214"/>
            <a:ext cx="5339919" cy="1033661"/>
          </a:xfrm>
          <a:prstGeom prst="rect">
            <a:avLst/>
          </a:prstGeom>
        </p:spPr>
      </p:pic>
      <p:sp>
        <p:nvSpPr>
          <p:cNvPr id="8" name="Text 4"/>
          <p:cNvSpPr/>
          <p:nvPr/>
        </p:nvSpPr>
        <p:spPr>
          <a:xfrm>
            <a:off x="6506305" y="3133626"/>
            <a:ext cx="480950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Which products are generating high revenue but low profitability?</a:t>
            </a:r>
            <a:endParaRPr lang="en-US" sz="1450" dirty="0"/>
          </a:p>
        </p:txBody>
      </p:sp>
      <p:pic>
        <p:nvPicPr>
          <p:cNvPr id="9"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661475" y="4141887"/>
            <a:ext cx="5339820" cy="1033661"/>
          </a:xfrm>
          <a:prstGeom prst="rect">
            <a:avLst/>
          </a:prstGeom>
        </p:spPr>
      </p:pic>
      <p:sp>
        <p:nvSpPr>
          <p:cNvPr id="10" name="Text 5"/>
          <p:cNvSpPr/>
          <p:nvPr/>
        </p:nvSpPr>
        <p:spPr>
          <a:xfrm>
            <a:off x="977479" y="4356298"/>
            <a:ext cx="480940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Which products or categories are negatively impacting overall margins?</a:t>
            </a:r>
            <a:endParaRPr lang="en-US" sz="1450" dirty="0"/>
          </a:p>
        </p:txBody>
      </p:sp>
      <p:pic>
        <p:nvPicPr>
          <p:cNvPr id="11" name="Image 3" descr="preencoded.png"/>
          <p:cNvPicPr>
            <a:picLocks noChangeAspect="1"/>
          </p:cNvPicPr>
          <p:nvPr/>
        </p:nvPicPr>
        <p:blipFill>
          <a:blip r:embed="rId3">
            <a:extLst>
              <a:ext uri="{96DAC541-7B7A-43D3-8B79-37D633B846F1}">
                <asvg:svgBlip xmlns:asvg="http://schemas.microsoft.com/office/drawing/2016/SVG/main" xmlns="" r:embed="rId8"/>
              </a:ext>
            </a:extLst>
          </a:blip>
          <a:stretch>
            <a:fillRect/>
          </a:stretch>
        </p:blipFill>
        <p:spPr>
          <a:xfrm>
            <a:off x="6190301" y="4141887"/>
            <a:ext cx="5339919" cy="1033661"/>
          </a:xfrm>
          <a:prstGeom prst="rect">
            <a:avLst/>
          </a:prstGeom>
        </p:spPr>
      </p:pic>
      <p:sp>
        <p:nvSpPr>
          <p:cNvPr id="12" name="Text 6"/>
          <p:cNvSpPr/>
          <p:nvPr/>
        </p:nvSpPr>
        <p:spPr>
          <a:xfrm>
            <a:off x="6506305" y="4356298"/>
            <a:ext cx="480950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Where should the company increase investment, and where should it reduce focus?</a:t>
            </a:r>
            <a:endParaRPr lang="en-US" sz="1450" dirty="0"/>
          </a:p>
        </p:txBody>
      </p:sp>
    </p:spTree>
    <p:extLst>
      <p:ext uri="{BB962C8B-B14F-4D97-AF65-F5344CB8AC3E}">
        <p14:creationId xmlns:p14="http://schemas.microsoft.com/office/powerpoint/2010/main" val="15686616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Shape 0"/>
          <p:cNvSpPr/>
          <p:nvPr/>
        </p:nvSpPr>
        <p:spPr>
          <a:xfrm>
            <a:off x="5233360" y="1119485"/>
            <a:ext cx="2281776" cy="258465"/>
          </a:xfrm>
          <a:prstGeom prst="roundRect">
            <a:avLst>
              <a:gd name="adj" fmla="val 7898"/>
            </a:avLst>
          </a:prstGeom>
          <a:solidFill>
            <a:srgbClr val="CCD7FF"/>
          </a:solidFill>
          <a:ln/>
        </p:spPr>
      </p:sp>
      <p:sp>
        <p:nvSpPr>
          <p:cNvPr id="4" name="Text 1"/>
          <p:cNvSpPr/>
          <p:nvPr/>
        </p:nvSpPr>
        <p:spPr>
          <a:xfrm>
            <a:off x="5335355" y="1170484"/>
            <a:ext cx="2687372" cy="156468"/>
          </a:xfrm>
          <a:prstGeom prst="rect">
            <a:avLst/>
          </a:prstGeom>
          <a:noFill/>
          <a:ln/>
        </p:spPr>
        <p:txBody>
          <a:bodyPr wrap="none" lIns="0" tIns="0" rIns="0" bIns="0" rtlCol="0" anchor="t"/>
          <a:lstStyle/>
          <a:p>
            <a:pPr marL="0" indent="0" algn="l">
              <a:lnSpc>
                <a:spcPct val="96000"/>
              </a:lnSpc>
              <a:buNone/>
            </a:pPr>
            <a:r>
              <a:rPr lang="en-US" sz="1050" dirty="0">
                <a:solidFill>
                  <a:srgbClr val="4C4C4D"/>
                </a:solidFill>
                <a:latin typeface="Heebo" pitchFamily="34" charset="0"/>
                <a:ea typeface="Heebo" pitchFamily="34" charset="-122"/>
                <a:cs typeface="Heebo" pitchFamily="34" charset="-120"/>
              </a:rPr>
              <a:t>03 — CUSTOMER SEGMENTATION</a:t>
            </a:r>
            <a:endParaRPr lang="en-US" sz="1050" dirty="0"/>
          </a:p>
        </p:txBody>
      </p:sp>
      <p:sp>
        <p:nvSpPr>
          <p:cNvPr id="5" name="Text 2"/>
          <p:cNvSpPr/>
          <p:nvPr/>
        </p:nvSpPr>
        <p:spPr>
          <a:xfrm>
            <a:off x="5233360" y="1439168"/>
            <a:ext cx="6296860" cy="1063228"/>
          </a:xfrm>
          <a:prstGeom prst="rect">
            <a:avLst/>
          </a:prstGeom>
          <a:noFill/>
          <a:ln/>
        </p:spPr>
        <p:txBody>
          <a:bodyPr wrap="square" lIns="0" tIns="0" rIns="0" bIns="0" rtlCol="0" anchor="t">
            <a:normAutofit/>
          </a:bodyPr>
          <a:lstStyle/>
          <a:p>
            <a:pPr marL="0" indent="0" algn="l">
              <a:lnSpc>
                <a:spcPct val="104000"/>
              </a:lnSpc>
              <a:buNone/>
            </a:pPr>
            <a:r>
              <a:rPr lang="en-US" sz="3300" dirty="0">
                <a:solidFill>
                  <a:srgbClr val="152D47"/>
                </a:solidFill>
                <a:latin typeface="Crimson Pro SemiBold" pitchFamily="34" charset="0"/>
                <a:ea typeface="Crimson Pro SemiBold" pitchFamily="34" charset="-122"/>
                <a:cs typeface="Crimson Pro SemiBold" pitchFamily="34" charset="-120"/>
              </a:rPr>
              <a:t>Customer Profitability and Segmentation</a:t>
            </a:r>
            <a:endParaRPr lang="en-US" sz="3300" dirty="0"/>
          </a:p>
        </p:txBody>
      </p:sp>
      <p:pic>
        <p:nvPicPr>
          <p:cNvPr id="6"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5233360" y="2731988"/>
            <a:ext cx="6296860" cy="636786"/>
          </a:xfrm>
          <a:prstGeom prst="rect">
            <a:avLst/>
          </a:prstGeom>
        </p:spPr>
      </p:pic>
      <p:sp>
        <p:nvSpPr>
          <p:cNvPr id="7" name="Text 3"/>
          <p:cNvSpPr/>
          <p:nvPr/>
        </p:nvSpPr>
        <p:spPr>
          <a:xfrm>
            <a:off x="5498665" y="2921099"/>
            <a:ext cx="5842449" cy="258564"/>
          </a:xfrm>
          <a:prstGeom prst="rect">
            <a:avLst/>
          </a:prstGeom>
          <a:noFill/>
          <a:ln/>
        </p:spPr>
        <p:txBody>
          <a:bodyPr wrap="none" lIns="0" tIns="0" rIns="0" bIns="0" rtlCol="0" anchor="t"/>
          <a:lstStyle/>
          <a:p>
            <a:pPr marL="0" indent="0" algn="l">
              <a:lnSpc>
                <a:spcPct val="127000"/>
              </a:lnSpc>
              <a:buNone/>
            </a:pPr>
            <a:r>
              <a:rPr lang="en-US" sz="1300" dirty="0">
                <a:solidFill>
                  <a:srgbClr val="4C4C4D"/>
                </a:solidFill>
                <a:latin typeface="Heebo" pitchFamily="34" charset="0"/>
                <a:ea typeface="Heebo" pitchFamily="34" charset="-122"/>
                <a:cs typeface="Heebo" pitchFamily="34" charset="-120"/>
              </a:rPr>
              <a:t>Which customer segments contribute the most value to the business?</a:t>
            </a:r>
            <a:endParaRPr lang="en-US" sz="1300" dirty="0"/>
          </a:p>
        </p:txBody>
      </p:sp>
      <p:pic>
        <p:nvPicPr>
          <p:cNvPr id="8" name="Image 2" descr="preencoded.png"/>
          <p:cNvPicPr>
            <a:picLocks noChangeAspect="1"/>
          </p:cNvPicPr>
          <p:nvPr/>
        </p:nvPicPr>
        <p:blipFill>
          <a:blip r:embed="rId4">
            <a:extLst>
              <a:ext uri="{96DAC541-7B7A-43D3-8B79-37D633B846F1}">
                <asvg:svgBlip xmlns:asvg="http://schemas.microsoft.com/office/drawing/2016/SVG/main" xmlns="" r:embed="rId6"/>
              </a:ext>
            </a:extLst>
          </a:blip>
          <a:stretch>
            <a:fillRect/>
          </a:stretch>
        </p:blipFill>
        <p:spPr>
          <a:xfrm>
            <a:off x="5233360" y="3521869"/>
            <a:ext cx="6296860" cy="636786"/>
          </a:xfrm>
          <a:prstGeom prst="rect">
            <a:avLst/>
          </a:prstGeom>
        </p:spPr>
      </p:pic>
      <p:sp>
        <p:nvSpPr>
          <p:cNvPr id="9" name="Text 4"/>
          <p:cNvSpPr/>
          <p:nvPr/>
        </p:nvSpPr>
        <p:spPr>
          <a:xfrm>
            <a:off x="5498665" y="3710980"/>
            <a:ext cx="5842449" cy="258564"/>
          </a:xfrm>
          <a:prstGeom prst="rect">
            <a:avLst/>
          </a:prstGeom>
          <a:noFill/>
          <a:ln/>
        </p:spPr>
        <p:txBody>
          <a:bodyPr wrap="none" lIns="0" tIns="0" rIns="0" bIns="0" rtlCol="0" anchor="t"/>
          <a:lstStyle/>
          <a:p>
            <a:pPr marL="0" indent="0" algn="l">
              <a:lnSpc>
                <a:spcPct val="127000"/>
              </a:lnSpc>
              <a:buNone/>
            </a:pPr>
            <a:r>
              <a:rPr lang="en-US" sz="1300" dirty="0">
                <a:solidFill>
                  <a:srgbClr val="4C4C4D"/>
                </a:solidFill>
                <a:latin typeface="Heebo" pitchFamily="34" charset="0"/>
                <a:ea typeface="Heebo" pitchFamily="34" charset="-122"/>
                <a:cs typeface="Heebo" pitchFamily="34" charset="-120"/>
              </a:rPr>
              <a:t>Are high-spending customers also generating high profits?</a:t>
            </a:r>
            <a:endParaRPr lang="en-US" sz="1300" dirty="0"/>
          </a:p>
        </p:txBody>
      </p:sp>
      <p:pic>
        <p:nvPicPr>
          <p:cNvPr id="10"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5233360" y="4311749"/>
            <a:ext cx="6296860" cy="636786"/>
          </a:xfrm>
          <a:prstGeom prst="rect">
            <a:avLst/>
          </a:prstGeom>
        </p:spPr>
      </p:pic>
      <p:sp>
        <p:nvSpPr>
          <p:cNvPr id="11" name="Text 5"/>
          <p:cNvSpPr/>
          <p:nvPr/>
        </p:nvSpPr>
        <p:spPr>
          <a:xfrm>
            <a:off x="5498665" y="4500860"/>
            <a:ext cx="5842449" cy="258564"/>
          </a:xfrm>
          <a:prstGeom prst="rect">
            <a:avLst/>
          </a:prstGeom>
          <a:noFill/>
          <a:ln/>
        </p:spPr>
        <p:txBody>
          <a:bodyPr wrap="none" lIns="0" tIns="0" rIns="0" bIns="0" rtlCol="0" anchor="t"/>
          <a:lstStyle/>
          <a:p>
            <a:pPr marL="0" indent="0" algn="l">
              <a:lnSpc>
                <a:spcPct val="127000"/>
              </a:lnSpc>
              <a:buNone/>
            </a:pPr>
            <a:r>
              <a:rPr lang="en-US" sz="1300" dirty="0">
                <a:solidFill>
                  <a:srgbClr val="4C4C4D"/>
                </a:solidFill>
                <a:latin typeface="Heebo" pitchFamily="34" charset="0"/>
                <a:ea typeface="Heebo" pitchFamily="34" charset="-122"/>
                <a:cs typeface="Heebo" pitchFamily="34" charset="-120"/>
              </a:rPr>
              <a:t>Which customers generate strong revenue but low profitability?</a:t>
            </a:r>
            <a:endParaRPr lang="en-US" sz="1300" dirty="0"/>
          </a:p>
        </p:txBody>
      </p:sp>
      <p:pic>
        <p:nvPicPr>
          <p:cNvPr id="12" name="Image 4" descr="preencoded.png"/>
          <p:cNvPicPr>
            <a:picLocks noChangeAspect="1"/>
          </p:cNvPicPr>
          <p:nvPr/>
        </p:nvPicPr>
        <p:blipFill>
          <a:blip r:embed="rId4">
            <a:extLst>
              <a:ext uri="{96DAC541-7B7A-43D3-8B79-37D633B846F1}">
                <asvg:svgBlip xmlns:asvg="http://schemas.microsoft.com/office/drawing/2016/SVG/main" xmlns="" r:embed="rId9"/>
              </a:ext>
            </a:extLst>
          </a:blip>
          <a:stretch>
            <a:fillRect/>
          </a:stretch>
        </p:blipFill>
        <p:spPr>
          <a:xfrm>
            <a:off x="5233360" y="5101630"/>
            <a:ext cx="6296860" cy="636786"/>
          </a:xfrm>
          <a:prstGeom prst="rect">
            <a:avLst/>
          </a:prstGeom>
        </p:spPr>
      </p:pic>
      <p:sp>
        <p:nvSpPr>
          <p:cNvPr id="13" name="Text 6"/>
          <p:cNvSpPr/>
          <p:nvPr/>
        </p:nvSpPr>
        <p:spPr>
          <a:xfrm>
            <a:off x="5498665" y="5290741"/>
            <a:ext cx="5842449" cy="258564"/>
          </a:xfrm>
          <a:prstGeom prst="rect">
            <a:avLst/>
          </a:prstGeom>
          <a:noFill/>
          <a:ln/>
        </p:spPr>
        <p:txBody>
          <a:bodyPr wrap="none" lIns="0" tIns="0" rIns="0" bIns="0" rtlCol="0" anchor="t"/>
          <a:lstStyle/>
          <a:p>
            <a:pPr marL="0" indent="0" algn="l">
              <a:lnSpc>
                <a:spcPct val="127000"/>
              </a:lnSpc>
              <a:buNone/>
            </a:pPr>
            <a:r>
              <a:rPr lang="en-US" sz="1300" dirty="0">
                <a:solidFill>
                  <a:srgbClr val="4C4C4D"/>
                </a:solidFill>
                <a:latin typeface="Heebo" pitchFamily="34" charset="0"/>
                <a:ea typeface="Heebo" pitchFamily="34" charset="-122"/>
                <a:cs typeface="Heebo" pitchFamily="34" charset="-120"/>
              </a:rPr>
              <a:t>How can the company improve customer value and retention?</a:t>
            </a:r>
            <a:endParaRPr lang="en-US" sz="1300" dirty="0"/>
          </a:p>
        </p:txBody>
      </p:sp>
    </p:spTree>
    <p:extLst>
      <p:ext uri="{BB962C8B-B14F-4D97-AF65-F5344CB8AC3E}">
        <p14:creationId xmlns:p14="http://schemas.microsoft.com/office/powerpoint/2010/main" val="14891711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2142530"/>
            <a:ext cx="1851376" cy="287139"/>
          </a:xfrm>
          <a:prstGeom prst="roundRect">
            <a:avLst>
              <a:gd name="adj" fmla="val 7899"/>
            </a:avLst>
          </a:prstGeom>
          <a:solidFill>
            <a:srgbClr val="CCD7FF"/>
          </a:solidFill>
          <a:ln/>
        </p:spPr>
      </p:sp>
      <p:sp>
        <p:nvSpPr>
          <p:cNvPr id="3" name="Text 1"/>
          <p:cNvSpPr/>
          <p:nvPr/>
        </p:nvSpPr>
        <p:spPr>
          <a:xfrm>
            <a:off x="774879" y="2199184"/>
            <a:ext cx="2234152"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04 — SALES CHANNELS</a:t>
            </a:r>
            <a:endParaRPr lang="en-US" sz="1150" dirty="0"/>
          </a:p>
        </p:txBody>
      </p:sp>
      <p:sp>
        <p:nvSpPr>
          <p:cNvPr id="4" name="Text 2"/>
          <p:cNvSpPr/>
          <p:nvPr/>
        </p:nvSpPr>
        <p:spPr>
          <a:xfrm>
            <a:off x="661475" y="2505273"/>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Sales Channel Performance</a:t>
            </a:r>
            <a:endParaRPr lang="en-US" sz="37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661475" y="3379391"/>
            <a:ext cx="3496877" cy="1336080"/>
          </a:xfrm>
          <a:prstGeom prst="rect">
            <a:avLst/>
          </a:prstGeom>
        </p:spPr>
      </p:pic>
      <p:sp>
        <p:nvSpPr>
          <p:cNvPr id="6" name="Text 3"/>
          <p:cNvSpPr/>
          <p:nvPr/>
        </p:nvSpPr>
        <p:spPr>
          <a:xfrm>
            <a:off x="977479" y="3593802"/>
            <a:ext cx="2966467"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Which sales channels are contributing the most to profitable growth?</a:t>
            </a:r>
            <a:endParaRPr lang="en-US" sz="14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347359" y="3379391"/>
            <a:ext cx="3496877" cy="1336080"/>
          </a:xfrm>
          <a:prstGeom prst="rect">
            <a:avLst/>
          </a:prstGeom>
        </p:spPr>
      </p:pic>
      <p:sp>
        <p:nvSpPr>
          <p:cNvPr id="8" name="Text 4"/>
          <p:cNvSpPr/>
          <p:nvPr/>
        </p:nvSpPr>
        <p:spPr>
          <a:xfrm>
            <a:off x="4663363" y="3593802"/>
            <a:ext cx="2966467"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Are there any sales channels generating high sales but low margins?</a:t>
            </a:r>
            <a:endParaRPr lang="en-US" sz="1450" dirty="0"/>
          </a:p>
        </p:txBody>
      </p:sp>
      <p:pic>
        <p:nvPicPr>
          <p:cNvPr id="9"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8033244" y="3379391"/>
            <a:ext cx="3496877" cy="1336080"/>
          </a:xfrm>
          <a:prstGeom prst="rect">
            <a:avLst/>
          </a:prstGeom>
        </p:spPr>
      </p:pic>
      <p:sp>
        <p:nvSpPr>
          <p:cNvPr id="10" name="Text 5"/>
          <p:cNvSpPr/>
          <p:nvPr/>
        </p:nvSpPr>
        <p:spPr>
          <a:xfrm>
            <a:off x="8349247" y="3593802"/>
            <a:ext cx="2966467"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Which channels should receive more strategic focus and investment?</a:t>
            </a:r>
            <a:endParaRPr lang="en-US" sz="1450" dirty="0"/>
          </a:p>
        </p:txBody>
      </p:sp>
    </p:spTree>
    <p:extLst>
      <p:ext uri="{BB962C8B-B14F-4D97-AF65-F5344CB8AC3E}">
        <p14:creationId xmlns:p14="http://schemas.microsoft.com/office/powerpoint/2010/main" val="24752569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Shape 0"/>
          <p:cNvSpPr/>
          <p:nvPr/>
        </p:nvSpPr>
        <p:spPr>
          <a:xfrm>
            <a:off x="5233360" y="1064518"/>
            <a:ext cx="1304595" cy="287139"/>
          </a:xfrm>
          <a:prstGeom prst="roundRect">
            <a:avLst>
              <a:gd name="adj" fmla="val 7899"/>
            </a:avLst>
          </a:prstGeom>
          <a:solidFill>
            <a:srgbClr val="CCD7FF"/>
          </a:solidFill>
          <a:ln/>
        </p:spPr>
      </p:sp>
      <p:sp>
        <p:nvSpPr>
          <p:cNvPr id="4" name="Text 1"/>
          <p:cNvSpPr/>
          <p:nvPr/>
        </p:nvSpPr>
        <p:spPr>
          <a:xfrm>
            <a:off x="5346765" y="1121172"/>
            <a:ext cx="1687371"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05 — REGIONAL</a:t>
            </a:r>
            <a:endParaRPr lang="en-US" sz="1150" dirty="0"/>
          </a:p>
        </p:txBody>
      </p:sp>
      <p:sp>
        <p:nvSpPr>
          <p:cNvPr id="5" name="Text 2"/>
          <p:cNvSpPr/>
          <p:nvPr/>
        </p:nvSpPr>
        <p:spPr>
          <a:xfrm>
            <a:off x="5233360" y="1427262"/>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Regional Performance</a:t>
            </a:r>
            <a:endParaRPr lang="en-US" sz="3700" dirty="0"/>
          </a:p>
        </p:txBody>
      </p:sp>
      <p:pic>
        <p:nvPicPr>
          <p:cNvPr id="6"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5233360" y="2301379"/>
            <a:ext cx="6296860" cy="731242"/>
          </a:xfrm>
          <a:prstGeom prst="rect">
            <a:avLst/>
          </a:prstGeom>
        </p:spPr>
      </p:pic>
      <p:sp>
        <p:nvSpPr>
          <p:cNvPr id="7" name="Text 3"/>
          <p:cNvSpPr/>
          <p:nvPr/>
        </p:nvSpPr>
        <p:spPr>
          <a:xfrm>
            <a:off x="5549364" y="2515791"/>
            <a:ext cx="5766449" cy="302419"/>
          </a:xfrm>
          <a:prstGeom prst="rect">
            <a:avLst/>
          </a:prstGeom>
          <a:noFill/>
          <a:ln/>
        </p:spPr>
        <p:txBody>
          <a:bodyPr wrap="none" lIns="0" tIns="0" rIns="0" bIns="0" rtlCol="0" anchor="t"/>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Which regions are driving revenue and profitability growth?</a:t>
            </a:r>
            <a:endParaRPr lang="en-US" sz="1450" dirty="0"/>
          </a:p>
        </p:txBody>
      </p:sp>
      <p:pic>
        <p:nvPicPr>
          <p:cNvPr id="8" name="Image 2" descr="preencoded.png"/>
          <p:cNvPicPr>
            <a:picLocks noChangeAspect="1"/>
          </p:cNvPicPr>
          <p:nvPr/>
        </p:nvPicPr>
        <p:blipFill>
          <a:blip r:embed="rId4">
            <a:extLst>
              <a:ext uri="{96DAC541-7B7A-43D3-8B79-37D633B846F1}">
                <asvg:svgBlip xmlns:asvg="http://schemas.microsoft.com/office/drawing/2016/SVG/main" xmlns="" r:embed="rId6"/>
              </a:ext>
            </a:extLst>
          </a:blip>
          <a:stretch>
            <a:fillRect/>
          </a:stretch>
        </p:blipFill>
        <p:spPr>
          <a:xfrm>
            <a:off x="5233360" y="3221633"/>
            <a:ext cx="6296860" cy="731242"/>
          </a:xfrm>
          <a:prstGeom prst="rect">
            <a:avLst/>
          </a:prstGeom>
        </p:spPr>
      </p:pic>
      <p:sp>
        <p:nvSpPr>
          <p:cNvPr id="9" name="Text 4"/>
          <p:cNvSpPr/>
          <p:nvPr/>
        </p:nvSpPr>
        <p:spPr>
          <a:xfrm>
            <a:off x="5549364" y="3436045"/>
            <a:ext cx="5766449" cy="302419"/>
          </a:xfrm>
          <a:prstGeom prst="rect">
            <a:avLst/>
          </a:prstGeom>
          <a:noFill/>
          <a:ln/>
        </p:spPr>
        <p:txBody>
          <a:bodyPr wrap="none" lIns="0" tIns="0" rIns="0" bIns="0" rtlCol="0" anchor="t"/>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Which regions are underperforming in terms of profit contribution?</a:t>
            </a:r>
            <a:endParaRPr lang="en-US" sz="1450" dirty="0"/>
          </a:p>
        </p:txBody>
      </p:sp>
      <p:pic>
        <p:nvPicPr>
          <p:cNvPr id="10"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5233360" y="4141887"/>
            <a:ext cx="6296860" cy="731242"/>
          </a:xfrm>
          <a:prstGeom prst="rect">
            <a:avLst/>
          </a:prstGeom>
        </p:spPr>
      </p:pic>
      <p:sp>
        <p:nvSpPr>
          <p:cNvPr id="11" name="Text 5"/>
          <p:cNvSpPr/>
          <p:nvPr/>
        </p:nvSpPr>
        <p:spPr>
          <a:xfrm>
            <a:off x="5549364" y="4356298"/>
            <a:ext cx="5766449" cy="302419"/>
          </a:xfrm>
          <a:prstGeom prst="rect">
            <a:avLst/>
          </a:prstGeom>
          <a:noFill/>
          <a:ln/>
        </p:spPr>
        <p:txBody>
          <a:bodyPr wrap="none" lIns="0" tIns="0" rIns="0" bIns="0" rtlCol="0" anchor="t"/>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Are there regional factors affecting sales performance and margins?</a:t>
            </a:r>
            <a:endParaRPr lang="en-US" sz="1450" dirty="0"/>
          </a:p>
        </p:txBody>
      </p:sp>
      <p:pic>
        <p:nvPicPr>
          <p:cNvPr id="12" name="Image 4" descr="preencoded.png"/>
          <p:cNvPicPr>
            <a:picLocks noChangeAspect="1"/>
          </p:cNvPicPr>
          <p:nvPr/>
        </p:nvPicPr>
        <p:blipFill>
          <a:blip r:embed="rId4">
            <a:extLst>
              <a:ext uri="{96DAC541-7B7A-43D3-8B79-37D633B846F1}">
                <asvg:svgBlip xmlns:asvg="http://schemas.microsoft.com/office/drawing/2016/SVG/main" xmlns="" r:embed="rId9"/>
              </a:ext>
            </a:extLst>
          </a:blip>
          <a:stretch>
            <a:fillRect/>
          </a:stretch>
        </p:blipFill>
        <p:spPr>
          <a:xfrm>
            <a:off x="5233360" y="5062141"/>
            <a:ext cx="6296860" cy="731242"/>
          </a:xfrm>
          <a:prstGeom prst="rect">
            <a:avLst/>
          </a:prstGeom>
        </p:spPr>
      </p:pic>
      <p:sp>
        <p:nvSpPr>
          <p:cNvPr id="13" name="Text 6"/>
          <p:cNvSpPr/>
          <p:nvPr/>
        </p:nvSpPr>
        <p:spPr>
          <a:xfrm>
            <a:off x="5549364" y="5276552"/>
            <a:ext cx="5766449" cy="302419"/>
          </a:xfrm>
          <a:prstGeom prst="rect">
            <a:avLst/>
          </a:prstGeom>
          <a:noFill/>
          <a:ln/>
        </p:spPr>
        <p:txBody>
          <a:bodyPr wrap="none" lIns="0" tIns="0" rIns="0" bIns="0" rtlCol="0" anchor="t"/>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Where are the best opportunities for expansion?</a:t>
            </a:r>
            <a:endParaRPr lang="en-US" sz="1450" dirty="0"/>
          </a:p>
        </p:txBody>
      </p:sp>
    </p:spTree>
    <p:extLst>
      <p:ext uri="{BB962C8B-B14F-4D97-AF65-F5344CB8AC3E}">
        <p14:creationId xmlns:p14="http://schemas.microsoft.com/office/powerpoint/2010/main" val="25058331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682353"/>
            <a:ext cx="1939380" cy="287139"/>
          </a:xfrm>
          <a:prstGeom prst="roundRect">
            <a:avLst>
              <a:gd name="adj" fmla="val 7899"/>
            </a:avLst>
          </a:prstGeom>
          <a:solidFill>
            <a:srgbClr val="CCD7FF"/>
          </a:solidFill>
          <a:ln/>
        </p:spPr>
      </p:sp>
      <p:sp>
        <p:nvSpPr>
          <p:cNvPr id="3" name="Text 1"/>
          <p:cNvSpPr/>
          <p:nvPr/>
        </p:nvSpPr>
        <p:spPr>
          <a:xfrm>
            <a:off x="774879" y="1739007"/>
            <a:ext cx="2322157"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06 — PRICING STRATEGY</a:t>
            </a:r>
            <a:endParaRPr lang="en-US" sz="1150" dirty="0"/>
          </a:p>
        </p:txBody>
      </p:sp>
      <p:sp>
        <p:nvSpPr>
          <p:cNvPr id="4" name="Text 2"/>
          <p:cNvSpPr/>
          <p:nvPr/>
        </p:nvSpPr>
        <p:spPr>
          <a:xfrm>
            <a:off x="661475" y="204509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Discount and Pricing Strategy</a:t>
            </a:r>
            <a:endParaRPr lang="en-US" sz="37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661475" y="2919214"/>
            <a:ext cx="5339820" cy="1033661"/>
          </a:xfrm>
          <a:prstGeom prst="rect">
            <a:avLst/>
          </a:prstGeom>
        </p:spPr>
      </p:pic>
      <p:sp>
        <p:nvSpPr>
          <p:cNvPr id="6" name="Text 3"/>
          <p:cNvSpPr/>
          <p:nvPr/>
        </p:nvSpPr>
        <p:spPr>
          <a:xfrm>
            <a:off x="977479" y="3133626"/>
            <a:ext cx="480940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Are current discount strategies helping increase profitability or reducing margins?</a:t>
            </a:r>
            <a:endParaRPr lang="en-US" sz="14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6190301" y="2919214"/>
            <a:ext cx="5339919" cy="1033661"/>
          </a:xfrm>
          <a:prstGeom prst="rect">
            <a:avLst/>
          </a:prstGeom>
        </p:spPr>
      </p:pic>
      <p:sp>
        <p:nvSpPr>
          <p:cNvPr id="8" name="Text 4"/>
          <p:cNvSpPr/>
          <p:nvPr/>
        </p:nvSpPr>
        <p:spPr>
          <a:xfrm>
            <a:off x="6506305" y="3133626"/>
            <a:ext cx="480950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Which products, categories, or channels are affected most by discounting?</a:t>
            </a:r>
            <a:endParaRPr lang="en-US" sz="1450" dirty="0"/>
          </a:p>
        </p:txBody>
      </p:sp>
      <p:pic>
        <p:nvPicPr>
          <p:cNvPr id="9"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661475" y="4141887"/>
            <a:ext cx="5339820" cy="1033661"/>
          </a:xfrm>
          <a:prstGeom prst="rect">
            <a:avLst/>
          </a:prstGeom>
        </p:spPr>
      </p:pic>
      <p:sp>
        <p:nvSpPr>
          <p:cNvPr id="10" name="Text 5"/>
          <p:cNvSpPr/>
          <p:nvPr/>
        </p:nvSpPr>
        <p:spPr>
          <a:xfrm>
            <a:off x="977479" y="4356298"/>
            <a:ext cx="480940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What is the impact of discounts on revenue and profit performance?</a:t>
            </a:r>
            <a:endParaRPr lang="en-US" sz="1450" dirty="0"/>
          </a:p>
        </p:txBody>
      </p:sp>
      <p:pic>
        <p:nvPicPr>
          <p:cNvPr id="11" name="Image 3" descr="preencoded.png"/>
          <p:cNvPicPr>
            <a:picLocks noChangeAspect="1"/>
          </p:cNvPicPr>
          <p:nvPr/>
        </p:nvPicPr>
        <p:blipFill>
          <a:blip r:embed="rId3">
            <a:extLst>
              <a:ext uri="{96DAC541-7B7A-43D3-8B79-37D633B846F1}">
                <asvg:svgBlip xmlns:asvg="http://schemas.microsoft.com/office/drawing/2016/SVG/main" xmlns="" r:embed="rId8"/>
              </a:ext>
            </a:extLst>
          </a:blip>
          <a:stretch>
            <a:fillRect/>
          </a:stretch>
        </p:blipFill>
        <p:spPr>
          <a:xfrm>
            <a:off x="6190301" y="4141887"/>
            <a:ext cx="5339919" cy="1033661"/>
          </a:xfrm>
          <a:prstGeom prst="rect">
            <a:avLst/>
          </a:prstGeom>
        </p:spPr>
      </p:pic>
      <p:sp>
        <p:nvSpPr>
          <p:cNvPr id="12" name="Text 6"/>
          <p:cNvSpPr/>
          <p:nvPr/>
        </p:nvSpPr>
        <p:spPr>
          <a:xfrm>
            <a:off x="6506305" y="4356298"/>
            <a:ext cx="480950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How can discount strategies be optimized for sustainable growth?</a:t>
            </a:r>
            <a:endParaRPr lang="en-US" sz="1450" dirty="0"/>
          </a:p>
        </p:txBody>
      </p:sp>
    </p:spTree>
    <p:extLst>
      <p:ext uri="{BB962C8B-B14F-4D97-AF65-F5344CB8AC3E}">
        <p14:creationId xmlns:p14="http://schemas.microsoft.com/office/powerpoint/2010/main" val="39953714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Shape 0"/>
          <p:cNvSpPr/>
          <p:nvPr/>
        </p:nvSpPr>
        <p:spPr>
          <a:xfrm>
            <a:off x="5233360" y="1222276"/>
            <a:ext cx="2041375" cy="287139"/>
          </a:xfrm>
          <a:prstGeom prst="roundRect">
            <a:avLst>
              <a:gd name="adj" fmla="val 7899"/>
            </a:avLst>
          </a:prstGeom>
          <a:solidFill>
            <a:srgbClr val="CCD7FF"/>
          </a:solidFill>
          <a:ln/>
        </p:spPr>
      </p:sp>
      <p:sp>
        <p:nvSpPr>
          <p:cNvPr id="4" name="Text 1"/>
          <p:cNvSpPr/>
          <p:nvPr/>
        </p:nvSpPr>
        <p:spPr>
          <a:xfrm>
            <a:off x="5346765" y="1278930"/>
            <a:ext cx="2424151"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07 — STRATEGIC GROWTH</a:t>
            </a:r>
            <a:endParaRPr lang="en-US" sz="1150" dirty="0"/>
          </a:p>
        </p:txBody>
      </p:sp>
      <p:sp>
        <p:nvSpPr>
          <p:cNvPr id="5" name="Text 2"/>
          <p:cNvSpPr/>
          <p:nvPr/>
        </p:nvSpPr>
        <p:spPr>
          <a:xfrm>
            <a:off x="5233360" y="1585020"/>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Strategic Growth Opportunities</a:t>
            </a:r>
            <a:endParaRPr lang="en-US" sz="3700" dirty="0"/>
          </a:p>
        </p:txBody>
      </p:sp>
      <p:pic>
        <p:nvPicPr>
          <p:cNvPr id="6"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5233360" y="2459137"/>
            <a:ext cx="6296860" cy="731242"/>
          </a:xfrm>
          <a:prstGeom prst="rect">
            <a:avLst/>
          </a:prstGeom>
        </p:spPr>
      </p:pic>
      <p:sp>
        <p:nvSpPr>
          <p:cNvPr id="7" name="Text 3"/>
          <p:cNvSpPr/>
          <p:nvPr/>
        </p:nvSpPr>
        <p:spPr>
          <a:xfrm>
            <a:off x="5549364" y="2673548"/>
            <a:ext cx="5766449" cy="302419"/>
          </a:xfrm>
          <a:prstGeom prst="rect">
            <a:avLst/>
          </a:prstGeom>
          <a:noFill/>
          <a:ln/>
        </p:spPr>
        <p:txBody>
          <a:bodyPr wrap="none" lIns="0" tIns="0" rIns="0" bIns="0" rtlCol="0" anchor="t"/>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What are the major drivers of sales performance and profitability?</a:t>
            </a:r>
            <a:endParaRPr lang="en-US" sz="145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5233360" y="3379391"/>
            <a:ext cx="6296860" cy="1033661"/>
          </a:xfrm>
          <a:prstGeom prst="rect">
            <a:avLst/>
          </a:prstGeom>
        </p:spPr>
      </p:pic>
      <p:sp>
        <p:nvSpPr>
          <p:cNvPr id="9" name="Text 4"/>
          <p:cNvSpPr/>
          <p:nvPr/>
        </p:nvSpPr>
        <p:spPr>
          <a:xfrm>
            <a:off x="5549364" y="3593802"/>
            <a:ext cx="576644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Which areas should the company prioritize to achieve sustainable growth?</a:t>
            </a:r>
            <a:endParaRPr lang="en-US" sz="1450" dirty="0"/>
          </a:p>
        </p:txBody>
      </p:sp>
      <p:pic>
        <p:nvPicPr>
          <p:cNvPr id="10" name="Image 3" descr="preencoded.png"/>
          <p:cNvPicPr>
            <a:picLocks noChangeAspect="1"/>
          </p:cNvPicPr>
          <p:nvPr/>
        </p:nvPicPr>
        <p:blipFill>
          <a:blip r:embed="rId6">
            <a:extLst>
              <a:ext uri="{96DAC541-7B7A-43D3-8B79-37D633B846F1}">
                <asvg:svgBlip xmlns:asvg="http://schemas.microsoft.com/office/drawing/2016/SVG/main" xmlns="" r:embed="rId8"/>
              </a:ext>
            </a:extLst>
          </a:blip>
          <a:stretch>
            <a:fillRect/>
          </a:stretch>
        </p:blipFill>
        <p:spPr>
          <a:xfrm>
            <a:off x="5233360" y="4602063"/>
            <a:ext cx="6296860" cy="1033661"/>
          </a:xfrm>
          <a:prstGeom prst="rect">
            <a:avLst/>
          </a:prstGeom>
        </p:spPr>
      </p:pic>
      <p:sp>
        <p:nvSpPr>
          <p:cNvPr id="11" name="Text 5"/>
          <p:cNvSpPr/>
          <p:nvPr/>
        </p:nvSpPr>
        <p:spPr>
          <a:xfrm>
            <a:off x="5549364" y="4816475"/>
            <a:ext cx="576644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What actions can improve profitability while maintaining sales volume?</a:t>
            </a:r>
            <a:endParaRPr lang="en-US" sz="1450" dirty="0"/>
          </a:p>
        </p:txBody>
      </p:sp>
    </p:spTree>
    <p:extLst>
      <p:ext uri="{BB962C8B-B14F-4D97-AF65-F5344CB8AC3E}">
        <p14:creationId xmlns:p14="http://schemas.microsoft.com/office/powerpoint/2010/main" val="23667480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61475" y="2704604"/>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MySQL Analysis Questions</a:t>
            </a:r>
            <a:endParaRPr lang="en-US" sz="3700" dirty="0"/>
          </a:p>
        </p:txBody>
      </p:sp>
    </p:spTree>
    <p:extLst>
      <p:ext uri="{BB962C8B-B14F-4D97-AF65-F5344CB8AC3E}">
        <p14:creationId xmlns:p14="http://schemas.microsoft.com/office/powerpoint/2010/main" val="27658592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184176"/>
            <a:ext cx="396667" cy="287139"/>
          </a:xfrm>
          <a:prstGeom prst="roundRect">
            <a:avLst>
              <a:gd name="adj" fmla="val 7899"/>
            </a:avLst>
          </a:prstGeom>
          <a:noFill/>
          <a:ln w="6350">
            <a:solidFill>
              <a:srgbClr val="2150FE"/>
            </a:solidFill>
            <a:prstDash val="solid"/>
          </a:ln>
        </p:spPr>
      </p:sp>
      <p:sp>
        <p:nvSpPr>
          <p:cNvPr id="3" name="Text 1"/>
          <p:cNvSpPr/>
          <p:nvPr/>
        </p:nvSpPr>
        <p:spPr>
          <a:xfrm>
            <a:off x="774879" y="1240830"/>
            <a:ext cx="779443" cy="173831"/>
          </a:xfrm>
          <a:prstGeom prst="rect">
            <a:avLst/>
          </a:prstGeom>
          <a:noFill/>
          <a:ln/>
        </p:spPr>
        <p:txBody>
          <a:bodyPr wrap="none" lIns="0" tIns="0" rIns="0" bIns="0" rtlCol="0" anchor="t"/>
          <a:lstStyle/>
          <a:p>
            <a:pPr marL="0" indent="0" algn="l">
              <a:lnSpc>
                <a:spcPct val="96000"/>
              </a:lnSpc>
              <a:buNone/>
            </a:pPr>
            <a:r>
              <a:rPr lang="en-US" sz="1150" dirty="0">
                <a:solidFill>
                  <a:srgbClr val="2150FE"/>
                </a:solidFill>
                <a:latin typeface="Heebo" pitchFamily="34" charset="0"/>
                <a:ea typeface="Heebo" pitchFamily="34" charset="-122"/>
                <a:cs typeface="Heebo" pitchFamily="34" charset="-120"/>
              </a:rPr>
              <a:t>01</a:t>
            </a:r>
            <a:endParaRPr lang="en-US" sz="1150" dirty="0"/>
          </a:p>
        </p:txBody>
      </p:sp>
      <p:sp>
        <p:nvSpPr>
          <p:cNvPr id="4" name="Text 2"/>
          <p:cNvSpPr/>
          <p:nvPr/>
        </p:nvSpPr>
        <p:spPr>
          <a:xfrm>
            <a:off x="661475" y="1546920"/>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Overall Sales and Profitability Analysis</a:t>
            </a:r>
            <a:endParaRPr lang="en-US" sz="3700" dirty="0"/>
          </a:p>
        </p:txBody>
      </p:sp>
      <p:sp>
        <p:nvSpPr>
          <p:cNvPr id="5" name="Text 3"/>
          <p:cNvSpPr/>
          <p:nvPr/>
        </p:nvSpPr>
        <p:spPr>
          <a:xfrm>
            <a:off x="661475" y="2610048"/>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Core Metrics</a:t>
            </a:r>
            <a:endParaRPr lang="en-US" sz="1850" dirty="0"/>
          </a:p>
        </p:txBody>
      </p:sp>
      <p:sp>
        <p:nvSpPr>
          <p:cNvPr id="6" name="Text 4"/>
          <p:cNvSpPr/>
          <p:nvPr/>
        </p:nvSpPr>
        <p:spPr>
          <a:xfrm>
            <a:off x="661475" y="3094335"/>
            <a:ext cx="5203794" cy="2513409"/>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What is the total revenue generated?</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What is the total profit generated?</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What is the overall profit margin?</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How many total orders have been placed?</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How many unique customers have purchased?</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What is the average order value?</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What is the average profit per order?</a:t>
            </a:r>
            <a:endParaRPr lang="en-US" sz="1450" dirty="0"/>
          </a:p>
        </p:txBody>
      </p:sp>
      <p:sp>
        <p:nvSpPr>
          <p:cNvPr id="7" name="Text 5"/>
          <p:cNvSpPr/>
          <p:nvPr/>
        </p:nvSpPr>
        <p:spPr>
          <a:xfrm>
            <a:off x="6332776" y="2610048"/>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Trend Analysis</a:t>
            </a:r>
            <a:endParaRPr lang="en-US" sz="1850" dirty="0"/>
          </a:p>
        </p:txBody>
      </p:sp>
      <p:sp>
        <p:nvSpPr>
          <p:cNvPr id="8" name="Text 6"/>
          <p:cNvSpPr/>
          <p:nvPr/>
        </p:nvSpPr>
        <p:spPr>
          <a:xfrm>
            <a:off x="6332776" y="3094335"/>
            <a:ext cx="5203794" cy="1341834"/>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How does revenue trend change over time?</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How does profit trend change over time?</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Are there periods where revenue increased but profit declined?</a:t>
            </a:r>
            <a:endParaRPr lang="en-US" sz="1450" dirty="0"/>
          </a:p>
        </p:txBody>
      </p:sp>
    </p:spTree>
    <p:extLst>
      <p:ext uri="{BB962C8B-B14F-4D97-AF65-F5344CB8AC3E}">
        <p14:creationId xmlns:p14="http://schemas.microsoft.com/office/powerpoint/2010/main" val="12056532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931763"/>
            <a:ext cx="396667" cy="287139"/>
          </a:xfrm>
          <a:prstGeom prst="roundRect">
            <a:avLst>
              <a:gd name="adj" fmla="val 7899"/>
            </a:avLst>
          </a:prstGeom>
          <a:noFill/>
          <a:ln w="6350">
            <a:solidFill>
              <a:srgbClr val="2150FE"/>
            </a:solidFill>
            <a:prstDash val="solid"/>
          </a:ln>
        </p:spPr>
      </p:sp>
      <p:sp>
        <p:nvSpPr>
          <p:cNvPr id="3" name="Text 1"/>
          <p:cNvSpPr/>
          <p:nvPr/>
        </p:nvSpPr>
        <p:spPr>
          <a:xfrm>
            <a:off x="774879" y="988417"/>
            <a:ext cx="779443" cy="173831"/>
          </a:xfrm>
          <a:prstGeom prst="rect">
            <a:avLst/>
          </a:prstGeom>
          <a:noFill/>
          <a:ln/>
        </p:spPr>
        <p:txBody>
          <a:bodyPr wrap="none" lIns="0" tIns="0" rIns="0" bIns="0" rtlCol="0" anchor="t"/>
          <a:lstStyle/>
          <a:p>
            <a:pPr marL="0" indent="0" algn="l">
              <a:lnSpc>
                <a:spcPct val="96000"/>
              </a:lnSpc>
              <a:buNone/>
            </a:pPr>
            <a:r>
              <a:rPr lang="en-US" sz="1150" dirty="0">
                <a:solidFill>
                  <a:srgbClr val="2150FE"/>
                </a:solidFill>
                <a:latin typeface="Heebo" pitchFamily="34" charset="0"/>
                <a:ea typeface="Heebo" pitchFamily="34" charset="-122"/>
                <a:cs typeface="Heebo" pitchFamily="34" charset="-120"/>
              </a:rPr>
              <a:t>02</a:t>
            </a:r>
            <a:endParaRPr lang="en-US" sz="1150" dirty="0"/>
          </a:p>
        </p:txBody>
      </p:sp>
      <p:sp>
        <p:nvSpPr>
          <p:cNvPr id="4" name="Text 2"/>
          <p:cNvSpPr/>
          <p:nvPr/>
        </p:nvSpPr>
        <p:spPr>
          <a:xfrm>
            <a:off x="661475" y="129450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Product and Category Profitability Analysis</a:t>
            </a:r>
            <a:endParaRPr lang="en-US" sz="37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661475" y="2168624"/>
            <a:ext cx="3496877" cy="3757513"/>
          </a:xfrm>
          <a:prstGeom prst="rect">
            <a:avLst/>
          </a:prstGeom>
        </p:spPr>
      </p:pic>
      <p:sp>
        <p:nvSpPr>
          <p:cNvPr id="6" name="Text 3"/>
          <p:cNvSpPr/>
          <p:nvPr/>
        </p:nvSpPr>
        <p:spPr>
          <a:xfrm>
            <a:off x="977479" y="2383036"/>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Category Performance</a:t>
            </a:r>
            <a:endParaRPr lang="en-US" sz="1850" dirty="0"/>
          </a:p>
        </p:txBody>
      </p:sp>
      <p:sp>
        <p:nvSpPr>
          <p:cNvPr id="7" name="Text 4"/>
          <p:cNvSpPr/>
          <p:nvPr/>
        </p:nvSpPr>
        <p:spPr>
          <a:xfrm>
            <a:off x="977479" y="2791718"/>
            <a:ext cx="2966467" cy="2920008"/>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product categories generate the highest revenue?</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product categories generate the highest profit?</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What is the profit margin by category?</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categories contribute the most to total company profit?</a:t>
            </a:r>
            <a:endParaRPr lang="en-US" sz="145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347359" y="2168624"/>
            <a:ext cx="3496877" cy="3757513"/>
          </a:xfrm>
          <a:prstGeom prst="rect">
            <a:avLst/>
          </a:prstGeom>
        </p:spPr>
      </p:pic>
      <p:sp>
        <p:nvSpPr>
          <p:cNvPr id="9" name="Text 5"/>
          <p:cNvSpPr/>
          <p:nvPr/>
        </p:nvSpPr>
        <p:spPr>
          <a:xfrm>
            <a:off x="4663363" y="2383036"/>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Product Performance</a:t>
            </a:r>
            <a:endParaRPr lang="en-US" sz="1850" dirty="0"/>
          </a:p>
        </p:txBody>
      </p:sp>
      <p:sp>
        <p:nvSpPr>
          <p:cNvPr id="10" name="Text 6"/>
          <p:cNvSpPr/>
          <p:nvPr/>
        </p:nvSpPr>
        <p:spPr>
          <a:xfrm>
            <a:off x="4663363" y="2791718"/>
            <a:ext cx="2966467" cy="2617589"/>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products generate the highest sales?</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products generate the highest profit?</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products have high revenue but low profitability?</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products generate negative profit?</a:t>
            </a:r>
            <a:endParaRPr lang="en-US" sz="145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8033244" y="2168624"/>
            <a:ext cx="3496877" cy="3757513"/>
          </a:xfrm>
          <a:prstGeom prst="rect">
            <a:avLst/>
          </a:prstGeom>
        </p:spPr>
      </p:pic>
      <p:sp>
        <p:nvSpPr>
          <p:cNvPr id="12" name="Text 7"/>
          <p:cNvSpPr/>
          <p:nvPr/>
        </p:nvSpPr>
        <p:spPr>
          <a:xfrm>
            <a:off x="8349247" y="2383036"/>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Strategic Decisions</a:t>
            </a:r>
            <a:endParaRPr lang="en-US" sz="1850" dirty="0"/>
          </a:p>
        </p:txBody>
      </p:sp>
      <p:sp>
        <p:nvSpPr>
          <p:cNvPr id="13" name="Text 8"/>
          <p:cNvSpPr/>
          <p:nvPr/>
        </p:nvSpPr>
        <p:spPr>
          <a:xfrm>
            <a:off x="8349247" y="2791718"/>
            <a:ext cx="2966467" cy="90725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products or categories should be promoted or reviewed?</a:t>
            </a:r>
            <a:endParaRPr lang="en-US" sz="1450" dirty="0"/>
          </a:p>
        </p:txBody>
      </p:sp>
    </p:spTree>
    <p:extLst>
      <p:ext uri="{BB962C8B-B14F-4D97-AF65-F5344CB8AC3E}">
        <p14:creationId xmlns:p14="http://schemas.microsoft.com/office/powerpoint/2010/main" val="18591011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736923"/>
            <a:ext cx="396667" cy="287139"/>
          </a:xfrm>
          <a:prstGeom prst="roundRect">
            <a:avLst>
              <a:gd name="adj" fmla="val 7899"/>
            </a:avLst>
          </a:prstGeom>
          <a:noFill/>
          <a:ln w="6350">
            <a:solidFill>
              <a:srgbClr val="2150FE"/>
            </a:solidFill>
            <a:prstDash val="solid"/>
          </a:ln>
        </p:spPr>
      </p:sp>
      <p:sp>
        <p:nvSpPr>
          <p:cNvPr id="3" name="Text 1"/>
          <p:cNvSpPr/>
          <p:nvPr/>
        </p:nvSpPr>
        <p:spPr>
          <a:xfrm>
            <a:off x="774879" y="1793577"/>
            <a:ext cx="779443" cy="173831"/>
          </a:xfrm>
          <a:prstGeom prst="rect">
            <a:avLst/>
          </a:prstGeom>
          <a:noFill/>
          <a:ln/>
        </p:spPr>
        <p:txBody>
          <a:bodyPr wrap="none" lIns="0" tIns="0" rIns="0" bIns="0" rtlCol="0" anchor="t"/>
          <a:lstStyle/>
          <a:p>
            <a:pPr marL="0" indent="0" algn="l">
              <a:lnSpc>
                <a:spcPct val="96000"/>
              </a:lnSpc>
              <a:buNone/>
            </a:pPr>
            <a:r>
              <a:rPr lang="en-US" sz="1150" dirty="0">
                <a:solidFill>
                  <a:srgbClr val="2150FE"/>
                </a:solidFill>
                <a:latin typeface="Heebo" pitchFamily="34" charset="0"/>
                <a:ea typeface="Heebo" pitchFamily="34" charset="-122"/>
                <a:cs typeface="Heebo" pitchFamily="34" charset="-120"/>
              </a:rPr>
              <a:t>03</a:t>
            </a:r>
            <a:endParaRPr lang="en-US" sz="1150" dirty="0"/>
          </a:p>
        </p:txBody>
      </p:sp>
      <p:sp>
        <p:nvSpPr>
          <p:cNvPr id="4" name="Text 2"/>
          <p:cNvSpPr/>
          <p:nvPr/>
        </p:nvSpPr>
        <p:spPr>
          <a:xfrm>
            <a:off x="661475" y="209966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Customer Profitability Analysis</a:t>
            </a:r>
            <a:endParaRPr lang="en-US" sz="3700" dirty="0"/>
          </a:p>
        </p:txBody>
      </p:sp>
      <p:sp>
        <p:nvSpPr>
          <p:cNvPr id="5" name="Text 3"/>
          <p:cNvSpPr/>
          <p:nvPr/>
        </p:nvSpPr>
        <p:spPr>
          <a:xfrm>
            <a:off x="661475" y="3162796"/>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Customer Identification</a:t>
            </a:r>
            <a:endParaRPr lang="en-US" sz="1850" dirty="0"/>
          </a:p>
        </p:txBody>
      </p:sp>
      <p:sp>
        <p:nvSpPr>
          <p:cNvPr id="6" name="Text 4"/>
          <p:cNvSpPr/>
          <p:nvPr/>
        </p:nvSpPr>
        <p:spPr>
          <a:xfrm>
            <a:off x="661475" y="3647083"/>
            <a:ext cx="5203794" cy="1407914"/>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How many unique customers are there?</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customers generate the highest revenue?</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customers generate the highest profit?</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Who are the top profitable customers?</a:t>
            </a:r>
            <a:endParaRPr lang="en-US" sz="1450" dirty="0"/>
          </a:p>
        </p:txBody>
      </p:sp>
      <p:sp>
        <p:nvSpPr>
          <p:cNvPr id="7" name="Text 5"/>
          <p:cNvSpPr/>
          <p:nvPr/>
        </p:nvSpPr>
        <p:spPr>
          <a:xfrm>
            <a:off x="6332776" y="3162796"/>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Profitability Segmentation</a:t>
            </a:r>
            <a:endParaRPr lang="en-US" sz="1850" dirty="0"/>
          </a:p>
        </p:txBody>
      </p:sp>
      <p:sp>
        <p:nvSpPr>
          <p:cNvPr id="8" name="Text 6"/>
          <p:cNvSpPr/>
          <p:nvPr/>
        </p:nvSpPr>
        <p:spPr>
          <a:xfrm>
            <a:off x="6332776" y="3647083"/>
            <a:ext cx="5203794" cy="1407914"/>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Are high-spending customers also high-profit customers?</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customers generate revenue but low profit?</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What is the average customer spending?</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customer groups contribute the most profit?</a:t>
            </a:r>
            <a:endParaRPr lang="en-US" sz="1450" dirty="0"/>
          </a:p>
        </p:txBody>
      </p:sp>
    </p:spTree>
    <p:extLst>
      <p:ext uri="{BB962C8B-B14F-4D97-AF65-F5344CB8AC3E}">
        <p14:creationId xmlns:p14="http://schemas.microsoft.com/office/powerpoint/2010/main" val="31608768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418431"/>
            <a:ext cx="396667" cy="287139"/>
          </a:xfrm>
          <a:prstGeom prst="roundRect">
            <a:avLst>
              <a:gd name="adj" fmla="val 7899"/>
            </a:avLst>
          </a:prstGeom>
          <a:noFill/>
          <a:ln w="6350">
            <a:solidFill>
              <a:srgbClr val="2150FE"/>
            </a:solidFill>
            <a:prstDash val="solid"/>
          </a:ln>
        </p:spPr>
      </p:sp>
      <p:sp>
        <p:nvSpPr>
          <p:cNvPr id="3" name="Text 1"/>
          <p:cNvSpPr/>
          <p:nvPr/>
        </p:nvSpPr>
        <p:spPr>
          <a:xfrm>
            <a:off x="774879" y="1475085"/>
            <a:ext cx="779443" cy="173831"/>
          </a:xfrm>
          <a:prstGeom prst="rect">
            <a:avLst/>
          </a:prstGeom>
          <a:noFill/>
          <a:ln/>
        </p:spPr>
        <p:txBody>
          <a:bodyPr wrap="none" lIns="0" tIns="0" rIns="0" bIns="0" rtlCol="0" anchor="t"/>
          <a:lstStyle/>
          <a:p>
            <a:pPr marL="0" indent="0" algn="l">
              <a:lnSpc>
                <a:spcPct val="96000"/>
              </a:lnSpc>
              <a:buNone/>
            </a:pPr>
            <a:r>
              <a:rPr lang="en-US" sz="1150" dirty="0">
                <a:solidFill>
                  <a:srgbClr val="2150FE"/>
                </a:solidFill>
                <a:latin typeface="Heebo" pitchFamily="34" charset="0"/>
                <a:ea typeface="Heebo" pitchFamily="34" charset="-122"/>
                <a:cs typeface="Heebo" pitchFamily="34" charset="-120"/>
              </a:rPr>
              <a:t>04</a:t>
            </a:r>
            <a:endParaRPr lang="en-US" sz="1150" dirty="0"/>
          </a:p>
        </p:txBody>
      </p:sp>
      <p:sp>
        <p:nvSpPr>
          <p:cNvPr id="4" name="Text 2"/>
          <p:cNvSpPr/>
          <p:nvPr/>
        </p:nvSpPr>
        <p:spPr>
          <a:xfrm>
            <a:off x="661475" y="1781175"/>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Sales Channel Performance Analysis</a:t>
            </a:r>
            <a:endParaRPr lang="en-US" sz="37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661475" y="2655292"/>
            <a:ext cx="3496877" cy="2784177"/>
          </a:xfrm>
          <a:prstGeom prst="rect">
            <a:avLst/>
          </a:prstGeom>
        </p:spPr>
      </p:pic>
      <p:sp>
        <p:nvSpPr>
          <p:cNvPr id="6" name="Text 3"/>
          <p:cNvSpPr/>
          <p:nvPr/>
        </p:nvSpPr>
        <p:spPr>
          <a:xfrm>
            <a:off x="977479" y="2869704"/>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Revenue &amp; Profit</a:t>
            </a:r>
            <a:endParaRPr lang="en-US" sz="1850" dirty="0"/>
          </a:p>
        </p:txBody>
      </p:sp>
      <p:sp>
        <p:nvSpPr>
          <p:cNvPr id="7" name="Text 4"/>
          <p:cNvSpPr/>
          <p:nvPr/>
        </p:nvSpPr>
        <p:spPr>
          <a:xfrm>
            <a:off x="977479" y="3278386"/>
            <a:ext cx="2966467" cy="1946672"/>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sales channels generate the highest revenue?</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sales channels generate the highest profit?</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What is the profit margin by sales channel?</a:t>
            </a:r>
            <a:endParaRPr lang="en-US" sz="145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347359" y="2655292"/>
            <a:ext cx="3496877" cy="2784177"/>
          </a:xfrm>
          <a:prstGeom prst="rect">
            <a:avLst/>
          </a:prstGeom>
        </p:spPr>
      </p:pic>
      <p:sp>
        <p:nvSpPr>
          <p:cNvPr id="9" name="Text 5"/>
          <p:cNvSpPr/>
          <p:nvPr/>
        </p:nvSpPr>
        <p:spPr>
          <a:xfrm>
            <a:off x="4663363" y="2869704"/>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Channel Efficiency</a:t>
            </a:r>
            <a:endParaRPr lang="en-US" sz="1850" dirty="0"/>
          </a:p>
        </p:txBody>
      </p:sp>
      <p:sp>
        <p:nvSpPr>
          <p:cNvPr id="10" name="Text 6"/>
          <p:cNvSpPr/>
          <p:nvPr/>
        </p:nvSpPr>
        <p:spPr>
          <a:xfrm>
            <a:off x="4663363" y="3278386"/>
            <a:ext cx="2966467" cy="1275755"/>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channels have high sales but low profitability?</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channels receive the highest discounts?</a:t>
            </a:r>
            <a:endParaRPr lang="en-US" sz="145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8033244" y="2655292"/>
            <a:ext cx="3496877" cy="2784177"/>
          </a:xfrm>
          <a:prstGeom prst="rect">
            <a:avLst/>
          </a:prstGeom>
        </p:spPr>
      </p:pic>
      <p:sp>
        <p:nvSpPr>
          <p:cNvPr id="12" name="Text 7"/>
          <p:cNvSpPr/>
          <p:nvPr/>
        </p:nvSpPr>
        <p:spPr>
          <a:xfrm>
            <a:off x="8349247" y="2869704"/>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Channel Strategy</a:t>
            </a:r>
            <a:endParaRPr lang="en-US" sz="1850" dirty="0"/>
          </a:p>
        </p:txBody>
      </p:sp>
      <p:sp>
        <p:nvSpPr>
          <p:cNvPr id="13" name="Text 8"/>
          <p:cNvSpPr/>
          <p:nvPr/>
        </p:nvSpPr>
        <p:spPr>
          <a:xfrm>
            <a:off x="8349247" y="3278386"/>
            <a:ext cx="2966467" cy="90725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sales channel provides the best balance between revenue and profit?</a:t>
            </a:r>
            <a:endParaRPr lang="en-US" sz="1450" dirty="0"/>
          </a:p>
        </p:txBody>
      </p:sp>
    </p:spTree>
    <p:extLst>
      <p:ext uri="{BB962C8B-B14F-4D97-AF65-F5344CB8AC3E}">
        <p14:creationId xmlns:p14="http://schemas.microsoft.com/office/powerpoint/2010/main" val="16544662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921173"/>
            <a:ext cx="396667" cy="287139"/>
          </a:xfrm>
          <a:prstGeom prst="roundRect">
            <a:avLst>
              <a:gd name="adj" fmla="val 7899"/>
            </a:avLst>
          </a:prstGeom>
          <a:noFill/>
          <a:ln w="6350">
            <a:solidFill>
              <a:srgbClr val="2150FE"/>
            </a:solidFill>
            <a:prstDash val="solid"/>
          </a:ln>
        </p:spPr>
      </p:sp>
      <p:sp>
        <p:nvSpPr>
          <p:cNvPr id="3" name="Text 1"/>
          <p:cNvSpPr/>
          <p:nvPr/>
        </p:nvSpPr>
        <p:spPr>
          <a:xfrm>
            <a:off x="774879" y="1977827"/>
            <a:ext cx="779443" cy="173831"/>
          </a:xfrm>
          <a:prstGeom prst="rect">
            <a:avLst/>
          </a:prstGeom>
          <a:noFill/>
          <a:ln/>
        </p:spPr>
        <p:txBody>
          <a:bodyPr wrap="none" lIns="0" tIns="0" rIns="0" bIns="0" rtlCol="0" anchor="t"/>
          <a:lstStyle/>
          <a:p>
            <a:pPr marL="0" indent="0" algn="l">
              <a:lnSpc>
                <a:spcPct val="96000"/>
              </a:lnSpc>
              <a:buNone/>
            </a:pPr>
            <a:r>
              <a:rPr lang="en-US" sz="1150" dirty="0">
                <a:solidFill>
                  <a:srgbClr val="2150FE"/>
                </a:solidFill>
                <a:latin typeface="Heebo" pitchFamily="34" charset="0"/>
                <a:ea typeface="Heebo" pitchFamily="34" charset="-122"/>
                <a:cs typeface="Heebo" pitchFamily="34" charset="-120"/>
              </a:rPr>
              <a:t>05</a:t>
            </a:r>
            <a:endParaRPr lang="en-US" sz="1150" dirty="0"/>
          </a:p>
        </p:txBody>
      </p:sp>
      <p:sp>
        <p:nvSpPr>
          <p:cNvPr id="4" name="Text 2"/>
          <p:cNvSpPr/>
          <p:nvPr/>
        </p:nvSpPr>
        <p:spPr>
          <a:xfrm>
            <a:off x="661475" y="2283916"/>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Regional Performance Analysis</a:t>
            </a:r>
            <a:endParaRPr lang="en-US" sz="3700" dirty="0"/>
          </a:p>
        </p:txBody>
      </p:sp>
      <p:sp>
        <p:nvSpPr>
          <p:cNvPr id="5" name="Text 3"/>
          <p:cNvSpPr/>
          <p:nvPr/>
        </p:nvSpPr>
        <p:spPr>
          <a:xfrm>
            <a:off x="661475" y="3347045"/>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Regional Metrics</a:t>
            </a:r>
            <a:endParaRPr lang="en-US" sz="1850" dirty="0"/>
          </a:p>
        </p:txBody>
      </p:sp>
      <p:sp>
        <p:nvSpPr>
          <p:cNvPr id="6" name="Text 4"/>
          <p:cNvSpPr/>
          <p:nvPr/>
        </p:nvSpPr>
        <p:spPr>
          <a:xfrm>
            <a:off x="661475" y="3831332"/>
            <a:ext cx="5203794" cy="103941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regions generate the highest revenue?</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regions generate the highest profit?</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What is the profit margin by region?</a:t>
            </a:r>
            <a:endParaRPr lang="en-US" sz="1450" dirty="0"/>
          </a:p>
        </p:txBody>
      </p:sp>
      <p:sp>
        <p:nvSpPr>
          <p:cNvPr id="7" name="Text 5"/>
          <p:cNvSpPr/>
          <p:nvPr/>
        </p:nvSpPr>
        <p:spPr>
          <a:xfrm>
            <a:off x="6332776" y="3347045"/>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Strategic Assessment</a:t>
            </a:r>
            <a:endParaRPr lang="en-US" sz="1850" dirty="0"/>
          </a:p>
        </p:txBody>
      </p:sp>
      <p:sp>
        <p:nvSpPr>
          <p:cNvPr id="8" name="Text 6"/>
          <p:cNvSpPr/>
          <p:nvPr/>
        </p:nvSpPr>
        <p:spPr>
          <a:xfrm>
            <a:off x="6332776" y="3831332"/>
            <a:ext cx="5203794" cy="103941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regions have high sales but low profitability?</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regions are negatively impacting profit?</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regions represent growth opportunities?</a:t>
            </a:r>
            <a:endParaRPr lang="en-US" sz="1450" dirty="0"/>
          </a:p>
        </p:txBody>
      </p:sp>
    </p:spTree>
    <p:extLst>
      <p:ext uri="{BB962C8B-B14F-4D97-AF65-F5344CB8AC3E}">
        <p14:creationId xmlns:p14="http://schemas.microsoft.com/office/powerpoint/2010/main" val="8852194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763317"/>
            <a:ext cx="396667" cy="287139"/>
          </a:xfrm>
          <a:prstGeom prst="roundRect">
            <a:avLst>
              <a:gd name="adj" fmla="val 7899"/>
            </a:avLst>
          </a:prstGeom>
          <a:noFill/>
          <a:ln w="6350">
            <a:solidFill>
              <a:srgbClr val="2150FE"/>
            </a:solidFill>
            <a:prstDash val="solid"/>
          </a:ln>
        </p:spPr>
      </p:sp>
      <p:sp>
        <p:nvSpPr>
          <p:cNvPr id="3" name="Text 1"/>
          <p:cNvSpPr/>
          <p:nvPr/>
        </p:nvSpPr>
        <p:spPr>
          <a:xfrm>
            <a:off x="774879" y="1819971"/>
            <a:ext cx="779443" cy="173831"/>
          </a:xfrm>
          <a:prstGeom prst="rect">
            <a:avLst/>
          </a:prstGeom>
          <a:noFill/>
          <a:ln/>
        </p:spPr>
        <p:txBody>
          <a:bodyPr wrap="none" lIns="0" tIns="0" rIns="0" bIns="0" rtlCol="0" anchor="t"/>
          <a:lstStyle/>
          <a:p>
            <a:pPr marL="0" indent="0" algn="l">
              <a:lnSpc>
                <a:spcPct val="96000"/>
              </a:lnSpc>
              <a:buNone/>
            </a:pPr>
            <a:r>
              <a:rPr lang="en-US" sz="1150" dirty="0">
                <a:solidFill>
                  <a:srgbClr val="2150FE"/>
                </a:solidFill>
                <a:latin typeface="Heebo" pitchFamily="34" charset="0"/>
                <a:ea typeface="Heebo" pitchFamily="34" charset="-122"/>
                <a:cs typeface="Heebo" pitchFamily="34" charset="-120"/>
              </a:rPr>
              <a:t>06</a:t>
            </a:r>
            <a:endParaRPr lang="en-US" sz="1150" dirty="0"/>
          </a:p>
        </p:txBody>
      </p:sp>
      <p:sp>
        <p:nvSpPr>
          <p:cNvPr id="4" name="Text 2"/>
          <p:cNvSpPr/>
          <p:nvPr/>
        </p:nvSpPr>
        <p:spPr>
          <a:xfrm>
            <a:off x="661475" y="212606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Discount Impact Analysis</a:t>
            </a:r>
            <a:endParaRPr lang="en-US" sz="37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661475" y="3000178"/>
            <a:ext cx="3496877" cy="2113260"/>
          </a:xfrm>
          <a:prstGeom prst="rect">
            <a:avLst/>
          </a:prstGeom>
        </p:spPr>
      </p:pic>
      <p:sp>
        <p:nvSpPr>
          <p:cNvPr id="6" name="Text 3"/>
          <p:cNvSpPr/>
          <p:nvPr/>
        </p:nvSpPr>
        <p:spPr>
          <a:xfrm>
            <a:off x="977479" y="3214590"/>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Discount Overview</a:t>
            </a:r>
            <a:endParaRPr lang="en-US" sz="1850" dirty="0"/>
          </a:p>
        </p:txBody>
      </p:sp>
      <p:sp>
        <p:nvSpPr>
          <p:cNvPr id="7" name="Text 4"/>
          <p:cNvSpPr/>
          <p:nvPr/>
        </p:nvSpPr>
        <p:spPr>
          <a:xfrm>
            <a:off x="977479" y="3623272"/>
            <a:ext cx="2966467" cy="1275755"/>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What is the average discount percentage?</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How does discount percentage affect profit?</a:t>
            </a:r>
            <a:endParaRPr lang="en-US" sz="145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347359" y="3000178"/>
            <a:ext cx="3496877" cy="2113260"/>
          </a:xfrm>
          <a:prstGeom prst="rect">
            <a:avLst/>
          </a:prstGeom>
        </p:spPr>
      </p:pic>
      <p:sp>
        <p:nvSpPr>
          <p:cNvPr id="9" name="Text 5"/>
          <p:cNvSpPr/>
          <p:nvPr/>
        </p:nvSpPr>
        <p:spPr>
          <a:xfrm>
            <a:off x="4663363" y="3214590"/>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Discount by Segment</a:t>
            </a:r>
            <a:endParaRPr lang="en-US" sz="1850" dirty="0"/>
          </a:p>
        </p:txBody>
      </p:sp>
      <p:sp>
        <p:nvSpPr>
          <p:cNvPr id="10" name="Text 6"/>
          <p:cNvSpPr/>
          <p:nvPr/>
        </p:nvSpPr>
        <p:spPr>
          <a:xfrm>
            <a:off x="4663363" y="3623272"/>
            <a:ext cx="2966467" cy="1275755"/>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products receive the highest discounts?</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categories receive the highest discounts?</a:t>
            </a:r>
            <a:endParaRPr lang="en-US" sz="145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8033244" y="3000178"/>
            <a:ext cx="3496877" cy="2113260"/>
          </a:xfrm>
          <a:prstGeom prst="rect">
            <a:avLst/>
          </a:prstGeom>
        </p:spPr>
      </p:pic>
      <p:sp>
        <p:nvSpPr>
          <p:cNvPr id="12" name="Text 7"/>
          <p:cNvSpPr/>
          <p:nvPr/>
        </p:nvSpPr>
        <p:spPr>
          <a:xfrm>
            <a:off x="8349247" y="3214590"/>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Profitability Impact</a:t>
            </a:r>
            <a:endParaRPr lang="en-US" sz="1850" dirty="0"/>
          </a:p>
        </p:txBody>
      </p:sp>
      <p:sp>
        <p:nvSpPr>
          <p:cNvPr id="13" name="Text 8"/>
          <p:cNvSpPr/>
          <p:nvPr/>
        </p:nvSpPr>
        <p:spPr>
          <a:xfrm>
            <a:off x="8349247" y="3623272"/>
            <a:ext cx="2966467" cy="1275755"/>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Are heavily discounted orders less profitable?</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discount levels provide the best profitability?</a:t>
            </a:r>
            <a:endParaRPr lang="en-US" sz="1450" dirty="0"/>
          </a:p>
        </p:txBody>
      </p:sp>
    </p:spTree>
    <p:extLst>
      <p:ext uri="{BB962C8B-B14F-4D97-AF65-F5344CB8AC3E}">
        <p14:creationId xmlns:p14="http://schemas.microsoft.com/office/powerpoint/2010/main" val="29708682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056382"/>
            <a:ext cx="396667" cy="287139"/>
          </a:xfrm>
          <a:prstGeom prst="roundRect">
            <a:avLst>
              <a:gd name="adj" fmla="val 7899"/>
            </a:avLst>
          </a:prstGeom>
          <a:noFill/>
          <a:ln w="6350">
            <a:solidFill>
              <a:srgbClr val="2150FE"/>
            </a:solidFill>
            <a:prstDash val="solid"/>
          </a:ln>
        </p:spPr>
      </p:sp>
      <p:sp>
        <p:nvSpPr>
          <p:cNvPr id="3" name="Text 1"/>
          <p:cNvSpPr/>
          <p:nvPr/>
        </p:nvSpPr>
        <p:spPr>
          <a:xfrm>
            <a:off x="774879" y="1113036"/>
            <a:ext cx="779443" cy="173831"/>
          </a:xfrm>
          <a:prstGeom prst="rect">
            <a:avLst/>
          </a:prstGeom>
          <a:noFill/>
          <a:ln/>
        </p:spPr>
        <p:txBody>
          <a:bodyPr wrap="none" lIns="0" tIns="0" rIns="0" bIns="0" rtlCol="0" anchor="t"/>
          <a:lstStyle/>
          <a:p>
            <a:pPr marL="0" indent="0" algn="l">
              <a:lnSpc>
                <a:spcPct val="96000"/>
              </a:lnSpc>
              <a:buNone/>
            </a:pPr>
            <a:r>
              <a:rPr lang="en-US" sz="1150" dirty="0">
                <a:solidFill>
                  <a:srgbClr val="2150FE"/>
                </a:solidFill>
                <a:latin typeface="Heebo" pitchFamily="34" charset="0"/>
                <a:ea typeface="Heebo" pitchFamily="34" charset="-122"/>
                <a:cs typeface="Heebo" pitchFamily="34" charset="-120"/>
              </a:rPr>
              <a:t>07</a:t>
            </a:r>
            <a:endParaRPr lang="en-US" sz="1150" dirty="0"/>
          </a:p>
        </p:txBody>
      </p:sp>
      <p:sp>
        <p:nvSpPr>
          <p:cNvPr id="4" name="Text 2"/>
          <p:cNvSpPr/>
          <p:nvPr/>
        </p:nvSpPr>
        <p:spPr>
          <a:xfrm>
            <a:off x="661475" y="1419126"/>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Strategic Growth Analysis</a:t>
            </a:r>
            <a:endParaRPr lang="en-US" sz="37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661475" y="2293243"/>
            <a:ext cx="5339820" cy="1810841"/>
          </a:xfrm>
          <a:prstGeom prst="rect">
            <a:avLst/>
          </a:prstGeom>
        </p:spPr>
      </p:pic>
      <p:sp>
        <p:nvSpPr>
          <p:cNvPr id="6" name="Text 3"/>
          <p:cNvSpPr/>
          <p:nvPr/>
        </p:nvSpPr>
        <p:spPr>
          <a:xfrm>
            <a:off x="977479" y="2507655"/>
            <a:ext cx="4809409"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Product Strategy</a:t>
            </a:r>
            <a:endParaRPr lang="en-US" sz="1850" dirty="0"/>
          </a:p>
        </p:txBody>
      </p:sp>
      <p:sp>
        <p:nvSpPr>
          <p:cNvPr id="7" name="Text 4"/>
          <p:cNvSpPr/>
          <p:nvPr/>
        </p:nvSpPr>
        <p:spPr>
          <a:xfrm>
            <a:off x="977479" y="2916337"/>
            <a:ext cx="4809409" cy="97333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products should the company invest in?</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products should be reviewed due to poor profitability?</a:t>
            </a:r>
            <a:endParaRPr lang="en-US" sz="145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6190301" y="2293243"/>
            <a:ext cx="5339919" cy="1810841"/>
          </a:xfrm>
          <a:prstGeom prst="rect">
            <a:avLst/>
          </a:prstGeom>
        </p:spPr>
      </p:pic>
      <p:sp>
        <p:nvSpPr>
          <p:cNvPr id="9" name="Text 5"/>
          <p:cNvSpPr/>
          <p:nvPr/>
        </p:nvSpPr>
        <p:spPr>
          <a:xfrm>
            <a:off x="6506305" y="2507655"/>
            <a:ext cx="4809509"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Customer Strategy</a:t>
            </a:r>
            <a:endParaRPr lang="en-US" sz="1850" dirty="0"/>
          </a:p>
        </p:txBody>
      </p:sp>
      <p:sp>
        <p:nvSpPr>
          <p:cNvPr id="10" name="Text 6"/>
          <p:cNvSpPr/>
          <p:nvPr/>
        </p:nvSpPr>
        <p:spPr>
          <a:xfrm>
            <a:off x="6506305" y="2916337"/>
            <a:ext cx="4809509" cy="302419"/>
          </a:xfrm>
          <a:prstGeom prst="rect">
            <a:avLst/>
          </a:prstGeom>
          <a:noFill/>
          <a:ln/>
        </p:spPr>
        <p:txBody>
          <a:bodyPr wrap="none" lIns="0" tIns="0" rIns="0" bIns="0" rtlCol="0" anchor="t"/>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customers should be targeted for retention?</a:t>
            </a:r>
            <a:endParaRPr lang="en-US" sz="1450" dirty="0"/>
          </a:p>
        </p:txBody>
      </p:sp>
      <p:pic>
        <p:nvPicPr>
          <p:cNvPr id="11" name="Image 2" descr="preencoded.png"/>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661475" y="4293096"/>
            <a:ext cx="5339820" cy="1508423"/>
          </a:xfrm>
          <a:prstGeom prst="rect">
            <a:avLst/>
          </a:prstGeom>
        </p:spPr>
      </p:pic>
      <p:sp>
        <p:nvSpPr>
          <p:cNvPr id="12" name="Text 7"/>
          <p:cNvSpPr/>
          <p:nvPr/>
        </p:nvSpPr>
        <p:spPr>
          <a:xfrm>
            <a:off x="977479" y="4507508"/>
            <a:ext cx="4809409"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Regional &amp; Channel Strategy</a:t>
            </a:r>
            <a:endParaRPr lang="en-US" sz="1850" dirty="0"/>
          </a:p>
        </p:txBody>
      </p:sp>
      <p:sp>
        <p:nvSpPr>
          <p:cNvPr id="13" name="Text 8"/>
          <p:cNvSpPr/>
          <p:nvPr/>
        </p:nvSpPr>
        <p:spPr>
          <a:xfrm>
            <a:off x="977479" y="4916190"/>
            <a:ext cx="4809409" cy="670917"/>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regions have the highest growth potential?</a:t>
            </a:r>
            <a:endParaRPr lang="en-US" sz="1450" dirty="0"/>
          </a:p>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sales channels should receive more focus?</a:t>
            </a:r>
            <a:endParaRPr lang="en-US" sz="1450" dirty="0"/>
          </a:p>
        </p:txBody>
      </p:sp>
      <p:pic>
        <p:nvPicPr>
          <p:cNvPr id="14" name="Image 3" descr="preencoded.png"/>
          <p:cNvPicPr>
            <a:picLocks noChangeAspect="1"/>
          </p:cNvPicPr>
          <p:nvPr/>
        </p:nvPicPr>
        <p:blipFill>
          <a:blip r:embed="rId6">
            <a:extLst>
              <a:ext uri="{96DAC541-7B7A-43D3-8B79-37D633B846F1}">
                <asvg:svgBlip xmlns:asvg="http://schemas.microsoft.com/office/drawing/2016/SVG/main" xmlns="" r:embed="rId8"/>
              </a:ext>
            </a:extLst>
          </a:blip>
          <a:stretch>
            <a:fillRect/>
          </a:stretch>
        </p:blipFill>
        <p:spPr>
          <a:xfrm>
            <a:off x="6190301" y="4293096"/>
            <a:ext cx="5339919" cy="1508423"/>
          </a:xfrm>
          <a:prstGeom prst="rect">
            <a:avLst/>
          </a:prstGeom>
        </p:spPr>
      </p:pic>
      <p:sp>
        <p:nvSpPr>
          <p:cNvPr id="15" name="Text 9"/>
          <p:cNvSpPr/>
          <p:nvPr/>
        </p:nvSpPr>
        <p:spPr>
          <a:xfrm>
            <a:off x="6506305" y="4507508"/>
            <a:ext cx="4809509" cy="295275"/>
          </a:xfrm>
          <a:prstGeom prst="rect">
            <a:avLst/>
          </a:prstGeom>
          <a:noFill/>
          <a:ln/>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Margin Risk</a:t>
            </a:r>
            <a:endParaRPr lang="en-US" sz="1850" dirty="0"/>
          </a:p>
        </p:txBody>
      </p:sp>
      <p:sp>
        <p:nvSpPr>
          <p:cNvPr id="16" name="Text 10"/>
          <p:cNvSpPr/>
          <p:nvPr/>
        </p:nvSpPr>
        <p:spPr>
          <a:xfrm>
            <a:off x="6506305" y="4916190"/>
            <a:ext cx="4809509" cy="604838"/>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C4C4D"/>
                </a:solidFill>
                <a:latin typeface="Heebo" pitchFamily="34" charset="0"/>
                <a:ea typeface="Heebo" pitchFamily="34" charset="-122"/>
                <a:cs typeface="Heebo" pitchFamily="34" charset="-120"/>
              </a:rPr>
              <a:t>Which areas generate revenue but reduce overall margins?</a:t>
            </a:r>
            <a:endParaRPr lang="en-US" sz="1450" dirty="0"/>
          </a:p>
        </p:txBody>
      </p:sp>
    </p:spTree>
    <p:extLst>
      <p:ext uri="{BB962C8B-B14F-4D97-AF65-F5344CB8AC3E}">
        <p14:creationId xmlns:p14="http://schemas.microsoft.com/office/powerpoint/2010/main" val="30041222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5" name="Text 2"/>
          <p:cNvSpPr/>
          <p:nvPr/>
        </p:nvSpPr>
        <p:spPr>
          <a:xfrm>
            <a:off x="5233360" y="3314998"/>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Insights</a:t>
            </a:r>
            <a:endParaRPr lang="en-US" sz="3700" dirty="0"/>
          </a:p>
        </p:txBody>
      </p:sp>
    </p:spTree>
    <p:extLst>
      <p:ext uri="{BB962C8B-B14F-4D97-AF65-F5344CB8AC3E}">
        <p14:creationId xmlns:p14="http://schemas.microsoft.com/office/powerpoint/2010/main" val="20525235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052909"/>
            <a:ext cx="2946525" cy="287139"/>
          </a:xfrm>
          <a:prstGeom prst="roundRect">
            <a:avLst>
              <a:gd name="adj" fmla="val 7899"/>
            </a:avLst>
          </a:prstGeom>
          <a:noFill/>
          <a:ln w="6350">
            <a:solidFill>
              <a:srgbClr val="2150FE"/>
            </a:solidFill>
            <a:prstDash val="solid"/>
          </a:ln>
        </p:spPr>
      </p:sp>
      <p:sp>
        <p:nvSpPr>
          <p:cNvPr id="3" name="Text 1"/>
          <p:cNvSpPr/>
          <p:nvPr/>
        </p:nvSpPr>
        <p:spPr>
          <a:xfrm>
            <a:off x="774879" y="1109563"/>
            <a:ext cx="3329301" cy="173831"/>
          </a:xfrm>
          <a:prstGeom prst="rect">
            <a:avLst/>
          </a:prstGeom>
          <a:noFill/>
          <a:ln/>
        </p:spPr>
        <p:txBody>
          <a:bodyPr wrap="none" lIns="0" tIns="0" rIns="0" bIns="0" rtlCol="0" anchor="t"/>
          <a:lstStyle/>
          <a:p>
            <a:pPr marL="0" indent="0" algn="l">
              <a:lnSpc>
                <a:spcPct val="96000"/>
              </a:lnSpc>
              <a:buNone/>
            </a:pPr>
            <a:r>
              <a:rPr lang="en-US" sz="1150" dirty="0">
                <a:solidFill>
                  <a:srgbClr val="2150FE"/>
                </a:solidFill>
                <a:latin typeface="Heebo" pitchFamily="34" charset="0"/>
                <a:ea typeface="Heebo" pitchFamily="34" charset="-122"/>
                <a:cs typeface="Heebo" pitchFamily="34" charset="-120"/>
              </a:rPr>
              <a:t>OVERALL SALES AND PROFIT ANALYSIS</a:t>
            </a:r>
            <a:endParaRPr lang="en-US" sz="1150" dirty="0"/>
          </a:p>
        </p:txBody>
      </p:sp>
      <p:sp>
        <p:nvSpPr>
          <p:cNvPr id="4" name="Text 2"/>
          <p:cNvSpPr/>
          <p:nvPr/>
        </p:nvSpPr>
        <p:spPr>
          <a:xfrm>
            <a:off x="661475" y="1415653"/>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1. Total Revenue</a:t>
            </a:r>
            <a:endParaRPr lang="en-US" sz="3700" dirty="0"/>
          </a:p>
        </p:txBody>
      </p:sp>
      <p:sp>
        <p:nvSpPr>
          <p:cNvPr id="5" name="Text 3"/>
          <p:cNvSpPr/>
          <p:nvPr/>
        </p:nvSpPr>
        <p:spPr>
          <a:xfrm>
            <a:off x="661475" y="2384227"/>
            <a:ext cx="10868745" cy="623788"/>
          </a:xfrm>
          <a:prstGeom prst="rect">
            <a:avLst/>
          </a:prstGeom>
          <a:noFill/>
          <a:ln/>
        </p:spPr>
        <p:txBody>
          <a:bodyPr wrap="none" lIns="0" tIns="0" rIns="0" bIns="0" rtlCol="0" anchor="t"/>
          <a:lstStyle/>
          <a:p>
            <a:pPr marL="0" indent="0" algn="ctr">
              <a:lnSpc>
                <a:spcPct val="83000"/>
              </a:lnSpc>
              <a:buNone/>
            </a:pPr>
            <a:r>
              <a:rPr lang="en-US" sz="4900" dirty="0">
                <a:solidFill>
                  <a:srgbClr val="4C4C4D"/>
                </a:solidFill>
                <a:latin typeface="Crimson Pro SemiBold" pitchFamily="34" charset="0"/>
                <a:ea typeface="Crimson Pro SemiBold" pitchFamily="34" charset="-122"/>
                <a:cs typeface="Crimson Pro SemiBold" pitchFamily="34" charset="-120"/>
              </a:rPr>
              <a:t>$42,221,655.72</a:t>
            </a:r>
            <a:endParaRPr lang="en-US" sz="4900" dirty="0"/>
          </a:p>
        </p:txBody>
      </p:sp>
      <p:sp>
        <p:nvSpPr>
          <p:cNvPr id="6" name="Text 4"/>
          <p:cNvSpPr/>
          <p:nvPr/>
        </p:nvSpPr>
        <p:spPr>
          <a:xfrm>
            <a:off x="661475" y="3244155"/>
            <a:ext cx="10868745" cy="295275"/>
          </a:xfrm>
          <a:prstGeom prst="rect">
            <a:avLst/>
          </a:prstGeom>
          <a:noFill/>
          <a:ln/>
        </p:spPr>
        <p:txBody>
          <a:bodyPr wrap="none" lIns="0" tIns="0" rIns="0" bIns="0" rtlCol="0" anchor="t"/>
          <a:lstStyle/>
          <a:p>
            <a:pPr marL="0" indent="0" algn="ctr">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KPI: Total Revenue</a:t>
            </a:r>
            <a:endParaRPr lang="en-US" sz="1850" dirty="0"/>
          </a:p>
        </p:txBody>
      </p:sp>
      <p:sp>
        <p:nvSpPr>
          <p:cNvPr id="7" name="Shape 5"/>
          <p:cNvSpPr/>
          <p:nvPr/>
        </p:nvSpPr>
        <p:spPr>
          <a:xfrm>
            <a:off x="525350" y="3752056"/>
            <a:ext cx="5476043" cy="2053034"/>
          </a:xfrm>
          <a:prstGeom prst="roundRect">
            <a:avLst>
              <a:gd name="adj" fmla="val 1381"/>
            </a:avLst>
          </a:prstGeom>
          <a:solidFill>
            <a:srgbClr val="2150FE"/>
          </a:solidFill>
          <a:ln/>
        </p:spPr>
      </p:sp>
      <p:sp>
        <p:nvSpPr>
          <p:cNvPr id="8" name="Text 6"/>
          <p:cNvSpPr/>
          <p:nvPr/>
        </p:nvSpPr>
        <p:spPr>
          <a:xfrm>
            <a:off x="714357" y="3941068"/>
            <a:ext cx="5098029" cy="295275"/>
          </a:xfrm>
          <a:prstGeom prst="rect">
            <a:avLst/>
          </a:prstGeom>
          <a:noFill/>
          <a:ln/>
        </p:spPr>
        <p:txBody>
          <a:bodyPr wrap="none" lIns="0" tIns="0" rIns="0" bIns="0" rtlCol="0" anchor="t"/>
          <a:lstStyle/>
          <a:p>
            <a:pPr marL="0" indent="0" algn="l">
              <a:lnSpc>
                <a:spcPct val="104000"/>
              </a:lnSpc>
              <a:buNone/>
            </a:pPr>
            <a:r>
              <a:rPr lang="en-US" sz="1850" dirty="0">
                <a:solidFill>
                  <a:srgbClr val="FFFFFF"/>
                </a:solidFill>
                <a:latin typeface="Crimson Pro SemiBold" pitchFamily="34" charset="0"/>
                <a:ea typeface="Crimson Pro SemiBold" pitchFamily="34" charset="-122"/>
                <a:cs typeface="Crimson Pro SemiBold" pitchFamily="34" charset="-120"/>
              </a:rPr>
              <a:t>Observation</a:t>
            </a:r>
            <a:endParaRPr lang="en-US" sz="1850" dirty="0"/>
          </a:p>
        </p:txBody>
      </p:sp>
      <p:sp>
        <p:nvSpPr>
          <p:cNvPr id="9" name="Text 7"/>
          <p:cNvSpPr/>
          <p:nvPr/>
        </p:nvSpPr>
        <p:spPr>
          <a:xfrm>
            <a:off x="714357" y="4425355"/>
            <a:ext cx="509802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FFFFF"/>
                </a:solidFill>
                <a:latin typeface="Heebo" pitchFamily="34" charset="0"/>
                <a:ea typeface="Heebo" pitchFamily="34" charset="-122"/>
                <a:cs typeface="Heebo" pitchFamily="34" charset="-120"/>
              </a:rPr>
              <a:t>The Company generated $12 million in total revenue during the analysis period.</a:t>
            </a:r>
            <a:endParaRPr lang="en-US" sz="1450" dirty="0"/>
          </a:p>
        </p:txBody>
      </p:sp>
      <p:sp>
        <p:nvSpPr>
          <p:cNvPr id="10" name="Text 8"/>
          <p:cNvSpPr/>
          <p:nvPr/>
        </p:nvSpPr>
        <p:spPr>
          <a:xfrm>
            <a:off x="6332776" y="3941068"/>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Insight</a:t>
            </a:r>
            <a:endParaRPr lang="en-US" sz="1850" dirty="0"/>
          </a:p>
        </p:txBody>
      </p:sp>
      <p:sp>
        <p:nvSpPr>
          <p:cNvPr id="11" name="Text 9"/>
          <p:cNvSpPr/>
          <p:nvPr/>
        </p:nvSpPr>
        <p:spPr>
          <a:xfrm>
            <a:off x="6332776" y="4425355"/>
            <a:ext cx="5203794"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The Company generated strong revenue, indicating healthy sales performance. However, revenue should always be evaluated alongside profitability to ensure that sales growth is translating into sustainable financial performance.</a:t>
            </a:r>
            <a:endParaRPr lang="en-US" sz="1450" dirty="0"/>
          </a:p>
        </p:txBody>
      </p:sp>
    </p:spTree>
    <p:extLst>
      <p:ext uri="{BB962C8B-B14F-4D97-AF65-F5344CB8AC3E}">
        <p14:creationId xmlns:p14="http://schemas.microsoft.com/office/powerpoint/2010/main" val="17658498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959247"/>
            <a:ext cx="2652249" cy="258465"/>
          </a:xfrm>
          <a:prstGeom prst="roundRect">
            <a:avLst>
              <a:gd name="adj" fmla="val 7898"/>
            </a:avLst>
          </a:prstGeom>
          <a:noFill/>
          <a:ln w="6350">
            <a:solidFill>
              <a:srgbClr val="2150FE"/>
            </a:solidFill>
            <a:prstDash val="solid"/>
          </a:ln>
        </p:spPr>
      </p:sp>
      <p:sp>
        <p:nvSpPr>
          <p:cNvPr id="3" name="Text 1"/>
          <p:cNvSpPr/>
          <p:nvPr/>
        </p:nvSpPr>
        <p:spPr>
          <a:xfrm>
            <a:off x="763469" y="1010245"/>
            <a:ext cx="3057845" cy="156468"/>
          </a:xfrm>
          <a:prstGeom prst="rect">
            <a:avLst/>
          </a:prstGeom>
          <a:noFill/>
          <a:ln/>
        </p:spPr>
        <p:txBody>
          <a:bodyPr wrap="none" lIns="0" tIns="0" rIns="0" bIns="0" rtlCol="0" anchor="t"/>
          <a:lstStyle/>
          <a:p>
            <a:pPr marL="0" indent="0" algn="l">
              <a:lnSpc>
                <a:spcPct val="96000"/>
              </a:lnSpc>
              <a:buNone/>
            </a:pPr>
            <a:r>
              <a:rPr lang="en-US" sz="1050" dirty="0">
                <a:solidFill>
                  <a:srgbClr val="2150FE"/>
                </a:solidFill>
                <a:latin typeface="Heebo" pitchFamily="34" charset="0"/>
                <a:ea typeface="Heebo" pitchFamily="34" charset="-122"/>
                <a:cs typeface="Heebo" pitchFamily="34" charset="-120"/>
              </a:rPr>
              <a:t>OVERALL SALES AND PROFIT ANALYSIS</a:t>
            </a:r>
            <a:endParaRPr lang="en-US" sz="1050" dirty="0"/>
          </a:p>
        </p:txBody>
      </p:sp>
      <p:sp>
        <p:nvSpPr>
          <p:cNvPr id="4" name="Text 2"/>
          <p:cNvSpPr/>
          <p:nvPr/>
        </p:nvSpPr>
        <p:spPr>
          <a:xfrm>
            <a:off x="661475" y="1278930"/>
            <a:ext cx="10868745" cy="531614"/>
          </a:xfrm>
          <a:prstGeom prst="rect">
            <a:avLst/>
          </a:prstGeom>
          <a:noFill/>
          <a:ln/>
        </p:spPr>
        <p:txBody>
          <a:bodyPr wrap="none" lIns="0" tIns="0" rIns="0" bIns="0" rtlCol="0" anchor="t"/>
          <a:lstStyle/>
          <a:p>
            <a:pPr marL="0" indent="0" algn="l">
              <a:lnSpc>
                <a:spcPct val="104000"/>
              </a:lnSpc>
              <a:buNone/>
            </a:pPr>
            <a:r>
              <a:rPr lang="en-US" sz="3300" dirty="0">
                <a:solidFill>
                  <a:srgbClr val="152D47"/>
                </a:solidFill>
                <a:latin typeface="Crimson Pro SemiBold" pitchFamily="34" charset="0"/>
                <a:ea typeface="Crimson Pro SemiBold" pitchFamily="34" charset="-122"/>
                <a:cs typeface="Crimson Pro SemiBold" pitchFamily="34" charset="-120"/>
              </a:rPr>
              <a:t>2. Total Profit &amp; 3. Profit Margin</a:t>
            </a:r>
            <a:endParaRPr lang="en-US" sz="3300" dirty="0"/>
          </a:p>
        </p:txBody>
      </p:sp>
      <p:sp>
        <p:nvSpPr>
          <p:cNvPr id="5" name="Text 3"/>
          <p:cNvSpPr/>
          <p:nvPr/>
        </p:nvSpPr>
        <p:spPr>
          <a:xfrm>
            <a:off x="928367" y="2125166"/>
            <a:ext cx="4804845" cy="561380"/>
          </a:xfrm>
          <a:prstGeom prst="rect">
            <a:avLst/>
          </a:prstGeom>
          <a:noFill/>
          <a:ln/>
        </p:spPr>
        <p:txBody>
          <a:bodyPr wrap="none" lIns="0" tIns="0" rIns="0" bIns="0" rtlCol="0" anchor="t"/>
          <a:lstStyle/>
          <a:p>
            <a:pPr marL="0" indent="0" algn="ctr">
              <a:lnSpc>
                <a:spcPct val="83000"/>
              </a:lnSpc>
              <a:buNone/>
            </a:pPr>
            <a:r>
              <a:rPr lang="en-US" sz="4400" dirty="0">
                <a:solidFill>
                  <a:srgbClr val="4C4C4D"/>
                </a:solidFill>
                <a:latin typeface="Crimson Pro SemiBold" pitchFamily="34" charset="0"/>
                <a:ea typeface="Crimson Pro SemiBold" pitchFamily="34" charset="-122"/>
                <a:cs typeface="Crimson Pro SemiBold" pitchFamily="34" charset="-120"/>
              </a:rPr>
              <a:t>$15,566,963.18</a:t>
            </a:r>
            <a:endParaRPr lang="en-US" sz="4400" dirty="0"/>
          </a:p>
        </p:txBody>
      </p:sp>
      <p:sp>
        <p:nvSpPr>
          <p:cNvPr id="6" name="Text 4"/>
          <p:cNvSpPr/>
          <p:nvPr/>
        </p:nvSpPr>
        <p:spPr>
          <a:xfrm>
            <a:off x="661475" y="2886373"/>
            <a:ext cx="5338728" cy="265708"/>
          </a:xfrm>
          <a:prstGeom prst="rect">
            <a:avLst/>
          </a:prstGeom>
          <a:noFill/>
          <a:ln/>
        </p:spPr>
        <p:txBody>
          <a:bodyPr wrap="none" lIns="0" tIns="0" rIns="0" bIns="0" rtlCol="0" anchor="t"/>
          <a:lstStyle/>
          <a:p>
            <a:pPr marL="0" indent="0" algn="ctr">
              <a:lnSpc>
                <a:spcPct val="104000"/>
              </a:lnSpc>
              <a:buNone/>
            </a:pPr>
            <a:r>
              <a:rPr lang="en-US" sz="1650" dirty="0">
                <a:solidFill>
                  <a:srgbClr val="4C4C4D"/>
                </a:solidFill>
                <a:latin typeface="Crimson Pro SemiBold" pitchFamily="34" charset="0"/>
                <a:ea typeface="Crimson Pro SemiBold" pitchFamily="34" charset="-122"/>
                <a:cs typeface="Crimson Pro SemiBold" pitchFamily="34" charset="-120"/>
              </a:rPr>
              <a:t>Total Profit</a:t>
            </a:r>
            <a:endParaRPr lang="en-US" sz="1650" dirty="0"/>
          </a:p>
        </p:txBody>
      </p:sp>
      <p:sp>
        <p:nvSpPr>
          <p:cNvPr id="7" name="Text 5"/>
          <p:cNvSpPr/>
          <p:nvPr/>
        </p:nvSpPr>
        <p:spPr>
          <a:xfrm>
            <a:off x="6458384" y="2125166"/>
            <a:ext cx="4804845" cy="561380"/>
          </a:xfrm>
          <a:prstGeom prst="rect">
            <a:avLst/>
          </a:prstGeom>
          <a:noFill/>
          <a:ln/>
        </p:spPr>
        <p:txBody>
          <a:bodyPr wrap="none" lIns="0" tIns="0" rIns="0" bIns="0" rtlCol="0" anchor="t"/>
          <a:lstStyle/>
          <a:p>
            <a:pPr marL="0" indent="0" algn="ctr">
              <a:lnSpc>
                <a:spcPct val="83000"/>
              </a:lnSpc>
              <a:buNone/>
            </a:pPr>
            <a:r>
              <a:rPr lang="en-US" sz="4400" dirty="0">
                <a:solidFill>
                  <a:srgbClr val="4C4C4D"/>
                </a:solidFill>
                <a:latin typeface="Crimson Pro SemiBold" pitchFamily="34" charset="0"/>
                <a:ea typeface="Crimson Pro SemiBold" pitchFamily="34" charset="-122"/>
                <a:cs typeface="Crimson Pro SemiBold" pitchFamily="34" charset="-120"/>
              </a:rPr>
              <a:t>36%</a:t>
            </a:r>
            <a:endParaRPr lang="en-US" sz="4400" dirty="0"/>
          </a:p>
        </p:txBody>
      </p:sp>
      <p:sp>
        <p:nvSpPr>
          <p:cNvPr id="8" name="Text 6"/>
          <p:cNvSpPr/>
          <p:nvPr/>
        </p:nvSpPr>
        <p:spPr>
          <a:xfrm>
            <a:off x="6191492" y="2886373"/>
            <a:ext cx="5338728" cy="265708"/>
          </a:xfrm>
          <a:prstGeom prst="rect">
            <a:avLst/>
          </a:prstGeom>
          <a:noFill/>
          <a:ln/>
        </p:spPr>
        <p:txBody>
          <a:bodyPr wrap="none" lIns="0" tIns="0" rIns="0" bIns="0" rtlCol="0" anchor="t"/>
          <a:lstStyle/>
          <a:p>
            <a:pPr marL="0" indent="0" algn="ctr">
              <a:lnSpc>
                <a:spcPct val="104000"/>
              </a:lnSpc>
              <a:buNone/>
            </a:pPr>
            <a:r>
              <a:rPr lang="en-US" sz="1650" dirty="0">
                <a:solidFill>
                  <a:srgbClr val="4C4C4D"/>
                </a:solidFill>
                <a:latin typeface="Crimson Pro SemiBold" pitchFamily="34" charset="0"/>
                <a:ea typeface="Crimson Pro SemiBold" pitchFamily="34" charset="-122"/>
                <a:cs typeface="Crimson Pro SemiBold" pitchFamily="34" charset="-120"/>
              </a:rPr>
              <a:t>Profit Margin</a:t>
            </a:r>
            <a:endParaRPr lang="en-US" sz="1650" dirty="0"/>
          </a:p>
        </p:txBody>
      </p:sp>
      <p:sp>
        <p:nvSpPr>
          <p:cNvPr id="9" name="Shape 7"/>
          <p:cNvSpPr/>
          <p:nvPr/>
        </p:nvSpPr>
        <p:spPr>
          <a:xfrm>
            <a:off x="539042" y="3324324"/>
            <a:ext cx="5471777" cy="2574330"/>
          </a:xfrm>
          <a:prstGeom prst="roundRect">
            <a:avLst>
              <a:gd name="adj" fmla="val 991"/>
            </a:avLst>
          </a:prstGeom>
          <a:solidFill>
            <a:srgbClr val="2150FE"/>
          </a:solidFill>
          <a:ln/>
        </p:spPr>
      </p:sp>
      <p:sp>
        <p:nvSpPr>
          <p:cNvPr id="10" name="Text 8"/>
          <p:cNvSpPr/>
          <p:nvPr/>
        </p:nvSpPr>
        <p:spPr>
          <a:xfrm>
            <a:off x="709099" y="3477419"/>
            <a:ext cx="5131664" cy="265708"/>
          </a:xfrm>
          <a:prstGeom prst="rect">
            <a:avLst/>
          </a:prstGeom>
          <a:noFill/>
          <a:ln/>
        </p:spPr>
        <p:txBody>
          <a:bodyPr wrap="none" lIns="0" tIns="0" rIns="0" bIns="0" rtlCol="0" anchor="t"/>
          <a:lstStyle/>
          <a:p>
            <a:pPr marL="0" indent="0" algn="l">
              <a:lnSpc>
                <a:spcPct val="104000"/>
              </a:lnSpc>
              <a:buNone/>
            </a:pPr>
            <a:r>
              <a:rPr lang="en-US" sz="1650" dirty="0">
                <a:solidFill>
                  <a:srgbClr val="FFFFFF"/>
                </a:solidFill>
                <a:latin typeface="Crimson Pro SemiBold" pitchFamily="34" charset="0"/>
                <a:ea typeface="Crimson Pro SemiBold" pitchFamily="34" charset="-122"/>
                <a:cs typeface="Crimson Pro SemiBold" pitchFamily="34" charset="-120"/>
              </a:rPr>
              <a:t>2. Total Profit — Observation</a:t>
            </a:r>
            <a:endParaRPr lang="en-US" sz="1650" dirty="0"/>
          </a:p>
        </p:txBody>
      </p:sp>
      <p:sp>
        <p:nvSpPr>
          <p:cNvPr id="11" name="Text 9"/>
          <p:cNvSpPr/>
          <p:nvPr/>
        </p:nvSpPr>
        <p:spPr>
          <a:xfrm>
            <a:off x="709099" y="3896221"/>
            <a:ext cx="5741249" cy="258564"/>
          </a:xfrm>
          <a:prstGeom prst="rect">
            <a:avLst/>
          </a:prstGeom>
          <a:noFill/>
          <a:ln/>
        </p:spPr>
        <p:txBody>
          <a:bodyPr wrap="none" lIns="0" tIns="0" rIns="0" bIns="0" rtlCol="0" anchor="t"/>
          <a:lstStyle/>
          <a:p>
            <a:pPr marL="0" indent="0" algn="l">
              <a:lnSpc>
                <a:spcPct val="127000"/>
              </a:lnSpc>
              <a:buNone/>
            </a:pPr>
            <a:r>
              <a:rPr lang="en-US" sz="1300" dirty="0">
                <a:solidFill>
                  <a:srgbClr val="FFFFFF"/>
                </a:solidFill>
                <a:latin typeface="Heebo" pitchFamily="34" charset="0"/>
                <a:ea typeface="Heebo" pitchFamily="34" charset="-122"/>
                <a:cs typeface="Heebo" pitchFamily="34" charset="-120"/>
              </a:rPr>
              <a:t>The Company earned $15566963.18in profit.</a:t>
            </a:r>
            <a:endParaRPr lang="en-US" sz="1300" dirty="0"/>
          </a:p>
        </p:txBody>
      </p:sp>
      <p:sp>
        <p:nvSpPr>
          <p:cNvPr id="12" name="Text 10"/>
          <p:cNvSpPr/>
          <p:nvPr/>
        </p:nvSpPr>
        <p:spPr>
          <a:xfrm>
            <a:off x="709099" y="4307880"/>
            <a:ext cx="5131664" cy="265708"/>
          </a:xfrm>
          <a:prstGeom prst="rect">
            <a:avLst/>
          </a:prstGeom>
          <a:noFill/>
          <a:ln/>
        </p:spPr>
        <p:txBody>
          <a:bodyPr wrap="none" lIns="0" tIns="0" rIns="0" bIns="0" rtlCol="0" anchor="t"/>
          <a:lstStyle/>
          <a:p>
            <a:pPr marL="0" indent="0" algn="l">
              <a:lnSpc>
                <a:spcPct val="104000"/>
              </a:lnSpc>
              <a:buNone/>
            </a:pPr>
            <a:r>
              <a:rPr lang="en-US" sz="1650" dirty="0">
                <a:solidFill>
                  <a:srgbClr val="FFFFFF"/>
                </a:solidFill>
                <a:latin typeface="Crimson Pro SemiBold" pitchFamily="34" charset="0"/>
                <a:ea typeface="Crimson Pro SemiBold" pitchFamily="34" charset="-122"/>
                <a:cs typeface="Crimson Pro SemiBold" pitchFamily="34" charset="-120"/>
              </a:rPr>
              <a:t>Insight</a:t>
            </a:r>
            <a:endParaRPr lang="en-US" sz="1650" dirty="0"/>
          </a:p>
        </p:txBody>
      </p:sp>
      <p:sp>
        <p:nvSpPr>
          <p:cNvPr id="13" name="Text 11"/>
          <p:cNvSpPr/>
          <p:nvPr/>
        </p:nvSpPr>
        <p:spPr>
          <a:xfrm>
            <a:off x="709099" y="4726682"/>
            <a:ext cx="5131664" cy="1034256"/>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FFFFFF"/>
                </a:solidFill>
                <a:latin typeface="Heebo" pitchFamily="34" charset="0"/>
                <a:ea typeface="Heebo" pitchFamily="34" charset="-122"/>
                <a:cs typeface="Heebo" pitchFamily="34" charset="-120"/>
              </a:rPr>
              <a:t>The business generated positive profit, reflecting its ability to convert sales into earnings. Further analysis should identify which products, customers, and sales channels contribute most to this profit so the company can focus on its most valuable opportunities.</a:t>
            </a:r>
            <a:endParaRPr lang="en-US" sz="1300" dirty="0"/>
          </a:p>
        </p:txBody>
      </p:sp>
      <p:sp>
        <p:nvSpPr>
          <p:cNvPr id="14" name="Text 12"/>
          <p:cNvSpPr/>
          <p:nvPr/>
        </p:nvSpPr>
        <p:spPr>
          <a:xfrm>
            <a:off x="6309659" y="3477419"/>
            <a:ext cx="5226911" cy="265708"/>
          </a:xfrm>
          <a:prstGeom prst="rect">
            <a:avLst/>
          </a:prstGeom>
          <a:noFill/>
          <a:ln/>
        </p:spPr>
        <p:txBody>
          <a:bodyPr wrap="none" lIns="0" tIns="0" rIns="0" bIns="0" rtlCol="0" anchor="t"/>
          <a:lstStyle/>
          <a:p>
            <a:pPr marL="0" indent="0" algn="l">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3. Profit Margin — Observation</a:t>
            </a:r>
            <a:endParaRPr lang="en-US" sz="1650" dirty="0"/>
          </a:p>
        </p:txBody>
      </p:sp>
      <p:sp>
        <p:nvSpPr>
          <p:cNvPr id="15" name="Text 13"/>
          <p:cNvSpPr/>
          <p:nvPr/>
        </p:nvSpPr>
        <p:spPr>
          <a:xfrm>
            <a:off x="6309659" y="3896221"/>
            <a:ext cx="5836496" cy="258564"/>
          </a:xfrm>
          <a:prstGeom prst="rect">
            <a:avLst/>
          </a:prstGeom>
          <a:noFill/>
          <a:ln/>
        </p:spPr>
        <p:txBody>
          <a:bodyPr wrap="none" lIns="0" tIns="0" rIns="0" bIns="0" rtlCol="0" anchor="t"/>
          <a:lstStyle/>
          <a:p>
            <a:pPr marL="0" indent="0" algn="l">
              <a:lnSpc>
                <a:spcPct val="127000"/>
              </a:lnSpc>
              <a:buNone/>
            </a:pPr>
            <a:r>
              <a:rPr lang="en-US" sz="1300" dirty="0">
                <a:solidFill>
                  <a:srgbClr val="4C4C4D"/>
                </a:solidFill>
                <a:latin typeface="Heebo" pitchFamily="34" charset="0"/>
                <a:ea typeface="Heebo" pitchFamily="34" charset="-122"/>
                <a:cs typeface="Heebo" pitchFamily="34" charset="-120"/>
              </a:rPr>
              <a:t>The Company achieved an overall profit margin of 36%.</a:t>
            </a:r>
            <a:endParaRPr lang="en-US" sz="1300" dirty="0"/>
          </a:p>
        </p:txBody>
      </p:sp>
      <p:sp>
        <p:nvSpPr>
          <p:cNvPr id="16" name="Text 14"/>
          <p:cNvSpPr/>
          <p:nvPr/>
        </p:nvSpPr>
        <p:spPr>
          <a:xfrm>
            <a:off x="6309659" y="4307880"/>
            <a:ext cx="5226911" cy="265708"/>
          </a:xfrm>
          <a:prstGeom prst="rect">
            <a:avLst/>
          </a:prstGeom>
          <a:noFill/>
          <a:ln/>
        </p:spPr>
        <p:txBody>
          <a:bodyPr wrap="none" lIns="0" tIns="0" rIns="0" bIns="0" rtlCol="0" anchor="t"/>
          <a:lstStyle/>
          <a:p>
            <a:pPr marL="0" indent="0" algn="l">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Insight</a:t>
            </a:r>
            <a:endParaRPr lang="en-US" sz="1650" dirty="0"/>
          </a:p>
        </p:txBody>
      </p:sp>
      <p:sp>
        <p:nvSpPr>
          <p:cNvPr id="17" name="Text 15"/>
          <p:cNvSpPr/>
          <p:nvPr/>
        </p:nvSpPr>
        <p:spPr>
          <a:xfrm>
            <a:off x="6309659" y="4726682"/>
            <a:ext cx="5226911" cy="775692"/>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4C4C4D"/>
                </a:solidFill>
                <a:latin typeface="Heebo" pitchFamily="34" charset="0"/>
                <a:ea typeface="Heebo" pitchFamily="34" charset="-122"/>
                <a:cs typeface="Heebo" pitchFamily="34" charset="-120"/>
              </a:rPr>
              <a:t>The business retains </a:t>
            </a:r>
            <a:r>
              <a:rPr lang="en-US" sz="1300" b="1" dirty="0">
                <a:solidFill>
                  <a:srgbClr val="4C4C4D"/>
                </a:solidFill>
                <a:latin typeface="Heebo Bold" pitchFamily="34" charset="0"/>
                <a:ea typeface="Heebo Bold" pitchFamily="34" charset="-122"/>
                <a:cs typeface="Heebo Bold" pitchFamily="34" charset="-120"/>
              </a:rPr>
              <a:t>$36</a:t>
            </a:r>
            <a:r>
              <a:rPr lang="en-US" sz="1300" dirty="0">
                <a:solidFill>
                  <a:srgbClr val="4C4C4D"/>
                </a:solidFill>
                <a:latin typeface="Heebo" pitchFamily="34" charset="0"/>
                <a:ea typeface="Heebo" pitchFamily="34" charset="-122"/>
                <a:cs typeface="Heebo" pitchFamily="34" charset="-120"/>
              </a:rPr>
              <a:t> in profit for every </a:t>
            </a:r>
            <a:r>
              <a:rPr lang="en-US" sz="1300" b="1" dirty="0">
                <a:solidFill>
                  <a:srgbClr val="4C4C4D"/>
                </a:solidFill>
                <a:latin typeface="Heebo Bold" pitchFamily="34" charset="0"/>
                <a:ea typeface="Heebo Bold" pitchFamily="34" charset="-122"/>
                <a:cs typeface="Heebo Bold" pitchFamily="34" charset="-120"/>
              </a:rPr>
              <a:t>$100</a:t>
            </a:r>
            <a:r>
              <a:rPr lang="en-US" sz="1300" dirty="0">
                <a:solidFill>
                  <a:srgbClr val="4C4C4D"/>
                </a:solidFill>
                <a:latin typeface="Heebo" pitchFamily="34" charset="0"/>
                <a:ea typeface="Heebo" pitchFamily="34" charset="-122"/>
                <a:cs typeface="Heebo" pitchFamily="34" charset="-120"/>
              </a:rPr>
              <a:t> in sales. Monitoring profit margin alongside revenue helps ensure that growth is achieved without sacrificing profitability.</a:t>
            </a:r>
            <a:endParaRPr lang="en-US" sz="1300" dirty="0"/>
          </a:p>
        </p:txBody>
      </p:sp>
    </p:spTree>
    <p:extLst>
      <p:ext uri="{BB962C8B-B14F-4D97-AF65-F5344CB8AC3E}">
        <p14:creationId xmlns:p14="http://schemas.microsoft.com/office/powerpoint/2010/main" val="37605546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795933"/>
            <a:ext cx="2799288" cy="272752"/>
          </a:xfrm>
          <a:prstGeom prst="roundRect">
            <a:avLst>
              <a:gd name="adj" fmla="val 7900"/>
            </a:avLst>
          </a:prstGeom>
          <a:noFill/>
          <a:ln w="6350">
            <a:solidFill>
              <a:srgbClr val="2150FE"/>
            </a:solidFill>
            <a:prstDash val="solid"/>
          </a:ln>
        </p:spPr>
      </p:sp>
      <p:sp>
        <p:nvSpPr>
          <p:cNvPr id="3" name="Text 1"/>
          <p:cNvSpPr/>
          <p:nvPr/>
        </p:nvSpPr>
        <p:spPr>
          <a:xfrm>
            <a:off x="769125" y="849709"/>
            <a:ext cx="3193573" cy="165199"/>
          </a:xfrm>
          <a:prstGeom prst="rect">
            <a:avLst/>
          </a:prstGeom>
          <a:noFill/>
          <a:ln/>
        </p:spPr>
        <p:txBody>
          <a:bodyPr wrap="none" lIns="0" tIns="0" rIns="0" bIns="0" rtlCol="0" anchor="t"/>
          <a:lstStyle/>
          <a:p>
            <a:pPr marL="0" indent="0" algn="l">
              <a:lnSpc>
                <a:spcPct val="96000"/>
              </a:lnSpc>
              <a:buNone/>
            </a:pPr>
            <a:r>
              <a:rPr lang="en-US" sz="1100" dirty="0">
                <a:solidFill>
                  <a:srgbClr val="2150FE"/>
                </a:solidFill>
                <a:latin typeface="Heebo" pitchFamily="34" charset="0"/>
                <a:ea typeface="Heebo" pitchFamily="34" charset="-122"/>
                <a:cs typeface="Heebo" pitchFamily="34" charset="-120"/>
              </a:rPr>
              <a:t>OVERALL SALES AND PROFIT ANALYSIS</a:t>
            </a:r>
            <a:endParaRPr lang="en-US" sz="1100" dirty="0"/>
          </a:p>
        </p:txBody>
      </p:sp>
      <p:sp>
        <p:nvSpPr>
          <p:cNvPr id="4" name="Text 2"/>
          <p:cNvSpPr/>
          <p:nvPr/>
        </p:nvSpPr>
        <p:spPr>
          <a:xfrm>
            <a:off x="661475" y="1136848"/>
            <a:ext cx="10868745" cy="561181"/>
          </a:xfrm>
          <a:prstGeom prst="rect">
            <a:avLst/>
          </a:prstGeom>
          <a:noFill/>
          <a:ln/>
        </p:spPr>
        <p:txBody>
          <a:bodyPr wrap="none" lIns="0" tIns="0" rIns="0" bIns="0" rtlCol="0" anchor="t"/>
          <a:lstStyle/>
          <a:p>
            <a:pPr marL="0" indent="0" algn="l">
              <a:lnSpc>
                <a:spcPct val="104000"/>
              </a:lnSpc>
              <a:buNone/>
            </a:pPr>
            <a:r>
              <a:rPr lang="en-US" sz="3500" dirty="0">
                <a:solidFill>
                  <a:srgbClr val="152D47"/>
                </a:solidFill>
                <a:latin typeface="Crimson Pro SemiBold" pitchFamily="34" charset="0"/>
                <a:ea typeface="Crimson Pro SemiBold" pitchFamily="34" charset="-122"/>
                <a:cs typeface="Crimson Pro SemiBold" pitchFamily="34" charset="-120"/>
              </a:rPr>
              <a:t>4. Total Orders &amp; 5. Total Customers</a:t>
            </a:r>
            <a:endParaRPr lang="en-US" sz="3500" dirty="0"/>
          </a:p>
        </p:txBody>
      </p:sp>
      <p:sp>
        <p:nvSpPr>
          <p:cNvPr id="5" name="Text 3"/>
          <p:cNvSpPr/>
          <p:nvPr/>
        </p:nvSpPr>
        <p:spPr>
          <a:xfrm>
            <a:off x="794623" y="2043609"/>
            <a:ext cx="5061319" cy="592634"/>
          </a:xfrm>
          <a:prstGeom prst="rect">
            <a:avLst/>
          </a:prstGeom>
          <a:noFill/>
          <a:ln/>
        </p:spPr>
        <p:txBody>
          <a:bodyPr wrap="none" lIns="0" tIns="0" rIns="0" bIns="0" rtlCol="0" anchor="t"/>
          <a:lstStyle/>
          <a:p>
            <a:pPr marL="0" indent="0" algn="ctr">
              <a:lnSpc>
                <a:spcPct val="83000"/>
              </a:lnSpc>
              <a:buNone/>
            </a:pPr>
            <a:r>
              <a:rPr lang="en-US" sz="4650" dirty="0">
                <a:solidFill>
                  <a:srgbClr val="4C4C4D"/>
                </a:solidFill>
                <a:latin typeface="Crimson Pro SemiBold" pitchFamily="34" charset="0"/>
                <a:ea typeface="Crimson Pro SemiBold" pitchFamily="34" charset="-122"/>
                <a:cs typeface="Crimson Pro SemiBold" pitchFamily="34" charset="-120"/>
              </a:rPr>
              <a:t>77,744</a:t>
            </a:r>
            <a:endParaRPr lang="en-US" sz="4650" dirty="0"/>
          </a:p>
        </p:txBody>
      </p:sp>
      <p:sp>
        <p:nvSpPr>
          <p:cNvPr id="6" name="Text 4"/>
          <p:cNvSpPr/>
          <p:nvPr/>
        </p:nvSpPr>
        <p:spPr>
          <a:xfrm>
            <a:off x="661475" y="2853829"/>
            <a:ext cx="5327715" cy="280491"/>
          </a:xfrm>
          <a:prstGeom prst="rect">
            <a:avLst/>
          </a:prstGeom>
          <a:noFill/>
          <a:ln/>
        </p:spPr>
        <p:txBody>
          <a:bodyPr wrap="none" lIns="0" tIns="0" rIns="0" bIns="0" rtlCol="0" anchor="t"/>
          <a:lstStyle/>
          <a:p>
            <a:pPr marL="0" indent="0" algn="ctr">
              <a:lnSpc>
                <a:spcPct val="104000"/>
              </a:lnSpc>
              <a:buNone/>
            </a:pPr>
            <a:r>
              <a:rPr lang="en-US" sz="1750" dirty="0">
                <a:solidFill>
                  <a:srgbClr val="4C4C4D"/>
                </a:solidFill>
                <a:latin typeface="Crimson Pro SemiBold" pitchFamily="34" charset="0"/>
                <a:ea typeface="Crimson Pro SemiBold" pitchFamily="34" charset="-122"/>
                <a:cs typeface="Crimson Pro SemiBold" pitchFamily="34" charset="-120"/>
              </a:rPr>
              <a:t>Total Orders</a:t>
            </a:r>
            <a:endParaRPr lang="en-US" sz="1750" dirty="0"/>
          </a:p>
        </p:txBody>
      </p:sp>
      <p:sp>
        <p:nvSpPr>
          <p:cNvPr id="7" name="Text 5"/>
          <p:cNvSpPr/>
          <p:nvPr/>
        </p:nvSpPr>
        <p:spPr>
          <a:xfrm>
            <a:off x="6335554" y="2043609"/>
            <a:ext cx="5061419" cy="592634"/>
          </a:xfrm>
          <a:prstGeom prst="rect">
            <a:avLst/>
          </a:prstGeom>
          <a:noFill/>
          <a:ln/>
        </p:spPr>
        <p:txBody>
          <a:bodyPr wrap="none" lIns="0" tIns="0" rIns="0" bIns="0" rtlCol="0" anchor="t"/>
          <a:lstStyle/>
          <a:p>
            <a:pPr marL="0" indent="0" algn="ctr">
              <a:lnSpc>
                <a:spcPct val="83000"/>
              </a:lnSpc>
              <a:buNone/>
            </a:pPr>
            <a:r>
              <a:rPr lang="en-US" sz="4650" dirty="0">
                <a:solidFill>
                  <a:srgbClr val="4C4C4D"/>
                </a:solidFill>
                <a:latin typeface="Crimson Pro SemiBold" pitchFamily="34" charset="0"/>
                <a:ea typeface="Crimson Pro SemiBold" pitchFamily="34" charset="-122"/>
                <a:cs typeface="Crimson Pro SemiBold" pitchFamily="34" charset="-120"/>
              </a:rPr>
              <a:t>13,898</a:t>
            </a:r>
            <a:endParaRPr lang="en-US" sz="4650" dirty="0"/>
          </a:p>
        </p:txBody>
      </p:sp>
      <p:sp>
        <p:nvSpPr>
          <p:cNvPr id="8" name="Text 6"/>
          <p:cNvSpPr/>
          <p:nvPr/>
        </p:nvSpPr>
        <p:spPr>
          <a:xfrm>
            <a:off x="6202406" y="2853829"/>
            <a:ext cx="5327814" cy="280491"/>
          </a:xfrm>
          <a:prstGeom prst="rect">
            <a:avLst/>
          </a:prstGeom>
          <a:noFill/>
          <a:ln/>
        </p:spPr>
        <p:txBody>
          <a:bodyPr wrap="none" lIns="0" tIns="0" rIns="0" bIns="0" rtlCol="0" anchor="t"/>
          <a:lstStyle/>
          <a:p>
            <a:pPr marL="0" indent="0" algn="ctr">
              <a:lnSpc>
                <a:spcPct val="104000"/>
              </a:lnSpc>
              <a:buNone/>
            </a:pPr>
            <a:r>
              <a:rPr lang="en-US" sz="1750" dirty="0">
                <a:solidFill>
                  <a:srgbClr val="4C4C4D"/>
                </a:solidFill>
                <a:latin typeface="Crimson Pro SemiBold" pitchFamily="34" charset="0"/>
                <a:ea typeface="Crimson Pro SemiBold" pitchFamily="34" charset="-122"/>
                <a:cs typeface="Crimson Pro SemiBold" pitchFamily="34" charset="-120"/>
              </a:rPr>
              <a:t>Unique Customers</a:t>
            </a:r>
            <a:endParaRPr lang="en-US" sz="1750" dirty="0"/>
          </a:p>
        </p:txBody>
      </p:sp>
      <p:sp>
        <p:nvSpPr>
          <p:cNvPr id="9" name="Shape 7"/>
          <p:cNvSpPr/>
          <p:nvPr/>
        </p:nvSpPr>
        <p:spPr>
          <a:xfrm>
            <a:off x="532097" y="3326209"/>
            <a:ext cx="5474059" cy="2735759"/>
          </a:xfrm>
          <a:prstGeom prst="roundRect">
            <a:avLst>
              <a:gd name="adj" fmla="val 985"/>
            </a:avLst>
          </a:prstGeom>
          <a:solidFill>
            <a:srgbClr val="2150FE"/>
          </a:solidFill>
          <a:ln/>
        </p:spPr>
      </p:sp>
      <p:sp>
        <p:nvSpPr>
          <p:cNvPr id="10" name="Text 8"/>
          <p:cNvSpPr/>
          <p:nvPr/>
        </p:nvSpPr>
        <p:spPr>
          <a:xfrm>
            <a:off x="711579" y="3496766"/>
            <a:ext cx="5115095" cy="280491"/>
          </a:xfrm>
          <a:prstGeom prst="rect">
            <a:avLst/>
          </a:prstGeom>
          <a:noFill/>
          <a:ln/>
        </p:spPr>
        <p:txBody>
          <a:bodyPr wrap="none" lIns="0" tIns="0" rIns="0" bIns="0" rtlCol="0" anchor="t"/>
          <a:lstStyle/>
          <a:p>
            <a:pPr marL="0" indent="0" algn="l">
              <a:lnSpc>
                <a:spcPct val="104000"/>
              </a:lnSpc>
              <a:buNone/>
            </a:pPr>
            <a:r>
              <a:rPr lang="en-US" sz="1750" dirty="0">
                <a:solidFill>
                  <a:srgbClr val="FFFFFF"/>
                </a:solidFill>
                <a:latin typeface="Crimson Pro SemiBold" pitchFamily="34" charset="0"/>
                <a:ea typeface="Crimson Pro SemiBold" pitchFamily="34" charset="-122"/>
                <a:cs typeface="Crimson Pro SemiBold" pitchFamily="34" charset="-120"/>
              </a:rPr>
              <a:t>4. Total Orders — Insight</a:t>
            </a:r>
            <a:endParaRPr lang="en-US" sz="1750" dirty="0"/>
          </a:p>
        </p:txBody>
      </p:sp>
      <p:sp>
        <p:nvSpPr>
          <p:cNvPr id="11" name="Text 9"/>
          <p:cNvSpPr/>
          <p:nvPr/>
        </p:nvSpPr>
        <p:spPr>
          <a:xfrm>
            <a:off x="711579" y="3947815"/>
            <a:ext cx="5115095" cy="16805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FFFFFF"/>
                </a:solidFill>
                <a:latin typeface="Heebo" pitchFamily="34" charset="0"/>
                <a:ea typeface="Heebo" pitchFamily="34" charset="-122"/>
                <a:cs typeface="Heebo" pitchFamily="34" charset="-120"/>
              </a:rPr>
              <a:t>A total of </a:t>
            </a:r>
            <a:r>
              <a:rPr lang="en-US" sz="1400" b="1" dirty="0">
                <a:solidFill>
                  <a:srgbClr val="FFFFFF"/>
                </a:solidFill>
                <a:latin typeface="Heebo Bold" pitchFamily="34" charset="0"/>
                <a:ea typeface="Heebo Bold" pitchFamily="34" charset="-122"/>
                <a:cs typeface="Heebo Bold" pitchFamily="34" charset="-120"/>
              </a:rPr>
              <a:t>77,744 orders</a:t>
            </a:r>
            <a:r>
              <a:rPr lang="en-US" sz="1400" dirty="0">
                <a:solidFill>
                  <a:srgbClr val="FFFFFF"/>
                </a:solidFill>
                <a:latin typeface="Heebo" pitchFamily="34" charset="0"/>
                <a:ea typeface="Heebo" pitchFamily="34" charset="-122"/>
                <a:cs typeface="Heebo" pitchFamily="34" charset="-120"/>
              </a:rPr>
              <a:t> were placed during the analysis period, indicating strong customer purchasing activity and consistent demand for the company's products. While a high order volume reflects healthy sales activity, it should be evaluated alongside revenue and profitability to ensure that increasing order volume is contributing to sustainable business growth.</a:t>
            </a:r>
            <a:endParaRPr lang="en-US" sz="1400" dirty="0"/>
          </a:p>
        </p:txBody>
      </p:sp>
      <p:sp>
        <p:nvSpPr>
          <p:cNvPr id="12" name="Text 10"/>
          <p:cNvSpPr/>
          <p:nvPr/>
        </p:nvSpPr>
        <p:spPr>
          <a:xfrm>
            <a:off x="6321267" y="3496766"/>
            <a:ext cx="5215303" cy="280491"/>
          </a:xfrm>
          <a:prstGeom prst="rect">
            <a:avLst/>
          </a:prstGeom>
          <a:noFill/>
          <a:ln/>
        </p:spPr>
        <p:txBody>
          <a:bodyPr wrap="none" lIns="0" tIns="0" rIns="0" bIns="0" rtlCol="0" anchor="t"/>
          <a:lstStyle/>
          <a:p>
            <a:pPr marL="0" indent="0" algn="l">
              <a:lnSpc>
                <a:spcPct val="104000"/>
              </a:lnSpc>
              <a:buNone/>
            </a:pPr>
            <a:r>
              <a:rPr lang="en-US" sz="1750" dirty="0">
                <a:solidFill>
                  <a:srgbClr val="152D47"/>
                </a:solidFill>
                <a:latin typeface="Crimson Pro SemiBold" pitchFamily="34" charset="0"/>
                <a:ea typeface="Crimson Pro SemiBold" pitchFamily="34" charset="-122"/>
                <a:cs typeface="Crimson Pro SemiBold" pitchFamily="34" charset="-120"/>
              </a:rPr>
              <a:t>5. Total Customers — Insight</a:t>
            </a:r>
            <a:endParaRPr lang="en-US" sz="1750" dirty="0"/>
          </a:p>
        </p:txBody>
      </p:sp>
      <p:sp>
        <p:nvSpPr>
          <p:cNvPr id="13" name="Text 11"/>
          <p:cNvSpPr/>
          <p:nvPr/>
        </p:nvSpPr>
        <p:spPr>
          <a:xfrm>
            <a:off x="6321267" y="3947815"/>
            <a:ext cx="5215303" cy="1960662"/>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4C4C4D"/>
                </a:solidFill>
                <a:latin typeface="Heebo" pitchFamily="34" charset="0"/>
                <a:ea typeface="Heebo" pitchFamily="34" charset="-122"/>
                <a:cs typeface="Heebo" pitchFamily="34" charset="-120"/>
              </a:rPr>
              <a:t>A total of </a:t>
            </a:r>
            <a:r>
              <a:rPr lang="en-US" sz="1400" b="1" dirty="0">
                <a:solidFill>
                  <a:srgbClr val="4C4C4D"/>
                </a:solidFill>
                <a:latin typeface="Heebo Bold" pitchFamily="34" charset="0"/>
                <a:ea typeface="Heebo Bold" pitchFamily="34" charset="-122"/>
                <a:cs typeface="Heebo Bold" pitchFamily="34" charset="-120"/>
              </a:rPr>
              <a:t>13,898 unique customers</a:t>
            </a:r>
            <a:r>
              <a:rPr lang="en-US" sz="1400" dirty="0">
                <a:solidFill>
                  <a:srgbClr val="4C4C4D"/>
                </a:solidFill>
                <a:latin typeface="Heebo" pitchFamily="34" charset="0"/>
                <a:ea typeface="Heebo" pitchFamily="34" charset="-122"/>
                <a:cs typeface="Heebo" pitchFamily="34" charset="-120"/>
              </a:rPr>
              <a:t> made purchases during the analysis period, indicating a broad and active customer base. A large customer base provides opportunities to increase revenue and support long-term business growth. The company should continue investing in customer acquisition and retention strategies while monitoring customer profitability to ensure that business growth remains sustainable.</a:t>
            </a:r>
            <a:endParaRPr lang="en-US" sz="1400" dirty="0"/>
          </a:p>
        </p:txBody>
      </p:sp>
    </p:spTree>
    <p:extLst>
      <p:ext uri="{BB962C8B-B14F-4D97-AF65-F5344CB8AC3E}">
        <p14:creationId xmlns:p14="http://schemas.microsoft.com/office/powerpoint/2010/main" val="38267262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171873"/>
            <a:ext cx="2505310" cy="243979"/>
          </a:xfrm>
          <a:prstGeom prst="roundRect">
            <a:avLst>
              <a:gd name="adj" fmla="val 7902"/>
            </a:avLst>
          </a:prstGeom>
          <a:noFill/>
          <a:ln w="6350">
            <a:solidFill>
              <a:srgbClr val="2150FE"/>
            </a:solidFill>
            <a:prstDash val="solid"/>
          </a:ln>
        </p:spPr>
      </p:sp>
      <p:sp>
        <p:nvSpPr>
          <p:cNvPr id="3" name="Text 1"/>
          <p:cNvSpPr/>
          <p:nvPr/>
        </p:nvSpPr>
        <p:spPr>
          <a:xfrm>
            <a:off x="757814" y="1219994"/>
            <a:ext cx="2922217" cy="147737"/>
          </a:xfrm>
          <a:prstGeom prst="rect">
            <a:avLst/>
          </a:prstGeom>
          <a:noFill/>
          <a:ln/>
        </p:spPr>
        <p:txBody>
          <a:bodyPr wrap="none" lIns="0" tIns="0" rIns="0" bIns="0" rtlCol="0" anchor="t"/>
          <a:lstStyle/>
          <a:p>
            <a:pPr marL="0" indent="0" algn="l">
              <a:lnSpc>
                <a:spcPct val="96000"/>
              </a:lnSpc>
              <a:buNone/>
            </a:pPr>
            <a:r>
              <a:rPr lang="en-US" sz="1000" dirty="0">
                <a:solidFill>
                  <a:srgbClr val="2150FE"/>
                </a:solidFill>
                <a:latin typeface="Heebo" pitchFamily="34" charset="0"/>
                <a:ea typeface="Heebo" pitchFamily="34" charset="-122"/>
                <a:cs typeface="Heebo" pitchFamily="34" charset="-120"/>
              </a:rPr>
              <a:t>OVERALL SALES AND PROFIT ANALYSIS</a:t>
            </a:r>
            <a:endParaRPr lang="en-US" sz="1000" dirty="0"/>
          </a:p>
        </p:txBody>
      </p:sp>
      <p:sp>
        <p:nvSpPr>
          <p:cNvPr id="4" name="Text 2"/>
          <p:cNvSpPr/>
          <p:nvPr/>
        </p:nvSpPr>
        <p:spPr>
          <a:xfrm>
            <a:off x="661475" y="1470422"/>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152D47"/>
                </a:solidFill>
                <a:latin typeface="Crimson Pro SemiBold" pitchFamily="34" charset="0"/>
                <a:ea typeface="Crimson Pro SemiBold" pitchFamily="34" charset="-122"/>
                <a:cs typeface="Crimson Pro SemiBold" pitchFamily="34" charset="-120"/>
              </a:rPr>
              <a:t>6. Average Order Value &amp; 7. Average Profit per Order</a:t>
            </a:r>
            <a:endParaRPr lang="en-US" sz="3150" dirty="0"/>
          </a:p>
        </p:txBody>
      </p:sp>
      <p:sp>
        <p:nvSpPr>
          <p:cNvPr id="5" name="Text 3"/>
          <p:cNvSpPr/>
          <p:nvPr/>
        </p:nvSpPr>
        <p:spPr>
          <a:xfrm>
            <a:off x="1062606" y="2257524"/>
            <a:ext cx="4546685" cy="530225"/>
          </a:xfrm>
          <a:prstGeom prst="rect">
            <a:avLst/>
          </a:prstGeom>
          <a:noFill/>
          <a:ln/>
        </p:spPr>
        <p:txBody>
          <a:bodyPr wrap="none" lIns="0" tIns="0" rIns="0" bIns="0" rtlCol="0" anchor="t"/>
          <a:lstStyle/>
          <a:p>
            <a:pPr marL="0" indent="0" algn="ctr">
              <a:lnSpc>
                <a:spcPct val="83000"/>
              </a:lnSpc>
              <a:buNone/>
            </a:pPr>
            <a:r>
              <a:rPr lang="en-US" sz="4150" dirty="0">
                <a:solidFill>
                  <a:srgbClr val="4C4C4D"/>
                </a:solidFill>
                <a:latin typeface="Crimson Pro SemiBold" pitchFamily="34" charset="0"/>
                <a:ea typeface="Crimson Pro SemiBold" pitchFamily="34" charset="-122"/>
                <a:cs typeface="Crimson Pro SemiBold" pitchFamily="34" charset="-120"/>
              </a:rPr>
              <a:t>$417</a:t>
            </a:r>
            <a:endParaRPr lang="en-US" sz="4150" dirty="0"/>
          </a:p>
        </p:txBody>
      </p:sp>
      <p:sp>
        <p:nvSpPr>
          <p:cNvPr id="6" name="Text 4"/>
          <p:cNvSpPr/>
          <p:nvPr/>
        </p:nvSpPr>
        <p:spPr>
          <a:xfrm>
            <a:off x="661475" y="2970411"/>
            <a:ext cx="5349047" cy="251023"/>
          </a:xfrm>
          <a:prstGeom prst="rect">
            <a:avLst/>
          </a:prstGeom>
          <a:noFill/>
          <a:ln/>
        </p:spPr>
        <p:txBody>
          <a:bodyPr wrap="none" lIns="0" tIns="0" rIns="0" bIns="0" rtlCol="0" anchor="t"/>
          <a:lstStyle/>
          <a:p>
            <a:pPr marL="0" indent="0" algn="ctr">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Average Order Value</a:t>
            </a:r>
            <a:endParaRPr lang="en-US" sz="1550" dirty="0"/>
          </a:p>
        </p:txBody>
      </p:sp>
      <p:sp>
        <p:nvSpPr>
          <p:cNvPr id="7" name="Text 5"/>
          <p:cNvSpPr/>
          <p:nvPr/>
        </p:nvSpPr>
        <p:spPr>
          <a:xfrm>
            <a:off x="6582305" y="2257524"/>
            <a:ext cx="4546685" cy="530225"/>
          </a:xfrm>
          <a:prstGeom prst="rect">
            <a:avLst/>
          </a:prstGeom>
          <a:noFill/>
          <a:ln/>
        </p:spPr>
        <p:txBody>
          <a:bodyPr wrap="none" lIns="0" tIns="0" rIns="0" bIns="0" rtlCol="0" anchor="t"/>
          <a:lstStyle/>
          <a:p>
            <a:pPr marL="0" indent="0" algn="ctr">
              <a:lnSpc>
                <a:spcPct val="83000"/>
              </a:lnSpc>
              <a:buNone/>
            </a:pPr>
            <a:r>
              <a:rPr lang="en-US" sz="4150" dirty="0">
                <a:solidFill>
                  <a:srgbClr val="4C4C4D"/>
                </a:solidFill>
                <a:latin typeface="Crimson Pro SemiBold" pitchFamily="34" charset="0"/>
                <a:ea typeface="Crimson Pro SemiBold" pitchFamily="34" charset="-122"/>
                <a:cs typeface="Crimson Pro SemiBold" pitchFamily="34" charset="-120"/>
              </a:rPr>
              <a:t>$153</a:t>
            </a:r>
            <a:endParaRPr lang="en-US" sz="4150" dirty="0"/>
          </a:p>
        </p:txBody>
      </p:sp>
      <p:sp>
        <p:nvSpPr>
          <p:cNvPr id="8" name="Text 6"/>
          <p:cNvSpPr/>
          <p:nvPr/>
        </p:nvSpPr>
        <p:spPr>
          <a:xfrm>
            <a:off x="6181173" y="2970411"/>
            <a:ext cx="5349047" cy="251023"/>
          </a:xfrm>
          <a:prstGeom prst="rect">
            <a:avLst/>
          </a:prstGeom>
          <a:noFill/>
          <a:ln/>
        </p:spPr>
        <p:txBody>
          <a:bodyPr wrap="none" lIns="0" tIns="0" rIns="0" bIns="0" rtlCol="0" anchor="t"/>
          <a:lstStyle/>
          <a:p>
            <a:pPr marL="0" indent="0" algn="ctr">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Average Profit per Order</a:t>
            </a:r>
            <a:endParaRPr lang="en-US" sz="1550" dirty="0"/>
          </a:p>
        </p:txBody>
      </p:sp>
      <p:sp>
        <p:nvSpPr>
          <p:cNvPr id="9" name="Shape 7"/>
          <p:cNvSpPr/>
          <p:nvPr/>
        </p:nvSpPr>
        <p:spPr>
          <a:xfrm>
            <a:off x="545789" y="3375025"/>
            <a:ext cx="5469793" cy="2311003"/>
          </a:xfrm>
          <a:prstGeom prst="roundRect">
            <a:avLst>
              <a:gd name="adj" fmla="val 1043"/>
            </a:avLst>
          </a:prstGeom>
          <a:solidFill>
            <a:srgbClr val="2150FE"/>
          </a:solidFill>
          <a:ln/>
        </p:spPr>
      </p:sp>
      <p:sp>
        <p:nvSpPr>
          <p:cNvPr id="10" name="Text 8"/>
          <p:cNvSpPr/>
          <p:nvPr/>
        </p:nvSpPr>
        <p:spPr>
          <a:xfrm>
            <a:off x="706420" y="3511550"/>
            <a:ext cx="5148531" cy="251023"/>
          </a:xfrm>
          <a:prstGeom prst="rect">
            <a:avLst/>
          </a:prstGeom>
          <a:noFill/>
          <a:ln/>
        </p:spPr>
        <p:txBody>
          <a:bodyPr wrap="none" lIns="0" tIns="0" rIns="0" bIns="0" rtlCol="0" anchor="t"/>
          <a:lstStyle/>
          <a:p>
            <a:pPr marL="0" indent="0" algn="l">
              <a:lnSpc>
                <a:spcPct val="104000"/>
              </a:lnSpc>
              <a:buNone/>
            </a:pPr>
            <a:r>
              <a:rPr lang="en-US" sz="1550" dirty="0">
                <a:solidFill>
                  <a:srgbClr val="FFFFFF"/>
                </a:solidFill>
                <a:latin typeface="Crimson Pro SemiBold" pitchFamily="34" charset="0"/>
                <a:ea typeface="Crimson Pro SemiBold" pitchFamily="34" charset="-122"/>
                <a:cs typeface="Crimson Pro SemiBold" pitchFamily="34" charset="-120"/>
              </a:rPr>
              <a:t>6. Average Order Value — Insight</a:t>
            </a:r>
            <a:endParaRPr lang="en-US" sz="1550" dirty="0"/>
          </a:p>
        </p:txBody>
      </p:sp>
      <p:sp>
        <p:nvSpPr>
          <p:cNvPr id="11" name="Text 9"/>
          <p:cNvSpPr/>
          <p:nvPr/>
        </p:nvSpPr>
        <p:spPr>
          <a:xfrm>
            <a:off x="706420" y="3899098"/>
            <a:ext cx="5148531" cy="1426369"/>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FFFFFF"/>
                </a:solidFill>
                <a:latin typeface="Heebo" pitchFamily="34" charset="0"/>
                <a:ea typeface="Heebo" pitchFamily="34" charset="-122"/>
                <a:cs typeface="Heebo" pitchFamily="34" charset="-120"/>
              </a:rPr>
              <a:t>The </a:t>
            </a:r>
            <a:r>
              <a:rPr lang="en-US" sz="1250" b="1" dirty="0">
                <a:solidFill>
                  <a:srgbClr val="FFFFFF"/>
                </a:solidFill>
                <a:latin typeface="Heebo Bold" pitchFamily="34" charset="0"/>
                <a:ea typeface="Heebo Bold" pitchFamily="34" charset="-122"/>
                <a:cs typeface="Heebo Bold" pitchFamily="34" charset="-120"/>
              </a:rPr>
              <a:t>Average Order Value (AOV)</a:t>
            </a:r>
            <a:r>
              <a:rPr lang="en-US" sz="1250" dirty="0">
                <a:solidFill>
                  <a:srgbClr val="FFFFFF"/>
                </a:solidFill>
                <a:latin typeface="Heebo" pitchFamily="34" charset="0"/>
                <a:ea typeface="Heebo" pitchFamily="34" charset="-122"/>
                <a:cs typeface="Heebo" pitchFamily="34" charset="-120"/>
              </a:rPr>
              <a:t> during the analysis period was </a:t>
            </a:r>
            <a:r>
              <a:rPr lang="en-US" sz="1250" b="1" dirty="0">
                <a:solidFill>
                  <a:srgbClr val="FFFFFF"/>
                </a:solidFill>
                <a:latin typeface="Heebo Bold" pitchFamily="34" charset="0"/>
                <a:ea typeface="Heebo Bold" pitchFamily="34" charset="-122"/>
                <a:cs typeface="Heebo Bold" pitchFamily="34" charset="-120"/>
              </a:rPr>
              <a:t>417</a:t>
            </a:r>
            <a:r>
              <a:rPr lang="en-US" sz="1250" dirty="0">
                <a:solidFill>
                  <a:srgbClr val="FFFFFF"/>
                </a:solidFill>
                <a:latin typeface="Heebo" pitchFamily="34" charset="0"/>
                <a:ea typeface="Heebo" pitchFamily="34" charset="-122"/>
                <a:cs typeface="Heebo" pitchFamily="34" charset="-120"/>
              </a:rPr>
              <a:t>, meaning that customers spent an average of </a:t>
            </a:r>
            <a:r>
              <a:rPr lang="en-US" sz="1250" b="1" dirty="0">
                <a:solidFill>
                  <a:srgbClr val="FFFFFF"/>
                </a:solidFill>
                <a:latin typeface="Heebo Bold" pitchFamily="34" charset="0"/>
                <a:ea typeface="Heebo Bold" pitchFamily="34" charset="-122"/>
                <a:cs typeface="Heebo Bold" pitchFamily="34" charset="-120"/>
              </a:rPr>
              <a:t>417</a:t>
            </a:r>
            <a:r>
              <a:rPr lang="en-US" sz="1250" dirty="0">
                <a:solidFill>
                  <a:srgbClr val="FFFFFF"/>
                </a:solidFill>
                <a:latin typeface="Heebo" pitchFamily="34" charset="0"/>
                <a:ea typeface="Heebo" pitchFamily="34" charset="-122"/>
                <a:cs typeface="Heebo" pitchFamily="34" charset="-120"/>
              </a:rPr>
              <a:t> on each order. This KPI reflects customer purchasing behavior and transaction value. Management should monitor AOV over time and consider strategies such as product bundling, cross-selling, and upselling to increase the average amount customers spend per order.</a:t>
            </a:r>
            <a:endParaRPr lang="en-US" sz="1250" dirty="0"/>
          </a:p>
        </p:txBody>
      </p:sp>
      <p:sp>
        <p:nvSpPr>
          <p:cNvPr id="12" name="Text 10"/>
          <p:cNvSpPr/>
          <p:nvPr/>
        </p:nvSpPr>
        <p:spPr>
          <a:xfrm>
            <a:off x="6298149" y="3511550"/>
            <a:ext cx="5238421" cy="251023"/>
          </a:xfrm>
          <a:prstGeom prst="rect">
            <a:avLst/>
          </a:prstGeom>
          <a:noFill/>
          <a:ln/>
        </p:spPr>
        <p:txBody>
          <a:bodyPr wrap="none" lIns="0" tIns="0" rIns="0" bIns="0" rtlCol="0" anchor="t"/>
          <a:lstStyle/>
          <a:p>
            <a:pPr marL="0" indent="0" algn="l">
              <a:lnSpc>
                <a:spcPct val="104000"/>
              </a:lnSpc>
              <a:buNone/>
            </a:pPr>
            <a:r>
              <a:rPr lang="en-US" sz="1550" dirty="0">
                <a:solidFill>
                  <a:srgbClr val="152D47"/>
                </a:solidFill>
                <a:latin typeface="Crimson Pro SemiBold" pitchFamily="34" charset="0"/>
                <a:ea typeface="Crimson Pro SemiBold" pitchFamily="34" charset="-122"/>
                <a:cs typeface="Crimson Pro SemiBold" pitchFamily="34" charset="-120"/>
              </a:rPr>
              <a:t>7. Average Profit per Order — Insight</a:t>
            </a:r>
            <a:endParaRPr lang="en-US" sz="1550" dirty="0"/>
          </a:p>
        </p:txBody>
      </p:sp>
      <p:sp>
        <p:nvSpPr>
          <p:cNvPr id="13" name="Text 11"/>
          <p:cNvSpPr/>
          <p:nvPr/>
        </p:nvSpPr>
        <p:spPr>
          <a:xfrm>
            <a:off x="6298149" y="3899098"/>
            <a:ext cx="5238421" cy="1664097"/>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The company earned an average profit of </a:t>
            </a:r>
            <a:r>
              <a:rPr lang="en-US" sz="1250" b="1" dirty="0">
                <a:solidFill>
                  <a:srgbClr val="4C4C4D"/>
                </a:solidFill>
                <a:latin typeface="Heebo Bold" pitchFamily="34" charset="0"/>
                <a:ea typeface="Heebo Bold" pitchFamily="34" charset="-122"/>
                <a:cs typeface="Heebo Bold" pitchFamily="34" charset="-120"/>
              </a:rPr>
              <a:t>153 per order</a:t>
            </a:r>
            <a:r>
              <a:rPr lang="en-US" sz="1250" dirty="0">
                <a:solidFill>
                  <a:srgbClr val="4C4C4D"/>
                </a:solidFill>
                <a:latin typeface="Heebo" pitchFamily="34" charset="0"/>
                <a:ea typeface="Heebo" pitchFamily="34" charset="-122"/>
                <a:cs typeface="Heebo" pitchFamily="34" charset="-120"/>
              </a:rPr>
              <a:t> during the analysis period, indicating that each customer transaction contributed positively to overall profitability. Monitoring this KPI, helps evaluate the profitability of individual orders. Management should focus on increasing the average profit per order by promoting higher-margin products, optimizing pricing strategies, and controlling excessive discounts and operational costs.</a:t>
            </a:r>
            <a:endParaRPr lang="en-US" sz="1250" dirty="0"/>
          </a:p>
        </p:txBody>
      </p:sp>
    </p:spTree>
    <p:extLst>
      <p:ext uri="{BB962C8B-B14F-4D97-AF65-F5344CB8AC3E}">
        <p14:creationId xmlns:p14="http://schemas.microsoft.com/office/powerpoint/2010/main" val="27536399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096169"/>
            <a:ext cx="2652249" cy="258465"/>
          </a:xfrm>
          <a:prstGeom prst="roundRect">
            <a:avLst>
              <a:gd name="adj" fmla="val 7898"/>
            </a:avLst>
          </a:prstGeom>
          <a:noFill/>
          <a:ln w="6350">
            <a:solidFill>
              <a:srgbClr val="2150FE"/>
            </a:solidFill>
            <a:prstDash val="solid"/>
          </a:ln>
        </p:spPr>
      </p:sp>
      <p:sp>
        <p:nvSpPr>
          <p:cNvPr id="3" name="Text 1"/>
          <p:cNvSpPr/>
          <p:nvPr/>
        </p:nvSpPr>
        <p:spPr>
          <a:xfrm>
            <a:off x="763469" y="1147167"/>
            <a:ext cx="3057845" cy="156468"/>
          </a:xfrm>
          <a:prstGeom prst="rect">
            <a:avLst/>
          </a:prstGeom>
          <a:noFill/>
          <a:ln/>
        </p:spPr>
        <p:txBody>
          <a:bodyPr wrap="none" lIns="0" tIns="0" rIns="0" bIns="0" rtlCol="0" anchor="t"/>
          <a:lstStyle/>
          <a:p>
            <a:pPr marL="0" indent="0" algn="l">
              <a:lnSpc>
                <a:spcPct val="96000"/>
              </a:lnSpc>
              <a:buNone/>
            </a:pPr>
            <a:r>
              <a:rPr lang="en-US" sz="1050" dirty="0">
                <a:solidFill>
                  <a:srgbClr val="2150FE"/>
                </a:solidFill>
                <a:latin typeface="Heebo" pitchFamily="34" charset="0"/>
                <a:ea typeface="Heebo" pitchFamily="34" charset="-122"/>
                <a:cs typeface="Heebo" pitchFamily="34" charset="-120"/>
              </a:rPr>
              <a:t>OVERALL SALES AND PROFIT ANALYSIS</a:t>
            </a:r>
            <a:endParaRPr lang="en-US" sz="1050" dirty="0"/>
          </a:p>
        </p:txBody>
      </p:sp>
      <p:sp>
        <p:nvSpPr>
          <p:cNvPr id="4" name="Text 2"/>
          <p:cNvSpPr/>
          <p:nvPr/>
        </p:nvSpPr>
        <p:spPr>
          <a:xfrm>
            <a:off x="661475" y="1415852"/>
            <a:ext cx="10868745" cy="531614"/>
          </a:xfrm>
          <a:prstGeom prst="rect">
            <a:avLst/>
          </a:prstGeom>
          <a:noFill/>
          <a:ln/>
        </p:spPr>
        <p:txBody>
          <a:bodyPr wrap="none" lIns="0" tIns="0" rIns="0" bIns="0" rtlCol="0" anchor="t"/>
          <a:lstStyle/>
          <a:p>
            <a:pPr marL="0" indent="0" algn="l">
              <a:lnSpc>
                <a:spcPct val="104000"/>
              </a:lnSpc>
              <a:buNone/>
            </a:pPr>
            <a:r>
              <a:rPr lang="en-US" sz="3300" dirty="0">
                <a:solidFill>
                  <a:srgbClr val="152D47"/>
                </a:solidFill>
                <a:latin typeface="Crimson Pro SemiBold" pitchFamily="34" charset="0"/>
                <a:ea typeface="Crimson Pro SemiBold" pitchFamily="34" charset="-122"/>
                <a:cs typeface="Crimson Pro SemiBold" pitchFamily="34" charset="-120"/>
              </a:rPr>
              <a:t>8. Revenue Growth Over Time &amp; 9. Profit Growth Over Time</a:t>
            </a:r>
            <a:endParaRPr lang="en-US" sz="3300" dirty="0"/>
          </a:p>
        </p:txBody>
      </p:sp>
      <p:sp>
        <p:nvSpPr>
          <p:cNvPr id="5" name="Shape 3"/>
          <p:cNvSpPr/>
          <p:nvPr/>
        </p:nvSpPr>
        <p:spPr>
          <a:xfrm>
            <a:off x="661475" y="2177058"/>
            <a:ext cx="10868745" cy="634305"/>
          </a:xfrm>
          <a:prstGeom prst="roundRect">
            <a:avLst>
              <a:gd name="adj" fmla="val 4023"/>
            </a:avLst>
          </a:prstGeom>
          <a:solidFill>
            <a:srgbClr val="CCD7FF"/>
          </a:solidFill>
          <a:ln/>
        </p:spPr>
      </p:sp>
      <p:pic>
        <p:nvPicPr>
          <p:cNvPr id="6" name="Image 0" descr="preencoded.png"/>
          <p:cNvPicPr>
            <a:picLocks noChangeAspect="1"/>
          </p:cNvPicPr>
          <p:nvPr/>
        </p:nvPicPr>
        <p:blipFill>
          <a:blip r:embed="rId3"/>
          <a:stretch>
            <a:fillRect/>
          </a:stretch>
        </p:blipFill>
        <p:spPr>
          <a:xfrm>
            <a:off x="831532" y="2412206"/>
            <a:ext cx="212620" cy="170061"/>
          </a:xfrm>
          <a:prstGeom prst="rect">
            <a:avLst/>
          </a:prstGeom>
        </p:spPr>
      </p:pic>
      <p:sp>
        <p:nvSpPr>
          <p:cNvPr id="7" name="Text 4"/>
          <p:cNvSpPr/>
          <p:nvPr/>
        </p:nvSpPr>
        <p:spPr>
          <a:xfrm>
            <a:off x="1214209" y="2372618"/>
            <a:ext cx="10755540" cy="258564"/>
          </a:xfrm>
          <a:prstGeom prst="rect">
            <a:avLst/>
          </a:prstGeom>
          <a:noFill/>
          <a:ln/>
        </p:spPr>
        <p:txBody>
          <a:bodyPr wrap="none" lIns="0" tIns="0" rIns="0" bIns="0" rtlCol="0" anchor="t"/>
          <a:lstStyle/>
          <a:p>
            <a:pPr marL="0" indent="0" algn="l">
              <a:lnSpc>
                <a:spcPct val="127000"/>
              </a:lnSpc>
              <a:buNone/>
            </a:pPr>
            <a:r>
              <a:rPr lang="en-US" sz="1300" dirty="0">
                <a:solidFill>
                  <a:srgbClr val="000000"/>
                </a:solidFill>
                <a:latin typeface="Heebo" pitchFamily="34" charset="0"/>
                <a:ea typeface="Heebo" pitchFamily="34" charset="-122"/>
                <a:cs typeface="Heebo" pitchFamily="34" charset="-120"/>
              </a:rPr>
              <a:t>[Revenue and profit trend charts to be inserted here from the actual analysis]</a:t>
            </a:r>
            <a:endParaRPr lang="en-US" sz="1300" dirty="0"/>
          </a:p>
        </p:txBody>
      </p:sp>
      <p:sp>
        <p:nvSpPr>
          <p:cNvPr id="8" name="Shape 5"/>
          <p:cNvSpPr/>
          <p:nvPr/>
        </p:nvSpPr>
        <p:spPr>
          <a:xfrm>
            <a:off x="539042" y="2983607"/>
            <a:ext cx="5471777" cy="2778125"/>
          </a:xfrm>
          <a:prstGeom prst="roundRect">
            <a:avLst>
              <a:gd name="adj" fmla="val 919"/>
            </a:avLst>
          </a:prstGeom>
          <a:solidFill>
            <a:srgbClr val="2150FE"/>
          </a:solidFill>
          <a:ln/>
        </p:spPr>
      </p:sp>
      <p:sp>
        <p:nvSpPr>
          <p:cNvPr id="9" name="Text 6"/>
          <p:cNvSpPr/>
          <p:nvPr/>
        </p:nvSpPr>
        <p:spPr>
          <a:xfrm>
            <a:off x="709099" y="3136702"/>
            <a:ext cx="5131664" cy="265708"/>
          </a:xfrm>
          <a:prstGeom prst="rect">
            <a:avLst/>
          </a:prstGeom>
          <a:noFill/>
          <a:ln/>
        </p:spPr>
        <p:txBody>
          <a:bodyPr wrap="none" lIns="0" tIns="0" rIns="0" bIns="0" rtlCol="0" anchor="t"/>
          <a:lstStyle/>
          <a:p>
            <a:pPr marL="0" indent="0" algn="l">
              <a:lnSpc>
                <a:spcPct val="104000"/>
              </a:lnSpc>
              <a:buNone/>
            </a:pPr>
            <a:r>
              <a:rPr lang="en-US" sz="1650" dirty="0">
                <a:solidFill>
                  <a:srgbClr val="FFFFFF"/>
                </a:solidFill>
                <a:latin typeface="Crimson Pro SemiBold" pitchFamily="34" charset="0"/>
                <a:ea typeface="Crimson Pro SemiBold" pitchFamily="34" charset="-122"/>
                <a:cs typeface="Crimson Pro SemiBold" pitchFamily="34" charset="-120"/>
              </a:rPr>
              <a:t>8. Revenue Growth Over Time — Insight</a:t>
            </a:r>
            <a:endParaRPr lang="en-US" sz="1650" dirty="0"/>
          </a:p>
        </p:txBody>
      </p:sp>
      <p:sp>
        <p:nvSpPr>
          <p:cNvPr id="10" name="Text 7"/>
          <p:cNvSpPr/>
          <p:nvPr/>
        </p:nvSpPr>
        <p:spPr>
          <a:xfrm>
            <a:off x="709099" y="3555504"/>
            <a:ext cx="5131664" cy="2068513"/>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FFFFFF"/>
                </a:solidFill>
                <a:latin typeface="Heebo" pitchFamily="34" charset="0"/>
                <a:ea typeface="Heebo" pitchFamily="34" charset="-122"/>
                <a:cs typeface="Heebo" pitchFamily="34" charset="-120"/>
              </a:rPr>
              <a:t>Revenue showed a consistent upward trend throughout the analysis period, indicating that the company is successfully growing its sales and expanding its business. While this reflects strong market performance, increasing revenue alone does not guarantee higher profitability. Management should continue supporting the strategies driving revenue growth while closely monitoring profit margins to ensure that future growth remains sustainable and profitable.</a:t>
            </a:r>
            <a:endParaRPr lang="en-US" sz="1300" dirty="0"/>
          </a:p>
        </p:txBody>
      </p:sp>
      <p:sp>
        <p:nvSpPr>
          <p:cNvPr id="11" name="Text 8"/>
          <p:cNvSpPr/>
          <p:nvPr/>
        </p:nvSpPr>
        <p:spPr>
          <a:xfrm>
            <a:off x="6309659" y="3136702"/>
            <a:ext cx="5226911" cy="265708"/>
          </a:xfrm>
          <a:prstGeom prst="rect">
            <a:avLst/>
          </a:prstGeom>
          <a:noFill/>
          <a:ln/>
        </p:spPr>
        <p:txBody>
          <a:bodyPr wrap="none" lIns="0" tIns="0" rIns="0" bIns="0" rtlCol="0" anchor="t"/>
          <a:lstStyle/>
          <a:p>
            <a:pPr marL="0" indent="0" algn="l">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9. Profit Growth Over Time — Insight</a:t>
            </a:r>
            <a:endParaRPr lang="en-US" sz="1650" dirty="0"/>
          </a:p>
        </p:txBody>
      </p:sp>
      <p:sp>
        <p:nvSpPr>
          <p:cNvPr id="12" name="Text 9"/>
          <p:cNvSpPr/>
          <p:nvPr/>
        </p:nvSpPr>
        <p:spPr>
          <a:xfrm>
            <a:off x="6309659" y="3555504"/>
            <a:ext cx="5226911" cy="1809948"/>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4C4C4D"/>
                </a:solidFill>
                <a:latin typeface="Heebo" pitchFamily="34" charset="0"/>
                <a:ea typeface="Heebo" pitchFamily="34" charset="-122"/>
                <a:cs typeface="Heebo" pitchFamily="34" charset="-120"/>
              </a:rPr>
              <a:t>Profit showed a consistent upward trend throughout the analysis period, indicating that the company is improving its overall profitability. This suggests that the business is becoming more effective at generating earnings from its operations. Management should continue supporting the strategies contributing to profit growth while regularly monitoring profit margins to ensure that profitability remains sustainable as the business continues to grow.</a:t>
            </a:r>
            <a:endParaRPr lang="en-US" sz="1300" dirty="0"/>
          </a:p>
        </p:txBody>
      </p:sp>
    </p:spTree>
    <p:extLst>
      <p:ext uri="{BB962C8B-B14F-4D97-AF65-F5344CB8AC3E}">
        <p14:creationId xmlns:p14="http://schemas.microsoft.com/office/powerpoint/2010/main" val="36632029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532434"/>
            <a:ext cx="2946525" cy="287139"/>
          </a:xfrm>
          <a:prstGeom prst="roundRect">
            <a:avLst>
              <a:gd name="adj" fmla="val 7899"/>
            </a:avLst>
          </a:prstGeom>
          <a:noFill/>
          <a:ln w="6350">
            <a:solidFill>
              <a:srgbClr val="2150FE"/>
            </a:solidFill>
            <a:prstDash val="solid"/>
          </a:ln>
        </p:spPr>
      </p:sp>
      <p:sp>
        <p:nvSpPr>
          <p:cNvPr id="3" name="Text 1"/>
          <p:cNvSpPr/>
          <p:nvPr/>
        </p:nvSpPr>
        <p:spPr>
          <a:xfrm>
            <a:off x="774879" y="1589088"/>
            <a:ext cx="3329301" cy="173831"/>
          </a:xfrm>
          <a:prstGeom prst="rect">
            <a:avLst/>
          </a:prstGeom>
          <a:noFill/>
          <a:ln/>
        </p:spPr>
        <p:txBody>
          <a:bodyPr wrap="none" lIns="0" tIns="0" rIns="0" bIns="0" rtlCol="0" anchor="t"/>
          <a:lstStyle/>
          <a:p>
            <a:pPr marL="0" indent="0" algn="l">
              <a:lnSpc>
                <a:spcPct val="96000"/>
              </a:lnSpc>
              <a:buNone/>
            </a:pPr>
            <a:r>
              <a:rPr lang="en-US" sz="1150" dirty="0">
                <a:solidFill>
                  <a:srgbClr val="2150FE"/>
                </a:solidFill>
                <a:latin typeface="Heebo" pitchFamily="34" charset="0"/>
                <a:ea typeface="Heebo" pitchFamily="34" charset="-122"/>
                <a:cs typeface="Heebo" pitchFamily="34" charset="-120"/>
              </a:rPr>
              <a:t>OVERALL SALES AND PROFIT ANALYSIS</a:t>
            </a:r>
            <a:endParaRPr lang="en-US" sz="1150" dirty="0"/>
          </a:p>
        </p:txBody>
      </p:sp>
      <p:sp>
        <p:nvSpPr>
          <p:cNvPr id="4" name="Text 2"/>
          <p:cNvSpPr/>
          <p:nvPr/>
        </p:nvSpPr>
        <p:spPr>
          <a:xfrm>
            <a:off x="661475" y="1895177"/>
            <a:ext cx="10868745"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10. Are There Periods Where Revenue Increased but Profit Decreased?</a:t>
            </a:r>
            <a:endParaRPr lang="en-US" sz="3700" dirty="0"/>
          </a:p>
        </p:txBody>
      </p:sp>
      <p:sp>
        <p:nvSpPr>
          <p:cNvPr id="5" name="Shape 3"/>
          <p:cNvSpPr/>
          <p:nvPr/>
        </p:nvSpPr>
        <p:spPr>
          <a:xfrm>
            <a:off x="661475" y="3359944"/>
            <a:ext cx="10868745" cy="1965623"/>
          </a:xfrm>
          <a:prstGeom prst="roundRect">
            <a:avLst>
              <a:gd name="adj" fmla="val 1442"/>
            </a:avLst>
          </a:prstGeom>
          <a:solidFill>
            <a:srgbClr val="B6FCB8"/>
          </a:solidFill>
          <a:ln/>
        </p:spPr>
      </p:sp>
      <p:pic>
        <p:nvPicPr>
          <p:cNvPr id="6" name="Image 0" descr="preencoded.png"/>
          <p:cNvPicPr>
            <a:picLocks noChangeAspect="1"/>
          </p:cNvPicPr>
          <p:nvPr/>
        </p:nvPicPr>
        <p:blipFill>
          <a:blip r:embed="rId3"/>
          <a:stretch>
            <a:fillRect/>
          </a:stretch>
        </p:blipFill>
        <p:spPr>
          <a:xfrm>
            <a:off x="850482" y="3627636"/>
            <a:ext cx="236234" cy="189012"/>
          </a:xfrm>
          <a:prstGeom prst="rect">
            <a:avLst/>
          </a:prstGeom>
        </p:spPr>
      </p:pic>
      <p:sp>
        <p:nvSpPr>
          <p:cNvPr id="7" name="Text 4"/>
          <p:cNvSpPr/>
          <p:nvPr/>
        </p:nvSpPr>
        <p:spPr>
          <a:xfrm>
            <a:off x="1275723" y="3596184"/>
            <a:ext cx="10065490"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Heebo" pitchFamily="34" charset="0"/>
                <a:ea typeface="Heebo" pitchFamily="34" charset="-122"/>
                <a:cs typeface="Heebo" pitchFamily="34" charset="-120"/>
              </a:rPr>
              <a:t>During the analysis period, there were no periods in which revenue increased while profit declined. This indicates that revenue growth was accompanied by profit growth, suggesting that the company maintained profitability as sales increased. This is a positive sign of sustainable financial performance. Management should continue supporting the strategies contributing to both revenue and profit growth while regularly monitoring profit margins to ensure long-term profitability.</a:t>
            </a:r>
            <a:endParaRPr lang="en-US" sz="1450" dirty="0"/>
          </a:p>
        </p:txBody>
      </p:sp>
    </p:spTree>
    <p:extLst>
      <p:ext uri="{BB962C8B-B14F-4D97-AF65-F5344CB8AC3E}">
        <p14:creationId xmlns:p14="http://schemas.microsoft.com/office/powerpoint/2010/main" val="23663148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660029"/>
            <a:ext cx="3819529" cy="287139"/>
          </a:xfrm>
          <a:prstGeom prst="roundRect">
            <a:avLst>
              <a:gd name="adj" fmla="val 7899"/>
            </a:avLst>
          </a:prstGeom>
          <a:solidFill>
            <a:srgbClr val="CCD7FF"/>
          </a:solidFill>
          <a:ln/>
        </p:spPr>
      </p:sp>
      <p:sp>
        <p:nvSpPr>
          <p:cNvPr id="3" name="Text 1"/>
          <p:cNvSpPr/>
          <p:nvPr/>
        </p:nvSpPr>
        <p:spPr>
          <a:xfrm>
            <a:off x="774879" y="1716683"/>
            <a:ext cx="4202305"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PRODUCT AND CATEGORY PROFITABILITY ANALYSIS</a:t>
            </a:r>
            <a:endParaRPr lang="en-US" sz="1150" dirty="0"/>
          </a:p>
        </p:txBody>
      </p:sp>
      <p:sp>
        <p:nvSpPr>
          <p:cNvPr id="4" name="Text 2"/>
          <p:cNvSpPr/>
          <p:nvPr/>
        </p:nvSpPr>
        <p:spPr>
          <a:xfrm>
            <a:off x="661475" y="2022773"/>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Q1. Which Category Generates the Highest Revenue?</a:t>
            </a:r>
            <a:endParaRPr lang="en-US" sz="3700" dirty="0"/>
          </a:p>
        </p:txBody>
      </p:sp>
      <p:sp>
        <p:nvSpPr>
          <p:cNvPr id="5" name="Shape 3"/>
          <p:cNvSpPr/>
          <p:nvPr/>
        </p:nvSpPr>
        <p:spPr>
          <a:xfrm>
            <a:off x="661475" y="2896890"/>
            <a:ext cx="10868745" cy="755948"/>
          </a:xfrm>
          <a:prstGeom prst="roundRect">
            <a:avLst>
              <a:gd name="adj" fmla="val 3751"/>
            </a:avLst>
          </a:prstGeom>
          <a:solidFill>
            <a:srgbClr val="CCD7FF"/>
          </a:solidFill>
          <a:ln/>
        </p:spPr>
      </p:sp>
      <p:pic>
        <p:nvPicPr>
          <p:cNvPr id="6" name="Image 0" descr="preencoded.png"/>
          <p:cNvPicPr>
            <a:picLocks noChangeAspect="1"/>
          </p:cNvPicPr>
          <p:nvPr/>
        </p:nvPicPr>
        <p:blipFill>
          <a:blip r:embed="rId3"/>
          <a:stretch>
            <a:fillRect/>
          </a:stretch>
        </p:blipFill>
        <p:spPr>
          <a:xfrm>
            <a:off x="850482" y="3164582"/>
            <a:ext cx="236234" cy="189012"/>
          </a:xfrm>
          <a:prstGeom prst="rect">
            <a:avLst/>
          </a:prstGeom>
        </p:spPr>
      </p:pic>
      <p:sp>
        <p:nvSpPr>
          <p:cNvPr id="7" name="Text 4"/>
          <p:cNvSpPr/>
          <p:nvPr/>
        </p:nvSpPr>
        <p:spPr>
          <a:xfrm>
            <a:off x="1275723" y="3133130"/>
            <a:ext cx="10675075" cy="302419"/>
          </a:xfrm>
          <a:prstGeom prst="rect">
            <a:avLst/>
          </a:prstGeom>
          <a:noFill/>
          <a:ln/>
        </p:spPr>
        <p:txBody>
          <a:bodyPr wrap="none" lIns="0" tIns="0" rIns="0" bIns="0" rtlCol="0" anchor="t"/>
          <a:lstStyle/>
          <a:p>
            <a:pPr marL="0" indent="0" algn="l">
              <a:lnSpc>
                <a:spcPct val="133000"/>
              </a:lnSpc>
              <a:buNone/>
            </a:pPr>
            <a:r>
              <a:rPr lang="en-US" sz="1450" dirty="0">
                <a:solidFill>
                  <a:srgbClr val="000000"/>
                </a:solidFill>
                <a:latin typeface="Heebo" pitchFamily="34" charset="0"/>
                <a:ea typeface="Heebo" pitchFamily="34" charset="-122"/>
                <a:cs typeface="Heebo" pitchFamily="34" charset="-120"/>
              </a:rPr>
              <a:t>[Category revenue breakdown chart to be inserted here from the actual analysis]</a:t>
            </a:r>
            <a:endParaRPr lang="en-US" sz="1450" dirty="0"/>
          </a:p>
        </p:txBody>
      </p:sp>
      <p:sp>
        <p:nvSpPr>
          <p:cNvPr id="8" name="Text 5"/>
          <p:cNvSpPr/>
          <p:nvPr/>
        </p:nvSpPr>
        <p:spPr>
          <a:xfrm>
            <a:off x="944936" y="4078089"/>
            <a:ext cx="10585284"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The </a:t>
            </a:r>
            <a:r>
              <a:rPr lang="en-US" sz="1450" b="1" dirty="0">
                <a:solidFill>
                  <a:srgbClr val="4C4C4D"/>
                </a:solidFill>
                <a:latin typeface="Heebo Bold" pitchFamily="34" charset="0"/>
                <a:ea typeface="Heebo Bold" pitchFamily="34" charset="-122"/>
                <a:cs typeface="Heebo Bold" pitchFamily="34" charset="-120"/>
              </a:rPr>
              <a:t>Electronics</a:t>
            </a:r>
            <a:r>
              <a:rPr lang="en-US" sz="1450" dirty="0">
                <a:solidFill>
                  <a:srgbClr val="4C4C4D"/>
                </a:solidFill>
                <a:latin typeface="Heebo" pitchFamily="34" charset="0"/>
                <a:ea typeface="Heebo" pitchFamily="34" charset="-122"/>
                <a:cs typeface="Heebo" pitchFamily="34" charset="-120"/>
              </a:rPr>
              <a:t> category generated the highest revenue during the analysis period, indicating strong customer demand and making it the company's largest contributor to sales. Management should continue investing in and promoting Electronics products while also monitoring their profit margins to ensure that high sales translate into sustainable profitability.</a:t>
            </a:r>
            <a:endParaRPr lang="en-US" sz="1450" dirty="0"/>
          </a:p>
        </p:txBody>
      </p:sp>
      <p:sp>
        <p:nvSpPr>
          <p:cNvPr id="9" name="Shape 6"/>
          <p:cNvSpPr/>
          <p:nvPr/>
        </p:nvSpPr>
        <p:spPr>
          <a:xfrm>
            <a:off x="661475" y="3865463"/>
            <a:ext cx="25399" cy="1332508"/>
          </a:xfrm>
          <a:prstGeom prst="roundRect">
            <a:avLst>
              <a:gd name="adj" fmla="val 60001"/>
            </a:avLst>
          </a:prstGeom>
          <a:solidFill>
            <a:srgbClr val="2150FE"/>
          </a:solidFill>
          <a:ln/>
        </p:spPr>
      </p:sp>
    </p:spTree>
    <p:extLst>
      <p:ext uri="{BB962C8B-B14F-4D97-AF65-F5344CB8AC3E}">
        <p14:creationId xmlns:p14="http://schemas.microsoft.com/office/powerpoint/2010/main" val="134638625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167606"/>
            <a:ext cx="3247547" cy="243979"/>
          </a:xfrm>
          <a:prstGeom prst="roundRect">
            <a:avLst>
              <a:gd name="adj" fmla="val 7902"/>
            </a:avLst>
          </a:prstGeom>
          <a:solidFill>
            <a:srgbClr val="CCD7FF"/>
          </a:solidFill>
          <a:ln/>
        </p:spPr>
      </p:sp>
      <p:sp>
        <p:nvSpPr>
          <p:cNvPr id="3" name="Text 1"/>
          <p:cNvSpPr/>
          <p:nvPr/>
        </p:nvSpPr>
        <p:spPr>
          <a:xfrm>
            <a:off x="757814" y="1215727"/>
            <a:ext cx="3664454" cy="147737"/>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PRODUCT AND CATEGORY PROFITABILITY ANALYSIS</a:t>
            </a:r>
            <a:endParaRPr lang="en-US" sz="1000" dirty="0"/>
          </a:p>
        </p:txBody>
      </p:sp>
      <p:sp>
        <p:nvSpPr>
          <p:cNvPr id="4" name="Text 2"/>
          <p:cNvSpPr/>
          <p:nvPr/>
        </p:nvSpPr>
        <p:spPr>
          <a:xfrm>
            <a:off x="661475" y="1466155"/>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152D47"/>
                </a:solidFill>
                <a:latin typeface="Crimson Pro SemiBold" pitchFamily="34" charset="0"/>
                <a:ea typeface="Crimson Pro SemiBold" pitchFamily="34" charset="-122"/>
                <a:cs typeface="Crimson Pro SemiBold" pitchFamily="34" charset="-120"/>
              </a:rPr>
              <a:t>Q2. Highest Profit Category &amp; Q3. Profit Margin by Category</a:t>
            </a:r>
            <a:endParaRPr lang="en-US" sz="3150" dirty="0"/>
          </a:p>
        </p:txBody>
      </p:sp>
      <p:sp>
        <p:nvSpPr>
          <p:cNvPr id="5" name="Shape 3"/>
          <p:cNvSpPr/>
          <p:nvPr/>
        </p:nvSpPr>
        <p:spPr>
          <a:xfrm>
            <a:off x="661475" y="2172990"/>
            <a:ext cx="10868745" cy="577255"/>
          </a:xfrm>
          <a:prstGeom prst="roundRect">
            <a:avLst>
              <a:gd name="adj" fmla="val 4175"/>
            </a:avLst>
          </a:prstGeom>
          <a:solidFill>
            <a:srgbClr val="CCD7FF"/>
          </a:solidFill>
          <a:ln/>
        </p:spPr>
      </p:sp>
      <p:pic>
        <p:nvPicPr>
          <p:cNvPr id="6" name="Image 0" descr="preencoded.png"/>
          <p:cNvPicPr>
            <a:picLocks noChangeAspect="1"/>
          </p:cNvPicPr>
          <p:nvPr/>
        </p:nvPicPr>
        <p:blipFill>
          <a:blip r:embed="rId3"/>
          <a:stretch>
            <a:fillRect/>
          </a:stretch>
        </p:blipFill>
        <p:spPr>
          <a:xfrm>
            <a:off x="822106" y="2391866"/>
            <a:ext cx="200814" cy="160635"/>
          </a:xfrm>
          <a:prstGeom prst="rect">
            <a:avLst/>
          </a:prstGeom>
        </p:spPr>
      </p:pic>
      <p:sp>
        <p:nvSpPr>
          <p:cNvPr id="7" name="Text 4"/>
          <p:cNvSpPr/>
          <p:nvPr/>
        </p:nvSpPr>
        <p:spPr>
          <a:xfrm>
            <a:off x="1183551" y="2349599"/>
            <a:ext cx="10795623" cy="237728"/>
          </a:xfrm>
          <a:prstGeom prst="rect">
            <a:avLst/>
          </a:prstGeom>
          <a:noFill/>
          <a:ln/>
        </p:spPr>
        <p:txBody>
          <a:bodyPr wrap="none" lIns="0" tIns="0" rIns="0" bIns="0" rtlCol="0" anchor="t"/>
          <a:lstStyle/>
          <a:p>
            <a:pPr marL="0" indent="0" algn="l">
              <a:lnSpc>
                <a:spcPct val="123000"/>
              </a:lnSpc>
              <a:buNone/>
            </a:pPr>
            <a:r>
              <a:rPr lang="en-US" sz="1250" dirty="0">
                <a:solidFill>
                  <a:srgbClr val="000000"/>
                </a:solidFill>
                <a:latin typeface="Heebo" pitchFamily="34" charset="0"/>
                <a:ea typeface="Heebo" pitchFamily="34" charset="-122"/>
                <a:cs typeface="Heebo" pitchFamily="34" charset="-120"/>
              </a:rPr>
              <a:t>[Category profit and profit margin chart to be inserted here from the actual analysis]</a:t>
            </a:r>
            <a:endParaRPr lang="en-US" sz="1250" dirty="0"/>
          </a:p>
        </p:txBody>
      </p:sp>
      <p:sp>
        <p:nvSpPr>
          <p:cNvPr id="8" name="Shape 5"/>
          <p:cNvSpPr/>
          <p:nvPr/>
        </p:nvSpPr>
        <p:spPr>
          <a:xfrm>
            <a:off x="545789" y="2903835"/>
            <a:ext cx="5469793" cy="2786459"/>
          </a:xfrm>
          <a:prstGeom prst="roundRect">
            <a:avLst>
              <a:gd name="adj" fmla="val 865"/>
            </a:avLst>
          </a:prstGeom>
          <a:solidFill>
            <a:srgbClr val="2150FE"/>
          </a:solidFill>
          <a:ln/>
        </p:spPr>
      </p:sp>
      <p:sp>
        <p:nvSpPr>
          <p:cNvPr id="9" name="Text 6"/>
          <p:cNvSpPr/>
          <p:nvPr/>
        </p:nvSpPr>
        <p:spPr>
          <a:xfrm>
            <a:off x="706420" y="3040360"/>
            <a:ext cx="5148531" cy="251023"/>
          </a:xfrm>
          <a:prstGeom prst="rect">
            <a:avLst/>
          </a:prstGeom>
          <a:noFill/>
          <a:ln/>
        </p:spPr>
        <p:txBody>
          <a:bodyPr wrap="none" lIns="0" tIns="0" rIns="0" bIns="0" rtlCol="0" anchor="t"/>
          <a:lstStyle/>
          <a:p>
            <a:pPr marL="0" indent="0" algn="l">
              <a:lnSpc>
                <a:spcPct val="104000"/>
              </a:lnSpc>
              <a:buNone/>
            </a:pPr>
            <a:r>
              <a:rPr lang="en-US" sz="1550" dirty="0">
                <a:solidFill>
                  <a:srgbClr val="FFFFFF"/>
                </a:solidFill>
                <a:latin typeface="Crimson Pro SemiBold" pitchFamily="34" charset="0"/>
                <a:ea typeface="Crimson Pro SemiBold" pitchFamily="34" charset="-122"/>
                <a:cs typeface="Crimson Pro SemiBold" pitchFamily="34" charset="-120"/>
              </a:rPr>
              <a:t>Q2. Which Category Generates the Highest Profit?</a:t>
            </a:r>
            <a:endParaRPr lang="en-US" sz="1550" dirty="0"/>
          </a:p>
        </p:txBody>
      </p:sp>
      <p:sp>
        <p:nvSpPr>
          <p:cNvPr id="10" name="Text 7"/>
          <p:cNvSpPr/>
          <p:nvPr/>
        </p:nvSpPr>
        <p:spPr>
          <a:xfrm>
            <a:off x="706420" y="3427909"/>
            <a:ext cx="5148531" cy="1426369"/>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FFFFFF"/>
                </a:solidFill>
                <a:latin typeface="Heebo" pitchFamily="34" charset="0"/>
                <a:ea typeface="Heebo" pitchFamily="34" charset="-122"/>
                <a:cs typeface="Heebo" pitchFamily="34" charset="-120"/>
              </a:rPr>
              <a:t>The </a:t>
            </a:r>
            <a:r>
              <a:rPr lang="en-US" sz="1250" b="1" dirty="0">
                <a:solidFill>
                  <a:srgbClr val="FFFFFF"/>
                </a:solidFill>
                <a:latin typeface="Heebo Bold" pitchFamily="34" charset="0"/>
                <a:ea typeface="Heebo Bold" pitchFamily="34" charset="-122"/>
                <a:cs typeface="Heebo Bold" pitchFamily="34" charset="-120"/>
              </a:rPr>
              <a:t>Electronics</a:t>
            </a:r>
            <a:r>
              <a:rPr lang="en-US" sz="1250" dirty="0">
                <a:solidFill>
                  <a:srgbClr val="FFFFFF"/>
                </a:solidFill>
                <a:latin typeface="Heebo" pitchFamily="34" charset="0"/>
                <a:ea typeface="Heebo" pitchFamily="34" charset="-122"/>
                <a:cs typeface="Heebo" pitchFamily="34" charset="-120"/>
              </a:rPr>
              <a:t> category generated the highest profit during the analysis period, making it the largest contributor to the company's overall earnings. This indicates that the category plays a significant role in driving profitability. Management should continue investing in and promoting Electronics products while monitoring costs and pricing strategies to maintain its strong profit performance.</a:t>
            </a:r>
            <a:endParaRPr lang="en-US" sz="1250" dirty="0"/>
          </a:p>
        </p:txBody>
      </p:sp>
      <p:sp>
        <p:nvSpPr>
          <p:cNvPr id="11" name="Text 8"/>
          <p:cNvSpPr/>
          <p:nvPr/>
        </p:nvSpPr>
        <p:spPr>
          <a:xfrm>
            <a:off x="6298149" y="3040360"/>
            <a:ext cx="5238421" cy="251023"/>
          </a:xfrm>
          <a:prstGeom prst="rect">
            <a:avLst/>
          </a:prstGeom>
          <a:noFill/>
          <a:ln/>
        </p:spPr>
        <p:txBody>
          <a:bodyPr wrap="none" lIns="0" tIns="0" rIns="0" bIns="0" rtlCol="0" anchor="t"/>
          <a:lstStyle/>
          <a:p>
            <a:pPr marL="0" indent="0" algn="l">
              <a:lnSpc>
                <a:spcPct val="104000"/>
              </a:lnSpc>
              <a:buNone/>
            </a:pPr>
            <a:r>
              <a:rPr lang="en-US" sz="1550" dirty="0">
                <a:solidFill>
                  <a:srgbClr val="152D47"/>
                </a:solidFill>
                <a:latin typeface="Crimson Pro SemiBold" pitchFamily="34" charset="0"/>
                <a:ea typeface="Crimson Pro SemiBold" pitchFamily="34" charset="-122"/>
                <a:cs typeface="Crimson Pro SemiBold" pitchFamily="34" charset="-120"/>
              </a:rPr>
              <a:t>Q3. What Is the Profit Margin by Category?</a:t>
            </a:r>
            <a:endParaRPr lang="en-US" sz="1550" dirty="0"/>
          </a:p>
        </p:txBody>
      </p:sp>
      <p:sp>
        <p:nvSpPr>
          <p:cNvPr id="12" name="Text 9"/>
          <p:cNvSpPr/>
          <p:nvPr/>
        </p:nvSpPr>
        <p:spPr>
          <a:xfrm>
            <a:off x="6298149" y="3427909"/>
            <a:ext cx="5238421" cy="2139553"/>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The </a:t>
            </a:r>
            <a:r>
              <a:rPr lang="en-US" sz="1250" b="1" dirty="0">
                <a:solidFill>
                  <a:srgbClr val="4C4C4D"/>
                </a:solidFill>
                <a:latin typeface="Heebo Bold" pitchFamily="34" charset="0"/>
                <a:ea typeface="Heebo Bold" pitchFamily="34" charset="-122"/>
                <a:cs typeface="Heebo Bold" pitchFamily="34" charset="-120"/>
              </a:rPr>
              <a:t>Fashion</a:t>
            </a:r>
            <a:r>
              <a:rPr lang="en-US" sz="1250" dirty="0">
                <a:solidFill>
                  <a:srgbClr val="4C4C4D"/>
                </a:solidFill>
                <a:latin typeface="Heebo" pitchFamily="34" charset="0"/>
                <a:ea typeface="Heebo" pitchFamily="34" charset="-122"/>
                <a:cs typeface="Heebo" pitchFamily="34" charset="-120"/>
              </a:rPr>
              <a:t> category achieved the highest profit margin during the analysis period, while the </a:t>
            </a:r>
            <a:r>
              <a:rPr lang="en-US" sz="1250" b="1" dirty="0">
                <a:solidFill>
                  <a:srgbClr val="4C4C4D"/>
                </a:solidFill>
                <a:latin typeface="Heebo Bold" pitchFamily="34" charset="0"/>
                <a:ea typeface="Heebo Bold" pitchFamily="34" charset="-122"/>
                <a:cs typeface="Heebo Bold" pitchFamily="34" charset="-120"/>
              </a:rPr>
              <a:t>Groceries</a:t>
            </a:r>
            <a:r>
              <a:rPr lang="en-US" sz="1250" dirty="0">
                <a:solidFill>
                  <a:srgbClr val="4C4C4D"/>
                </a:solidFill>
                <a:latin typeface="Heebo" pitchFamily="34" charset="0"/>
                <a:ea typeface="Heebo" pitchFamily="34" charset="-122"/>
                <a:cs typeface="Heebo" pitchFamily="34" charset="-120"/>
              </a:rPr>
              <a:t> category recorded a negative profit margin. This indicates that Fashion retains the largest share of revenue as profit, making it one of the company's most profitable categories. In contrast, Groceries are generating losses, which may require further investigation into pricing, discounts, and operating costs. Management should continue investing in and promoting Fashion products while reviewing the pricing strategy, discount policies, and cost structure of the Groceries category to improve profitability.</a:t>
            </a:r>
            <a:endParaRPr lang="en-US" sz="1250" dirty="0"/>
          </a:p>
        </p:txBody>
      </p:sp>
    </p:spTree>
    <p:extLst>
      <p:ext uri="{BB962C8B-B14F-4D97-AF65-F5344CB8AC3E}">
        <p14:creationId xmlns:p14="http://schemas.microsoft.com/office/powerpoint/2010/main" val="283117358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682030"/>
            <a:ext cx="1531899" cy="272752"/>
          </a:xfrm>
          <a:prstGeom prst="roundRect">
            <a:avLst>
              <a:gd name="adj" fmla="val 7900"/>
            </a:avLst>
          </a:prstGeom>
          <a:solidFill>
            <a:srgbClr val="CCD7FF"/>
          </a:solidFill>
          <a:ln/>
        </p:spPr>
      </p:sp>
      <p:sp>
        <p:nvSpPr>
          <p:cNvPr id="3" name="Text 1"/>
          <p:cNvSpPr/>
          <p:nvPr/>
        </p:nvSpPr>
        <p:spPr>
          <a:xfrm>
            <a:off x="769125" y="735806"/>
            <a:ext cx="1926185" cy="165199"/>
          </a:xfrm>
          <a:prstGeom prst="rect">
            <a:avLst/>
          </a:prstGeom>
          <a:noFill/>
          <a:ln/>
        </p:spPr>
        <p:txBody>
          <a:bodyPr wrap="none" lIns="0" tIns="0" rIns="0" bIns="0" rtlCol="0" anchor="t"/>
          <a:lstStyle/>
          <a:p>
            <a:pPr marL="0" indent="0" algn="l">
              <a:lnSpc>
                <a:spcPct val="96000"/>
              </a:lnSpc>
              <a:buNone/>
            </a:pPr>
            <a:r>
              <a:rPr lang="en-US" sz="1100" dirty="0">
                <a:solidFill>
                  <a:srgbClr val="4C4C4D"/>
                </a:solidFill>
                <a:latin typeface="Heebo" pitchFamily="34" charset="0"/>
                <a:ea typeface="Heebo" pitchFamily="34" charset="-122"/>
                <a:cs typeface="Heebo" pitchFamily="34" charset="-120"/>
              </a:rPr>
              <a:t>PRODUCT ANALYSIS</a:t>
            </a:r>
            <a:endParaRPr lang="en-US" sz="1100" dirty="0"/>
          </a:p>
        </p:txBody>
      </p:sp>
      <p:sp>
        <p:nvSpPr>
          <p:cNvPr id="4" name="Text 2"/>
          <p:cNvSpPr/>
          <p:nvPr/>
        </p:nvSpPr>
        <p:spPr>
          <a:xfrm>
            <a:off x="661475" y="1022945"/>
            <a:ext cx="10868745" cy="561181"/>
          </a:xfrm>
          <a:prstGeom prst="rect">
            <a:avLst/>
          </a:prstGeom>
          <a:noFill/>
          <a:ln/>
        </p:spPr>
        <p:txBody>
          <a:bodyPr wrap="none" lIns="0" tIns="0" rIns="0" bIns="0" rtlCol="0" anchor="t"/>
          <a:lstStyle/>
          <a:p>
            <a:pPr marL="0" indent="0" algn="l">
              <a:lnSpc>
                <a:spcPct val="104000"/>
              </a:lnSpc>
              <a:buNone/>
            </a:pPr>
            <a:r>
              <a:rPr lang="en-US" sz="3500" dirty="0">
                <a:solidFill>
                  <a:srgbClr val="152D47"/>
                </a:solidFill>
                <a:latin typeface="Crimson Pro SemiBold" pitchFamily="34" charset="0"/>
                <a:ea typeface="Crimson Pro SemiBold" pitchFamily="34" charset="-122"/>
                <a:cs typeface="Crimson Pro SemiBold" pitchFamily="34" charset="-120"/>
              </a:rPr>
              <a:t>Q4. Which product generate the highest sales?</a:t>
            </a:r>
            <a:endParaRPr lang="en-US" sz="3500" dirty="0"/>
          </a:p>
        </p:txBody>
      </p:sp>
      <p:sp>
        <p:nvSpPr>
          <p:cNvPr id="5" name="Shape 3"/>
          <p:cNvSpPr/>
          <p:nvPr/>
        </p:nvSpPr>
        <p:spPr>
          <a:xfrm>
            <a:off x="661475" y="1840012"/>
            <a:ext cx="10868745" cy="1534120"/>
          </a:xfrm>
          <a:prstGeom prst="roundRect">
            <a:avLst>
              <a:gd name="adj" fmla="val 1756"/>
            </a:avLst>
          </a:prstGeom>
          <a:solidFill>
            <a:srgbClr val="CCD7FF"/>
          </a:solidFill>
          <a:ln/>
        </p:spPr>
      </p:sp>
      <p:pic>
        <p:nvPicPr>
          <p:cNvPr id="6" name="Image 0" descr="preencoded.png"/>
          <p:cNvPicPr>
            <a:picLocks noChangeAspect="1"/>
          </p:cNvPicPr>
          <p:nvPr/>
        </p:nvPicPr>
        <p:blipFill>
          <a:blip r:embed="rId3"/>
          <a:stretch>
            <a:fillRect/>
          </a:stretch>
        </p:blipFill>
        <p:spPr>
          <a:xfrm>
            <a:off x="840957" y="2091432"/>
            <a:ext cx="224427" cy="179487"/>
          </a:xfrm>
          <a:prstGeom prst="rect">
            <a:avLst/>
          </a:prstGeom>
        </p:spPr>
      </p:pic>
      <p:sp>
        <p:nvSpPr>
          <p:cNvPr id="7" name="Text 4"/>
          <p:cNvSpPr/>
          <p:nvPr/>
        </p:nvSpPr>
        <p:spPr>
          <a:xfrm>
            <a:off x="1244867" y="2055416"/>
            <a:ext cx="10105871" cy="1120378"/>
          </a:xfrm>
          <a:prstGeom prst="rect">
            <a:avLst/>
          </a:prstGeom>
          <a:noFill/>
          <a:ln/>
        </p:spPr>
        <p:txBody>
          <a:bodyPr wrap="square" lIns="0" tIns="0" rIns="0" bIns="0" rtlCol="0" anchor="t">
            <a:normAutofit/>
          </a:bodyPr>
          <a:lstStyle/>
          <a:p>
            <a:pPr marL="0" indent="0" algn="l">
              <a:lnSpc>
                <a:spcPct val="130000"/>
              </a:lnSpc>
              <a:buNone/>
            </a:pPr>
            <a:r>
              <a:rPr lang="en-US" sz="1400" b="1" dirty="0">
                <a:solidFill>
                  <a:srgbClr val="000000"/>
                </a:solidFill>
                <a:latin typeface="Heebo Bold" pitchFamily="34" charset="0"/>
                <a:ea typeface="Heebo Bold" pitchFamily="34" charset="-122"/>
                <a:cs typeface="Heebo Bold" pitchFamily="34" charset="-120"/>
              </a:rPr>
              <a:t>Apple MacBook Air (128GB)</a:t>
            </a:r>
            <a:r>
              <a:rPr lang="en-US" sz="1400" dirty="0">
                <a:solidFill>
                  <a:srgbClr val="000000"/>
                </a:solidFill>
                <a:latin typeface="Heebo" pitchFamily="34" charset="0"/>
                <a:ea typeface="Heebo" pitchFamily="34" charset="-122"/>
                <a:cs typeface="Heebo" pitchFamily="34" charset="-120"/>
              </a:rPr>
              <a:t> generated the highest sales during the analysis period, making it the company's best-selling product and indicating strong customer demand. Management should continue investing in inventory and promotional activities for this product while closely monitoring its profit margin to ensure that strong sales continue to contribute to sustainable profitability.</a:t>
            </a:r>
            <a:endParaRPr lang="en-US" sz="1400" dirty="0"/>
          </a:p>
        </p:txBody>
      </p:sp>
      <p:sp>
        <p:nvSpPr>
          <p:cNvPr id="8" name="Shape 5"/>
          <p:cNvSpPr/>
          <p:nvPr/>
        </p:nvSpPr>
        <p:spPr>
          <a:xfrm>
            <a:off x="661475" y="3610868"/>
            <a:ext cx="10868745" cy="25400"/>
          </a:xfrm>
          <a:prstGeom prst="roundRect">
            <a:avLst>
              <a:gd name="adj" fmla="val 59999"/>
            </a:avLst>
          </a:prstGeom>
          <a:solidFill>
            <a:srgbClr val="4C4C4D">
              <a:alpha val="50000"/>
            </a:srgbClr>
          </a:solidFill>
          <a:ln/>
        </p:spPr>
      </p:sp>
      <p:sp>
        <p:nvSpPr>
          <p:cNvPr id="9" name="Text 6"/>
          <p:cNvSpPr/>
          <p:nvPr/>
        </p:nvSpPr>
        <p:spPr>
          <a:xfrm>
            <a:off x="661475" y="3937000"/>
            <a:ext cx="10868745" cy="448965"/>
          </a:xfrm>
          <a:prstGeom prst="rect">
            <a:avLst/>
          </a:prstGeom>
          <a:noFill/>
          <a:ln/>
        </p:spPr>
        <p:txBody>
          <a:bodyPr wrap="none" lIns="0" tIns="0" rIns="0" bIns="0" rtlCol="0" anchor="t"/>
          <a:lstStyle/>
          <a:p>
            <a:pPr marL="0" indent="0" algn="l">
              <a:lnSpc>
                <a:spcPct val="104000"/>
              </a:lnSpc>
              <a:buNone/>
            </a:pPr>
            <a:r>
              <a:rPr lang="en-US" sz="2800" dirty="0">
                <a:solidFill>
                  <a:srgbClr val="152D47"/>
                </a:solidFill>
                <a:latin typeface="Crimson Pro SemiBold" pitchFamily="34" charset="0"/>
                <a:ea typeface="Crimson Pro SemiBold" pitchFamily="34" charset="-122"/>
                <a:cs typeface="Crimson Pro SemiBold" pitchFamily="34" charset="-120"/>
              </a:rPr>
              <a:t>Q5. Which product generate the highest profit?</a:t>
            </a:r>
            <a:endParaRPr lang="en-US" sz="2800" dirty="0"/>
          </a:p>
        </p:txBody>
      </p:sp>
      <p:sp>
        <p:nvSpPr>
          <p:cNvPr id="10" name="Shape 7"/>
          <p:cNvSpPr/>
          <p:nvPr/>
        </p:nvSpPr>
        <p:spPr>
          <a:xfrm>
            <a:off x="661475" y="4641850"/>
            <a:ext cx="10868745" cy="1534120"/>
          </a:xfrm>
          <a:prstGeom prst="roundRect">
            <a:avLst>
              <a:gd name="adj" fmla="val 1756"/>
            </a:avLst>
          </a:prstGeom>
          <a:solidFill>
            <a:srgbClr val="CCD7FF"/>
          </a:solidFill>
          <a:ln/>
        </p:spPr>
      </p:sp>
      <p:pic>
        <p:nvPicPr>
          <p:cNvPr id="11" name="Image 1" descr="preencoded.png"/>
          <p:cNvPicPr>
            <a:picLocks noChangeAspect="1"/>
          </p:cNvPicPr>
          <p:nvPr/>
        </p:nvPicPr>
        <p:blipFill>
          <a:blip r:embed="rId3"/>
          <a:stretch>
            <a:fillRect/>
          </a:stretch>
        </p:blipFill>
        <p:spPr>
          <a:xfrm>
            <a:off x="840957" y="4893270"/>
            <a:ext cx="224427" cy="179487"/>
          </a:xfrm>
          <a:prstGeom prst="rect">
            <a:avLst/>
          </a:prstGeom>
        </p:spPr>
      </p:pic>
      <p:sp>
        <p:nvSpPr>
          <p:cNvPr id="12" name="Text 8"/>
          <p:cNvSpPr/>
          <p:nvPr/>
        </p:nvSpPr>
        <p:spPr>
          <a:xfrm>
            <a:off x="1244867" y="4857254"/>
            <a:ext cx="10105871" cy="1120378"/>
          </a:xfrm>
          <a:prstGeom prst="rect">
            <a:avLst/>
          </a:prstGeom>
          <a:noFill/>
          <a:ln/>
        </p:spPr>
        <p:txBody>
          <a:bodyPr wrap="square" lIns="0" tIns="0" rIns="0" bIns="0" rtlCol="0" anchor="t">
            <a:normAutofit/>
          </a:bodyPr>
          <a:lstStyle/>
          <a:p>
            <a:pPr marL="0" indent="0" algn="l">
              <a:lnSpc>
                <a:spcPct val="130000"/>
              </a:lnSpc>
              <a:buNone/>
            </a:pPr>
            <a:r>
              <a:rPr lang="en-US" sz="1400" b="1" dirty="0">
                <a:solidFill>
                  <a:srgbClr val="000000"/>
                </a:solidFill>
                <a:latin typeface="Heebo Bold" pitchFamily="34" charset="0"/>
                <a:ea typeface="Heebo Bold" pitchFamily="34" charset="-122"/>
                <a:cs typeface="Heebo Bold" pitchFamily="34" charset="-120"/>
              </a:rPr>
              <a:t>Apple MacBook Air (128 GB)</a:t>
            </a:r>
            <a:r>
              <a:rPr lang="en-US" sz="1400" dirty="0">
                <a:solidFill>
                  <a:srgbClr val="000000"/>
                </a:solidFill>
                <a:latin typeface="Heebo" pitchFamily="34" charset="0"/>
                <a:ea typeface="Heebo" pitchFamily="34" charset="-122"/>
                <a:cs typeface="Heebo" pitchFamily="34" charset="-120"/>
              </a:rPr>
              <a:t> generated the highest profit during the analysis period, making it the company's most profitable product and a major contributor to overall earnings. This highlights the product's importance in driving business profitability. Management should continue investing in inventory availability and promotional activities while maintaining its pricing strategy and profit margin to sustain its strong financial performance.</a:t>
            </a:r>
            <a:endParaRPr lang="en-US" sz="1400" dirty="0"/>
          </a:p>
        </p:txBody>
      </p:sp>
    </p:spTree>
    <p:extLst>
      <p:ext uri="{BB962C8B-B14F-4D97-AF65-F5344CB8AC3E}">
        <p14:creationId xmlns:p14="http://schemas.microsoft.com/office/powerpoint/2010/main" val="9062031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984945"/>
            <a:ext cx="1370970" cy="243979"/>
          </a:xfrm>
          <a:prstGeom prst="roundRect">
            <a:avLst>
              <a:gd name="adj" fmla="val 7902"/>
            </a:avLst>
          </a:prstGeom>
          <a:solidFill>
            <a:srgbClr val="CCD7FF"/>
          </a:solidFill>
          <a:ln/>
        </p:spPr>
      </p:sp>
      <p:sp>
        <p:nvSpPr>
          <p:cNvPr id="3" name="Text 1"/>
          <p:cNvSpPr/>
          <p:nvPr/>
        </p:nvSpPr>
        <p:spPr>
          <a:xfrm>
            <a:off x="757814" y="1033066"/>
            <a:ext cx="1787877" cy="147737"/>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PRODUCT ANALYSIS</a:t>
            </a:r>
            <a:endParaRPr lang="en-US" sz="1000" dirty="0"/>
          </a:p>
        </p:txBody>
      </p:sp>
      <p:sp>
        <p:nvSpPr>
          <p:cNvPr id="4" name="Text 2"/>
          <p:cNvSpPr/>
          <p:nvPr/>
        </p:nvSpPr>
        <p:spPr>
          <a:xfrm>
            <a:off x="661475" y="1283494"/>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152D47"/>
                </a:solidFill>
                <a:latin typeface="Crimson Pro SemiBold" pitchFamily="34" charset="0"/>
                <a:ea typeface="Crimson Pro SemiBold" pitchFamily="34" charset="-122"/>
                <a:cs typeface="Crimson Pro SemiBold" pitchFamily="34" charset="-120"/>
              </a:rPr>
              <a:t>Q6. Which products have high revenue but low profitability?</a:t>
            </a:r>
            <a:endParaRPr lang="en-US" sz="3150" dirty="0"/>
          </a:p>
        </p:txBody>
      </p:sp>
      <p:sp>
        <p:nvSpPr>
          <p:cNvPr id="5" name="Shape 3"/>
          <p:cNvSpPr/>
          <p:nvPr/>
        </p:nvSpPr>
        <p:spPr>
          <a:xfrm>
            <a:off x="661475" y="1990328"/>
            <a:ext cx="10868745" cy="1528167"/>
          </a:xfrm>
          <a:prstGeom prst="roundRect">
            <a:avLst>
              <a:gd name="adj" fmla="val 1577"/>
            </a:avLst>
          </a:prstGeom>
          <a:solidFill>
            <a:srgbClr val="CCD7FF"/>
          </a:solidFill>
          <a:ln/>
        </p:spPr>
      </p:sp>
      <p:pic>
        <p:nvPicPr>
          <p:cNvPr id="6" name="Image 0" descr="preencoded.png"/>
          <p:cNvPicPr>
            <a:picLocks noChangeAspect="1"/>
          </p:cNvPicPr>
          <p:nvPr/>
        </p:nvPicPr>
        <p:blipFill>
          <a:blip r:embed="rId3"/>
          <a:stretch>
            <a:fillRect/>
          </a:stretch>
        </p:blipFill>
        <p:spPr>
          <a:xfrm>
            <a:off x="822106" y="2209205"/>
            <a:ext cx="200814" cy="160635"/>
          </a:xfrm>
          <a:prstGeom prst="rect">
            <a:avLst/>
          </a:prstGeom>
        </p:spPr>
      </p:pic>
      <p:sp>
        <p:nvSpPr>
          <p:cNvPr id="7" name="Text 4"/>
          <p:cNvSpPr/>
          <p:nvPr/>
        </p:nvSpPr>
        <p:spPr>
          <a:xfrm>
            <a:off x="1183551" y="2166938"/>
            <a:ext cx="10186038" cy="1188641"/>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000000"/>
                </a:solidFill>
                <a:latin typeface="Heebo" pitchFamily="34" charset="0"/>
                <a:ea typeface="Heebo" pitchFamily="34" charset="-122"/>
                <a:cs typeface="Heebo" pitchFamily="34" charset="-120"/>
              </a:rPr>
              <a:t>Several products generated </a:t>
            </a:r>
            <a:r>
              <a:rPr lang="en-US" sz="1250" b="1" dirty="0">
                <a:solidFill>
                  <a:srgbClr val="000000"/>
                </a:solidFill>
                <a:latin typeface="Heebo Bold" pitchFamily="34" charset="0"/>
                <a:ea typeface="Heebo Bold" pitchFamily="34" charset="-122"/>
                <a:cs typeface="Heebo Bold" pitchFamily="34" charset="-120"/>
              </a:rPr>
              <a:t>higher-than-average revenue</a:t>
            </a:r>
            <a:r>
              <a:rPr lang="en-US" sz="1250" dirty="0">
                <a:solidFill>
                  <a:srgbClr val="000000"/>
                </a:solidFill>
                <a:latin typeface="Heebo" pitchFamily="34" charset="0"/>
                <a:ea typeface="Heebo" pitchFamily="34" charset="-122"/>
                <a:cs typeface="Heebo" pitchFamily="34" charset="-120"/>
              </a:rPr>
              <a:t> but </a:t>
            </a:r>
            <a:r>
              <a:rPr lang="en-US" sz="1250" b="1" dirty="0">
                <a:solidFill>
                  <a:srgbClr val="000000"/>
                </a:solidFill>
                <a:latin typeface="Heebo Bold" pitchFamily="34" charset="0"/>
                <a:ea typeface="Heebo Bold" pitchFamily="34" charset="-122"/>
                <a:cs typeface="Heebo Bold" pitchFamily="34" charset="-120"/>
              </a:rPr>
              <a:t>lower-than-average profit</a:t>
            </a:r>
            <a:r>
              <a:rPr lang="en-US" sz="1250" dirty="0">
                <a:solidFill>
                  <a:srgbClr val="000000"/>
                </a:solidFill>
                <a:latin typeface="Heebo" pitchFamily="34" charset="0"/>
                <a:ea typeface="Heebo" pitchFamily="34" charset="-122"/>
                <a:cs typeface="Heebo" pitchFamily="34" charset="-120"/>
              </a:rPr>
              <a:t> during the analysis period. This indicates that although these products are strong contributors to sales, they are not generating proportional profitability. This pattern suggests that pricing strategies, discount policies, product costs, or other operational factors may be reducing profit margins. Management should review these products individually to identify the causes of low profitability and implement strategies that improve profit margins while maintaining their strong sales performance.</a:t>
            </a:r>
            <a:endParaRPr lang="en-US" sz="1250" dirty="0"/>
          </a:p>
        </p:txBody>
      </p:sp>
      <p:sp>
        <p:nvSpPr>
          <p:cNvPr id="8" name="Shape 5"/>
          <p:cNvSpPr/>
          <p:nvPr/>
        </p:nvSpPr>
        <p:spPr>
          <a:xfrm>
            <a:off x="661475" y="3712170"/>
            <a:ext cx="10868745" cy="19050"/>
          </a:xfrm>
          <a:prstGeom prst="roundRect">
            <a:avLst>
              <a:gd name="adj" fmla="val 59999"/>
            </a:avLst>
          </a:prstGeom>
          <a:solidFill>
            <a:srgbClr val="4C4C4D">
              <a:alpha val="50000"/>
            </a:srgbClr>
          </a:solidFill>
          <a:ln/>
        </p:spPr>
      </p:sp>
      <p:sp>
        <p:nvSpPr>
          <p:cNvPr id="9" name="Text 6"/>
          <p:cNvSpPr/>
          <p:nvPr/>
        </p:nvSpPr>
        <p:spPr>
          <a:xfrm>
            <a:off x="661475" y="3976092"/>
            <a:ext cx="10868745" cy="401638"/>
          </a:xfrm>
          <a:prstGeom prst="rect">
            <a:avLst/>
          </a:prstGeom>
          <a:noFill/>
          <a:ln/>
        </p:spPr>
        <p:txBody>
          <a:bodyPr wrap="none" lIns="0" tIns="0" rIns="0" bIns="0" rtlCol="0" anchor="t"/>
          <a:lstStyle/>
          <a:p>
            <a:pPr marL="0" indent="0" algn="l">
              <a:lnSpc>
                <a:spcPct val="104000"/>
              </a:lnSpc>
              <a:buNone/>
            </a:pPr>
            <a:r>
              <a:rPr lang="en-US" sz="2500" dirty="0">
                <a:solidFill>
                  <a:srgbClr val="152D47"/>
                </a:solidFill>
                <a:latin typeface="Crimson Pro SemiBold" pitchFamily="34" charset="0"/>
                <a:ea typeface="Crimson Pro SemiBold" pitchFamily="34" charset="-122"/>
                <a:cs typeface="Crimson Pro SemiBold" pitchFamily="34" charset="-120"/>
              </a:rPr>
              <a:t>Q7. Which product generate negative profit?</a:t>
            </a:r>
            <a:endParaRPr lang="en-US" sz="2500" dirty="0"/>
          </a:p>
        </p:txBody>
      </p:sp>
      <p:sp>
        <p:nvSpPr>
          <p:cNvPr id="10" name="Shape 7"/>
          <p:cNvSpPr/>
          <p:nvPr/>
        </p:nvSpPr>
        <p:spPr>
          <a:xfrm>
            <a:off x="661475" y="4582517"/>
            <a:ext cx="10868745" cy="1290439"/>
          </a:xfrm>
          <a:prstGeom prst="roundRect">
            <a:avLst>
              <a:gd name="adj" fmla="val 1868"/>
            </a:avLst>
          </a:prstGeom>
          <a:solidFill>
            <a:srgbClr val="CCD7FF"/>
          </a:solidFill>
          <a:ln/>
        </p:spPr>
      </p:sp>
      <p:pic>
        <p:nvPicPr>
          <p:cNvPr id="11" name="Image 1" descr="preencoded.png"/>
          <p:cNvPicPr>
            <a:picLocks noChangeAspect="1"/>
          </p:cNvPicPr>
          <p:nvPr/>
        </p:nvPicPr>
        <p:blipFill>
          <a:blip r:embed="rId3"/>
          <a:stretch>
            <a:fillRect/>
          </a:stretch>
        </p:blipFill>
        <p:spPr>
          <a:xfrm>
            <a:off x="822106" y="4801394"/>
            <a:ext cx="200814" cy="160635"/>
          </a:xfrm>
          <a:prstGeom prst="rect">
            <a:avLst/>
          </a:prstGeom>
        </p:spPr>
      </p:pic>
      <p:sp>
        <p:nvSpPr>
          <p:cNvPr id="12" name="Text 8"/>
          <p:cNvSpPr/>
          <p:nvPr/>
        </p:nvSpPr>
        <p:spPr>
          <a:xfrm>
            <a:off x="1183551" y="4759127"/>
            <a:ext cx="10186038" cy="950912"/>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000000"/>
                </a:solidFill>
                <a:latin typeface="Heebo" pitchFamily="34" charset="0"/>
                <a:ea typeface="Heebo" pitchFamily="34" charset="-122"/>
                <a:cs typeface="Heebo" pitchFamily="34" charset="-120"/>
              </a:rPr>
              <a:t>Several products generated </a:t>
            </a:r>
            <a:r>
              <a:rPr lang="en-US" sz="1250" b="1" dirty="0">
                <a:solidFill>
                  <a:srgbClr val="000000"/>
                </a:solidFill>
                <a:latin typeface="Heebo Bold" pitchFamily="34" charset="0"/>
                <a:ea typeface="Heebo Bold" pitchFamily="34" charset="-122"/>
                <a:cs typeface="Heebo Bold" pitchFamily="34" charset="-120"/>
              </a:rPr>
              <a:t>negative profit</a:t>
            </a:r>
            <a:r>
              <a:rPr lang="en-US" sz="1250" dirty="0">
                <a:solidFill>
                  <a:srgbClr val="000000"/>
                </a:solidFill>
                <a:latin typeface="Heebo" pitchFamily="34" charset="0"/>
                <a:ea typeface="Heebo" pitchFamily="34" charset="-122"/>
                <a:cs typeface="Heebo" pitchFamily="34" charset="-120"/>
              </a:rPr>
              <a:t> during the analysis period, indicating that they are reducing the company's overall profitability. This suggests that the current pricing strategy, discount practices, product costs, or operational expenses for these products should be reviewed. Management should investigate these products individually and implement strategies to improve their profitability through pricing optimization, cost reduction, or revised discount policies.</a:t>
            </a:r>
            <a:endParaRPr lang="en-US" sz="1250" dirty="0"/>
          </a:p>
        </p:txBody>
      </p:sp>
    </p:spTree>
    <p:extLst>
      <p:ext uri="{BB962C8B-B14F-4D97-AF65-F5344CB8AC3E}">
        <p14:creationId xmlns:p14="http://schemas.microsoft.com/office/powerpoint/2010/main" val="321827082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676499"/>
            <a:ext cx="1692233" cy="287139"/>
          </a:xfrm>
          <a:prstGeom prst="roundRect">
            <a:avLst>
              <a:gd name="adj" fmla="val 7899"/>
            </a:avLst>
          </a:prstGeom>
          <a:solidFill>
            <a:srgbClr val="CCD7FF"/>
          </a:solidFill>
          <a:ln/>
        </p:spPr>
      </p:sp>
      <p:sp>
        <p:nvSpPr>
          <p:cNvPr id="3" name="Text 1"/>
          <p:cNvSpPr/>
          <p:nvPr/>
        </p:nvSpPr>
        <p:spPr>
          <a:xfrm>
            <a:off x="774879" y="1733153"/>
            <a:ext cx="2075009"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CATEGORY ANALYSIS</a:t>
            </a:r>
            <a:endParaRPr lang="en-US" sz="1150" dirty="0"/>
          </a:p>
        </p:txBody>
      </p:sp>
      <p:sp>
        <p:nvSpPr>
          <p:cNvPr id="4" name="Text 2"/>
          <p:cNvSpPr/>
          <p:nvPr/>
        </p:nvSpPr>
        <p:spPr>
          <a:xfrm>
            <a:off x="661475" y="2039243"/>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Q8. Which categories should be promoted or reviewed?</a:t>
            </a:r>
            <a:endParaRPr lang="en-US" sz="3700" dirty="0"/>
          </a:p>
        </p:txBody>
      </p:sp>
      <p:sp>
        <p:nvSpPr>
          <p:cNvPr id="5" name="Shape 3"/>
          <p:cNvSpPr/>
          <p:nvPr/>
        </p:nvSpPr>
        <p:spPr>
          <a:xfrm>
            <a:off x="661475" y="2913360"/>
            <a:ext cx="10868745" cy="2268041"/>
          </a:xfrm>
          <a:prstGeom prst="roundRect">
            <a:avLst>
              <a:gd name="adj" fmla="val 1250"/>
            </a:avLst>
          </a:prstGeom>
          <a:solidFill>
            <a:srgbClr val="CCD7FF"/>
          </a:solidFill>
          <a:ln/>
        </p:spPr>
      </p:sp>
      <p:pic>
        <p:nvPicPr>
          <p:cNvPr id="6" name="Image 0" descr="preencoded.png"/>
          <p:cNvPicPr>
            <a:picLocks noChangeAspect="1"/>
          </p:cNvPicPr>
          <p:nvPr/>
        </p:nvPicPr>
        <p:blipFill>
          <a:blip r:embed="rId3"/>
          <a:stretch>
            <a:fillRect/>
          </a:stretch>
        </p:blipFill>
        <p:spPr>
          <a:xfrm>
            <a:off x="850482" y="3181052"/>
            <a:ext cx="236234" cy="189012"/>
          </a:xfrm>
          <a:prstGeom prst="rect">
            <a:avLst/>
          </a:prstGeom>
        </p:spPr>
      </p:pic>
      <p:sp>
        <p:nvSpPr>
          <p:cNvPr id="7" name="Text 4"/>
          <p:cNvSpPr/>
          <p:nvPr/>
        </p:nvSpPr>
        <p:spPr>
          <a:xfrm>
            <a:off x="1275723" y="3149600"/>
            <a:ext cx="10065490" cy="18145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Heebo" pitchFamily="34" charset="0"/>
                <a:ea typeface="Heebo" pitchFamily="34" charset="-122"/>
                <a:cs typeface="Heebo" pitchFamily="34" charset="-120"/>
              </a:rPr>
              <a:t>The </a:t>
            </a:r>
            <a:r>
              <a:rPr lang="en-US" sz="1450" b="1" dirty="0">
                <a:solidFill>
                  <a:srgbClr val="000000"/>
                </a:solidFill>
                <a:latin typeface="Heebo Bold" pitchFamily="34" charset="0"/>
                <a:ea typeface="Heebo Bold" pitchFamily="34" charset="-122"/>
                <a:cs typeface="Heebo Bold" pitchFamily="34" charset="-120"/>
              </a:rPr>
              <a:t>Fashion</a:t>
            </a:r>
            <a:r>
              <a:rPr lang="en-US" sz="1450" dirty="0">
                <a:solidFill>
                  <a:srgbClr val="000000"/>
                </a:solidFill>
                <a:latin typeface="Heebo" pitchFamily="34" charset="0"/>
                <a:ea typeface="Heebo" pitchFamily="34" charset="-122"/>
                <a:cs typeface="Heebo" pitchFamily="34" charset="-120"/>
              </a:rPr>
              <a:t>, </a:t>
            </a:r>
            <a:r>
              <a:rPr lang="en-US" sz="1450" b="1" dirty="0">
                <a:solidFill>
                  <a:srgbClr val="000000"/>
                </a:solidFill>
                <a:latin typeface="Heebo Bold" pitchFamily="34" charset="0"/>
                <a:ea typeface="Heebo Bold" pitchFamily="34" charset="-122"/>
                <a:cs typeface="Heebo Bold" pitchFamily="34" charset="-120"/>
              </a:rPr>
              <a:t>Sports</a:t>
            </a:r>
            <a:r>
              <a:rPr lang="en-US" sz="1450" dirty="0">
                <a:solidFill>
                  <a:srgbClr val="000000"/>
                </a:solidFill>
                <a:latin typeface="Heebo" pitchFamily="34" charset="0"/>
                <a:ea typeface="Heebo" pitchFamily="34" charset="-122"/>
                <a:cs typeface="Heebo" pitchFamily="34" charset="-120"/>
              </a:rPr>
              <a:t>, and </a:t>
            </a:r>
            <a:r>
              <a:rPr lang="en-US" sz="1450" b="1" dirty="0">
                <a:solidFill>
                  <a:srgbClr val="000000"/>
                </a:solidFill>
                <a:latin typeface="Heebo Bold" pitchFamily="34" charset="0"/>
                <a:ea typeface="Heebo Bold" pitchFamily="34" charset="-122"/>
                <a:cs typeface="Heebo Bold" pitchFamily="34" charset="-120"/>
              </a:rPr>
              <a:t>Jewelry</a:t>
            </a:r>
            <a:r>
              <a:rPr lang="en-US" sz="1450" dirty="0">
                <a:solidFill>
                  <a:srgbClr val="000000"/>
                </a:solidFill>
                <a:latin typeface="Heebo" pitchFamily="34" charset="0"/>
                <a:ea typeface="Heebo" pitchFamily="34" charset="-122"/>
                <a:cs typeface="Heebo" pitchFamily="34" charset="-120"/>
              </a:rPr>
              <a:t> categories achieved the highest profit margins during the analysis period, indicating that they retain a larger share of revenue as profit and operate efficiently. In addition, the </a:t>
            </a:r>
            <a:r>
              <a:rPr lang="en-US" sz="1450" b="1" dirty="0">
                <a:solidFill>
                  <a:srgbClr val="000000"/>
                </a:solidFill>
                <a:latin typeface="Heebo Bold" pitchFamily="34" charset="0"/>
                <a:ea typeface="Heebo Bold" pitchFamily="34" charset="-122"/>
                <a:cs typeface="Heebo Bold" pitchFamily="34" charset="-120"/>
              </a:rPr>
              <a:t>Electronics</a:t>
            </a:r>
            <a:r>
              <a:rPr lang="en-US" sz="1450" dirty="0">
                <a:solidFill>
                  <a:srgbClr val="000000"/>
                </a:solidFill>
                <a:latin typeface="Heebo" pitchFamily="34" charset="0"/>
                <a:ea typeface="Heebo" pitchFamily="34" charset="-122"/>
                <a:cs typeface="Heebo" pitchFamily="34" charset="-120"/>
              </a:rPr>
              <a:t> category generated the highest total profit, making it a key contributor to the company's overall earnings. Management should continue investing in and promoting these high-performing categories while maintaining effective pricing and margin strategies. Conversely, categories with low or negative profit margins, such as </a:t>
            </a:r>
            <a:r>
              <a:rPr lang="en-US" sz="1450" b="1" dirty="0">
                <a:solidFill>
                  <a:srgbClr val="000000"/>
                </a:solidFill>
                <a:latin typeface="Heebo Bold" pitchFamily="34" charset="0"/>
                <a:ea typeface="Heebo Bold" pitchFamily="34" charset="-122"/>
                <a:cs typeface="Heebo Bold" pitchFamily="34" charset="-120"/>
              </a:rPr>
              <a:t>Groceries</a:t>
            </a:r>
            <a:r>
              <a:rPr lang="en-US" sz="1450" dirty="0">
                <a:solidFill>
                  <a:srgbClr val="000000"/>
                </a:solidFill>
                <a:latin typeface="Heebo" pitchFamily="34" charset="0"/>
                <a:ea typeface="Heebo" pitchFamily="34" charset="-122"/>
                <a:cs typeface="Heebo" pitchFamily="34" charset="-120"/>
              </a:rPr>
              <a:t>, should be reviewed to identify opportunities for improving pricing, reducing costs, and optimizing discount policies.</a:t>
            </a:r>
            <a:endParaRPr lang="en-US" sz="1450" dirty="0"/>
          </a:p>
        </p:txBody>
      </p:sp>
    </p:spTree>
    <p:extLst>
      <p:ext uri="{BB962C8B-B14F-4D97-AF65-F5344CB8AC3E}">
        <p14:creationId xmlns:p14="http://schemas.microsoft.com/office/powerpoint/2010/main" val="24104915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247775"/>
            <a:ext cx="2804844" cy="287139"/>
          </a:xfrm>
          <a:prstGeom prst="roundRect">
            <a:avLst>
              <a:gd name="adj" fmla="val 7899"/>
            </a:avLst>
          </a:prstGeom>
          <a:solidFill>
            <a:srgbClr val="CCD7FF"/>
          </a:solidFill>
          <a:ln/>
        </p:spPr>
      </p:sp>
      <p:sp>
        <p:nvSpPr>
          <p:cNvPr id="3" name="Text 1"/>
          <p:cNvSpPr/>
          <p:nvPr/>
        </p:nvSpPr>
        <p:spPr>
          <a:xfrm>
            <a:off x="774879" y="1304429"/>
            <a:ext cx="3187620"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CUSTOMER PROFITABILITY ANALYSIS</a:t>
            </a:r>
            <a:endParaRPr lang="en-US" sz="1150" dirty="0"/>
          </a:p>
        </p:txBody>
      </p:sp>
      <p:sp>
        <p:nvSpPr>
          <p:cNvPr id="4" name="Text 2"/>
          <p:cNvSpPr/>
          <p:nvPr/>
        </p:nvSpPr>
        <p:spPr>
          <a:xfrm>
            <a:off x="661475" y="161051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Q1. How many unique customers are there?</a:t>
            </a:r>
            <a:endParaRPr lang="en-US" sz="3700" dirty="0"/>
          </a:p>
        </p:txBody>
      </p:sp>
      <p:sp>
        <p:nvSpPr>
          <p:cNvPr id="5" name="Text 3"/>
          <p:cNvSpPr/>
          <p:nvPr/>
        </p:nvSpPr>
        <p:spPr>
          <a:xfrm>
            <a:off x="661475" y="2579092"/>
            <a:ext cx="10868745" cy="623788"/>
          </a:xfrm>
          <a:prstGeom prst="rect">
            <a:avLst/>
          </a:prstGeom>
          <a:noFill/>
          <a:ln/>
        </p:spPr>
        <p:txBody>
          <a:bodyPr wrap="none" lIns="0" tIns="0" rIns="0" bIns="0" rtlCol="0" anchor="t"/>
          <a:lstStyle/>
          <a:p>
            <a:pPr marL="0" indent="0" algn="ctr">
              <a:lnSpc>
                <a:spcPct val="83000"/>
              </a:lnSpc>
              <a:buNone/>
            </a:pPr>
            <a:r>
              <a:rPr lang="en-US" sz="4900" dirty="0">
                <a:solidFill>
                  <a:srgbClr val="4C4C4D"/>
                </a:solidFill>
                <a:latin typeface="Crimson Pro SemiBold" pitchFamily="34" charset="0"/>
                <a:ea typeface="Crimson Pro SemiBold" pitchFamily="34" charset="-122"/>
                <a:cs typeface="Crimson Pro SemiBold" pitchFamily="34" charset="-120"/>
              </a:rPr>
              <a:t>13,898</a:t>
            </a:r>
            <a:endParaRPr lang="en-US" sz="4900" dirty="0"/>
          </a:p>
        </p:txBody>
      </p:sp>
      <p:sp>
        <p:nvSpPr>
          <p:cNvPr id="6" name="Text 4"/>
          <p:cNvSpPr/>
          <p:nvPr/>
        </p:nvSpPr>
        <p:spPr>
          <a:xfrm>
            <a:off x="661475" y="3439021"/>
            <a:ext cx="10868745" cy="295275"/>
          </a:xfrm>
          <a:prstGeom prst="rect">
            <a:avLst/>
          </a:prstGeom>
          <a:noFill/>
          <a:ln/>
        </p:spPr>
        <p:txBody>
          <a:bodyPr wrap="none" lIns="0" tIns="0" rIns="0" bIns="0" rtlCol="0" anchor="t"/>
          <a:lstStyle/>
          <a:p>
            <a:pPr marL="0" indent="0" algn="ctr">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Registered Customers</a:t>
            </a:r>
            <a:endParaRPr lang="en-US" sz="1850" dirty="0"/>
          </a:p>
        </p:txBody>
      </p:sp>
      <p:sp>
        <p:nvSpPr>
          <p:cNvPr id="7" name="Shape 5"/>
          <p:cNvSpPr/>
          <p:nvPr/>
        </p:nvSpPr>
        <p:spPr>
          <a:xfrm>
            <a:off x="661475" y="3946922"/>
            <a:ext cx="10868745" cy="1663204"/>
          </a:xfrm>
          <a:prstGeom prst="roundRect">
            <a:avLst>
              <a:gd name="adj" fmla="val 1705"/>
            </a:avLst>
          </a:prstGeom>
          <a:solidFill>
            <a:srgbClr val="CCD7FF"/>
          </a:solidFill>
          <a:ln/>
        </p:spPr>
      </p:sp>
      <p:pic>
        <p:nvPicPr>
          <p:cNvPr id="8" name="Image 0" descr="preencoded.png"/>
          <p:cNvPicPr>
            <a:picLocks noChangeAspect="1"/>
          </p:cNvPicPr>
          <p:nvPr/>
        </p:nvPicPr>
        <p:blipFill>
          <a:blip r:embed="rId3"/>
          <a:stretch>
            <a:fillRect/>
          </a:stretch>
        </p:blipFill>
        <p:spPr>
          <a:xfrm>
            <a:off x="850482" y="4214614"/>
            <a:ext cx="236234" cy="189012"/>
          </a:xfrm>
          <a:prstGeom prst="rect">
            <a:avLst/>
          </a:prstGeom>
        </p:spPr>
      </p:pic>
      <p:sp>
        <p:nvSpPr>
          <p:cNvPr id="9" name="Text 6"/>
          <p:cNvSpPr/>
          <p:nvPr/>
        </p:nvSpPr>
        <p:spPr>
          <a:xfrm>
            <a:off x="1275723" y="4183162"/>
            <a:ext cx="10065490"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Heebo" pitchFamily="34" charset="0"/>
                <a:ea typeface="Heebo" pitchFamily="34" charset="-122"/>
                <a:cs typeface="Heebo" pitchFamily="34" charset="-120"/>
              </a:rPr>
              <a:t>The company has a total of </a:t>
            </a:r>
            <a:r>
              <a:rPr lang="en-US" sz="1450" b="1" dirty="0">
                <a:solidFill>
                  <a:srgbClr val="000000"/>
                </a:solidFill>
                <a:latin typeface="Heebo Bold" pitchFamily="34" charset="0"/>
                <a:ea typeface="Heebo Bold" pitchFamily="34" charset="-122"/>
                <a:cs typeface="Heebo Bold" pitchFamily="34" charset="-120"/>
              </a:rPr>
              <a:t>13,898 registered customers</a:t>
            </a:r>
            <a:r>
              <a:rPr lang="en-US" sz="1450" dirty="0">
                <a:solidFill>
                  <a:srgbClr val="000000"/>
                </a:solidFill>
                <a:latin typeface="Heebo" pitchFamily="34" charset="0"/>
                <a:ea typeface="Heebo" pitchFamily="34" charset="-122"/>
                <a:cs typeface="Heebo" pitchFamily="34" charset="-120"/>
              </a:rPr>
              <a:t> in its customer database. A large customer base provides opportunities for generating consistent sales and long-term business growth. Management should focus on customer retention through loyalty programs while continuing to acquire new customers to expand the customer base and support future revenue growth.</a:t>
            </a:r>
            <a:endParaRPr lang="en-US" sz="1450" dirty="0"/>
          </a:p>
        </p:txBody>
      </p:sp>
    </p:spTree>
    <p:extLst>
      <p:ext uri="{BB962C8B-B14F-4D97-AF65-F5344CB8AC3E}">
        <p14:creationId xmlns:p14="http://schemas.microsoft.com/office/powerpoint/2010/main" val="406485296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103809"/>
            <a:ext cx="2384762" cy="243979"/>
          </a:xfrm>
          <a:prstGeom prst="roundRect">
            <a:avLst>
              <a:gd name="adj" fmla="val 7902"/>
            </a:avLst>
          </a:prstGeom>
          <a:solidFill>
            <a:srgbClr val="CCD7FF"/>
          </a:solidFill>
          <a:ln/>
        </p:spPr>
      </p:sp>
      <p:sp>
        <p:nvSpPr>
          <p:cNvPr id="3" name="Text 1"/>
          <p:cNvSpPr/>
          <p:nvPr/>
        </p:nvSpPr>
        <p:spPr>
          <a:xfrm>
            <a:off x="757814" y="1151930"/>
            <a:ext cx="2801669" cy="147737"/>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CUSTOMER PROFITABILITY ANALYSIS</a:t>
            </a:r>
            <a:endParaRPr lang="en-US" sz="1000" dirty="0"/>
          </a:p>
        </p:txBody>
      </p:sp>
      <p:sp>
        <p:nvSpPr>
          <p:cNvPr id="4" name="Text 2"/>
          <p:cNvSpPr/>
          <p:nvPr/>
        </p:nvSpPr>
        <p:spPr>
          <a:xfrm>
            <a:off x="661475" y="1402358"/>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152D47"/>
                </a:solidFill>
                <a:latin typeface="Crimson Pro SemiBold" pitchFamily="34" charset="0"/>
                <a:ea typeface="Crimson Pro SemiBold" pitchFamily="34" charset="-122"/>
                <a:cs typeface="Crimson Pro SemiBold" pitchFamily="34" charset="-120"/>
              </a:rPr>
              <a:t>Q2. Which customers generate the highest revenue?</a:t>
            </a:r>
            <a:endParaRPr lang="en-US" sz="3150" dirty="0"/>
          </a:p>
        </p:txBody>
      </p:sp>
      <p:sp>
        <p:nvSpPr>
          <p:cNvPr id="5" name="Shape 3"/>
          <p:cNvSpPr/>
          <p:nvPr/>
        </p:nvSpPr>
        <p:spPr>
          <a:xfrm>
            <a:off x="661475" y="2109192"/>
            <a:ext cx="10868745" cy="1290439"/>
          </a:xfrm>
          <a:prstGeom prst="roundRect">
            <a:avLst>
              <a:gd name="adj" fmla="val 1868"/>
            </a:avLst>
          </a:prstGeom>
          <a:solidFill>
            <a:srgbClr val="CCD7FF"/>
          </a:solidFill>
          <a:ln/>
        </p:spPr>
      </p:sp>
      <p:pic>
        <p:nvPicPr>
          <p:cNvPr id="6" name="Image 0" descr="preencoded.png"/>
          <p:cNvPicPr>
            <a:picLocks noChangeAspect="1"/>
          </p:cNvPicPr>
          <p:nvPr/>
        </p:nvPicPr>
        <p:blipFill>
          <a:blip r:embed="rId3"/>
          <a:stretch>
            <a:fillRect/>
          </a:stretch>
        </p:blipFill>
        <p:spPr>
          <a:xfrm>
            <a:off x="822106" y="2328069"/>
            <a:ext cx="200814" cy="160635"/>
          </a:xfrm>
          <a:prstGeom prst="rect">
            <a:avLst/>
          </a:prstGeom>
        </p:spPr>
      </p:pic>
      <p:sp>
        <p:nvSpPr>
          <p:cNvPr id="7" name="Text 4"/>
          <p:cNvSpPr/>
          <p:nvPr/>
        </p:nvSpPr>
        <p:spPr>
          <a:xfrm>
            <a:off x="1183551" y="2285802"/>
            <a:ext cx="10186038" cy="950912"/>
          </a:xfrm>
          <a:prstGeom prst="rect">
            <a:avLst/>
          </a:prstGeom>
          <a:noFill/>
          <a:ln/>
        </p:spPr>
        <p:txBody>
          <a:bodyPr wrap="square" lIns="0" tIns="0" rIns="0" bIns="0" rtlCol="0" anchor="t">
            <a:normAutofit/>
          </a:bodyPr>
          <a:lstStyle/>
          <a:p>
            <a:pPr marL="0" indent="0" algn="l">
              <a:lnSpc>
                <a:spcPct val="123000"/>
              </a:lnSpc>
              <a:buNone/>
            </a:pPr>
            <a:r>
              <a:rPr lang="en-US" sz="1250" b="1" dirty="0">
                <a:solidFill>
                  <a:srgbClr val="000000"/>
                </a:solidFill>
                <a:latin typeface="Heebo Bold" pitchFamily="34" charset="0"/>
                <a:ea typeface="Heebo Bold" pitchFamily="34" charset="-122"/>
                <a:cs typeface="Heebo Bold" pitchFamily="34" charset="-120"/>
              </a:rPr>
              <a:t>William Brown</a:t>
            </a:r>
            <a:r>
              <a:rPr lang="en-US" sz="1250" dirty="0">
                <a:solidFill>
                  <a:srgbClr val="000000"/>
                </a:solidFill>
                <a:latin typeface="Heebo" pitchFamily="34" charset="0"/>
                <a:ea typeface="Heebo" pitchFamily="34" charset="-122"/>
                <a:cs typeface="Heebo" pitchFamily="34" charset="-120"/>
              </a:rPr>
              <a:t> generated the highest revenue during the analysis period, making him the company's highest-value customer in terms of sales. This indicates strong purchasing activity and highlights the importance of retaining this customer. Management should strengthen customer relationships through loyalty programs and personalized offers while monitoring profitability and discount levels to ensure that high revenue also translates into sustainable profit.</a:t>
            </a:r>
            <a:endParaRPr lang="en-US" sz="1250" dirty="0"/>
          </a:p>
        </p:txBody>
      </p:sp>
      <p:sp>
        <p:nvSpPr>
          <p:cNvPr id="8" name="Shape 5"/>
          <p:cNvSpPr/>
          <p:nvPr/>
        </p:nvSpPr>
        <p:spPr>
          <a:xfrm>
            <a:off x="661475" y="3593306"/>
            <a:ext cx="10868745" cy="19050"/>
          </a:xfrm>
          <a:prstGeom prst="roundRect">
            <a:avLst>
              <a:gd name="adj" fmla="val 59999"/>
            </a:avLst>
          </a:prstGeom>
          <a:solidFill>
            <a:srgbClr val="4C4C4D">
              <a:alpha val="50000"/>
            </a:srgbClr>
          </a:solidFill>
          <a:ln/>
        </p:spPr>
      </p:sp>
      <p:sp>
        <p:nvSpPr>
          <p:cNvPr id="9" name="Text 6"/>
          <p:cNvSpPr/>
          <p:nvPr/>
        </p:nvSpPr>
        <p:spPr>
          <a:xfrm>
            <a:off x="661475" y="3857228"/>
            <a:ext cx="10868745" cy="401638"/>
          </a:xfrm>
          <a:prstGeom prst="rect">
            <a:avLst/>
          </a:prstGeom>
          <a:noFill/>
          <a:ln/>
        </p:spPr>
        <p:txBody>
          <a:bodyPr wrap="none" lIns="0" tIns="0" rIns="0" bIns="0" rtlCol="0" anchor="t"/>
          <a:lstStyle/>
          <a:p>
            <a:pPr marL="0" indent="0" algn="l">
              <a:lnSpc>
                <a:spcPct val="104000"/>
              </a:lnSpc>
              <a:buNone/>
            </a:pPr>
            <a:r>
              <a:rPr lang="en-US" sz="2500" dirty="0">
                <a:solidFill>
                  <a:srgbClr val="152D47"/>
                </a:solidFill>
                <a:latin typeface="Crimson Pro SemiBold" pitchFamily="34" charset="0"/>
                <a:ea typeface="Crimson Pro SemiBold" pitchFamily="34" charset="-122"/>
                <a:cs typeface="Crimson Pro SemiBold" pitchFamily="34" charset="-120"/>
              </a:rPr>
              <a:t>Q3. Which customer generate the highest profit?</a:t>
            </a:r>
            <a:endParaRPr lang="en-US" sz="2500" dirty="0"/>
          </a:p>
        </p:txBody>
      </p:sp>
      <p:sp>
        <p:nvSpPr>
          <p:cNvPr id="10" name="Shape 7"/>
          <p:cNvSpPr/>
          <p:nvPr/>
        </p:nvSpPr>
        <p:spPr>
          <a:xfrm>
            <a:off x="661475" y="4463653"/>
            <a:ext cx="10868745" cy="1290439"/>
          </a:xfrm>
          <a:prstGeom prst="roundRect">
            <a:avLst>
              <a:gd name="adj" fmla="val 1868"/>
            </a:avLst>
          </a:prstGeom>
          <a:solidFill>
            <a:srgbClr val="CCD7FF"/>
          </a:solidFill>
          <a:ln/>
        </p:spPr>
      </p:sp>
      <p:pic>
        <p:nvPicPr>
          <p:cNvPr id="11" name="Image 1" descr="preencoded.png"/>
          <p:cNvPicPr>
            <a:picLocks noChangeAspect="1"/>
          </p:cNvPicPr>
          <p:nvPr/>
        </p:nvPicPr>
        <p:blipFill>
          <a:blip r:embed="rId3"/>
          <a:stretch>
            <a:fillRect/>
          </a:stretch>
        </p:blipFill>
        <p:spPr>
          <a:xfrm>
            <a:off x="822106" y="4682530"/>
            <a:ext cx="200814" cy="160635"/>
          </a:xfrm>
          <a:prstGeom prst="rect">
            <a:avLst/>
          </a:prstGeom>
        </p:spPr>
      </p:pic>
      <p:sp>
        <p:nvSpPr>
          <p:cNvPr id="12" name="Text 8"/>
          <p:cNvSpPr/>
          <p:nvPr/>
        </p:nvSpPr>
        <p:spPr>
          <a:xfrm>
            <a:off x="1183551" y="4640263"/>
            <a:ext cx="10186038" cy="950912"/>
          </a:xfrm>
          <a:prstGeom prst="rect">
            <a:avLst/>
          </a:prstGeom>
          <a:noFill/>
          <a:ln/>
        </p:spPr>
        <p:txBody>
          <a:bodyPr wrap="square" lIns="0" tIns="0" rIns="0" bIns="0" rtlCol="0" anchor="t">
            <a:normAutofit/>
          </a:bodyPr>
          <a:lstStyle/>
          <a:p>
            <a:pPr marL="0" indent="0" algn="l">
              <a:lnSpc>
                <a:spcPct val="123000"/>
              </a:lnSpc>
              <a:buNone/>
            </a:pPr>
            <a:r>
              <a:rPr lang="en-US" sz="1250" b="1" dirty="0">
                <a:solidFill>
                  <a:srgbClr val="000000"/>
                </a:solidFill>
                <a:latin typeface="Heebo Bold" pitchFamily="34" charset="0"/>
                <a:ea typeface="Heebo Bold" pitchFamily="34" charset="-122"/>
                <a:cs typeface="Heebo Bold" pitchFamily="34" charset="-120"/>
              </a:rPr>
              <a:t>James Smith</a:t>
            </a:r>
            <a:r>
              <a:rPr lang="en-US" sz="1250" dirty="0">
                <a:solidFill>
                  <a:srgbClr val="000000"/>
                </a:solidFill>
                <a:latin typeface="Heebo" pitchFamily="34" charset="0"/>
                <a:ea typeface="Heebo" pitchFamily="34" charset="-122"/>
                <a:cs typeface="Heebo" pitchFamily="34" charset="-120"/>
              </a:rPr>
              <a:t> generated the highest profit during the analysis period, making him one of the company's most valuable customers in terms of profitability. This highlights the importance of retaining high-profit customers, as they contribute significantly to the company's overall earnings. Management should strengthen customer relationships through loyalty programs, personalized offers, and excellent customer service to encourage repeat purchases and sustain long-term profitability.</a:t>
            </a:r>
            <a:endParaRPr lang="en-US" sz="1250" dirty="0"/>
          </a:p>
        </p:txBody>
      </p:sp>
    </p:spTree>
    <p:extLst>
      <p:ext uri="{BB962C8B-B14F-4D97-AF65-F5344CB8AC3E}">
        <p14:creationId xmlns:p14="http://schemas.microsoft.com/office/powerpoint/2010/main" val="13545475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103809"/>
            <a:ext cx="2384762" cy="243979"/>
          </a:xfrm>
          <a:prstGeom prst="roundRect">
            <a:avLst>
              <a:gd name="adj" fmla="val 7902"/>
            </a:avLst>
          </a:prstGeom>
          <a:solidFill>
            <a:srgbClr val="CCD7FF"/>
          </a:solidFill>
          <a:ln/>
        </p:spPr>
      </p:sp>
      <p:sp>
        <p:nvSpPr>
          <p:cNvPr id="3" name="Text 1"/>
          <p:cNvSpPr/>
          <p:nvPr/>
        </p:nvSpPr>
        <p:spPr>
          <a:xfrm>
            <a:off x="757814" y="1151930"/>
            <a:ext cx="2801669" cy="147737"/>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CUSTOMER PROFITABILITY ANALYSIS</a:t>
            </a:r>
            <a:endParaRPr lang="en-US" sz="1000" dirty="0"/>
          </a:p>
        </p:txBody>
      </p:sp>
      <p:sp>
        <p:nvSpPr>
          <p:cNvPr id="4" name="Text 2"/>
          <p:cNvSpPr/>
          <p:nvPr/>
        </p:nvSpPr>
        <p:spPr>
          <a:xfrm>
            <a:off x="661475" y="1402358"/>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152D47"/>
                </a:solidFill>
                <a:latin typeface="Crimson Pro SemiBold" pitchFamily="34" charset="0"/>
                <a:ea typeface="Crimson Pro SemiBold" pitchFamily="34" charset="-122"/>
                <a:cs typeface="Crimson Pro SemiBold" pitchFamily="34" charset="-120"/>
              </a:rPr>
              <a:t>Q4. Are high revenue customers are also high profit?</a:t>
            </a:r>
            <a:endParaRPr lang="en-US" sz="3150" dirty="0"/>
          </a:p>
        </p:txBody>
      </p:sp>
      <p:sp>
        <p:nvSpPr>
          <p:cNvPr id="5" name="Shape 3"/>
          <p:cNvSpPr/>
          <p:nvPr/>
        </p:nvSpPr>
        <p:spPr>
          <a:xfrm>
            <a:off x="661475" y="2109192"/>
            <a:ext cx="10868745" cy="1290439"/>
          </a:xfrm>
          <a:prstGeom prst="roundRect">
            <a:avLst>
              <a:gd name="adj" fmla="val 1868"/>
            </a:avLst>
          </a:prstGeom>
          <a:solidFill>
            <a:srgbClr val="CCD7FF"/>
          </a:solidFill>
          <a:ln/>
        </p:spPr>
      </p:sp>
      <p:pic>
        <p:nvPicPr>
          <p:cNvPr id="6" name="Image 0" descr="preencoded.png"/>
          <p:cNvPicPr>
            <a:picLocks noChangeAspect="1"/>
          </p:cNvPicPr>
          <p:nvPr/>
        </p:nvPicPr>
        <p:blipFill>
          <a:blip r:embed="rId3"/>
          <a:stretch>
            <a:fillRect/>
          </a:stretch>
        </p:blipFill>
        <p:spPr>
          <a:xfrm>
            <a:off x="822106" y="2328069"/>
            <a:ext cx="200814" cy="160635"/>
          </a:xfrm>
          <a:prstGeom prst="rect">
            <a:avLst/>
          </a:prstGeom>
        </p:spPr>
      </p:pic>
      <p:sp>
        <p:nvSpPr>
          <p:cNvPr id="7" name="Text 4"/>
          <p:cNvSpPr/>
          <p:nvPr/>
        </p:nvSpPr>
        <p:spPr>
          <a:xfrm>
            <a:off x="1183551" y="2285802"/>
            <a:ext cx="10186038" cy="950912"/>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000000"/>
                </a:solidFill>
                <a:latin typeface="Heebo" pitchFamily="34" charset="0"/>
                <a:ea typeface="Heebo" pitchFamily="34" charset="-122"/>
                <a:cs typeface="Heebo" pitchFamily="34" charset="-120"/>
              </a:rPr>
              <a:t>The analysis shows that several customers generated both </a:t>
            </a:r>
            <a:r>
              <a:rPr lang="en-US" sz="1250" b="1" dirty="0">
                <a:solidFill>
                  <a:srgbClr val="000000"/>
                </a:solidFill>
                <a:latin typeface="Heebo Bold" pitchFamily="34" charset="0"/>
                <a:ea typeface="Heebo Bold" pitchFamily="34" charset="-122"/>
                <a:cs typeface="Heebo Bold" pitchFamily="34" charset="-120"/>
              </a:rPr>
              <a:t>higher-than-average revenue</a:t>
            </a:r>
            <a:r>
              <a:rPr lang="en-US" sz="1250" dirty="0">
                <a:solidFill>
                  <a:srgbClr val="000000"/>
                </a:solidFill>
                <a:latin typeface="Heebo" pitchFamily="34" charset="0"/>
                <a:ea typeface="Heebo" pitchFamily="34" charset="-122"/>
                <a:cs typeface="Heebo" pitchFamily="34" charset="-120"/>
              </a:rPr>
              <a:t> and </a:t>
            </a:r>
            <a:r>
              <a:rPr lang="en-US" sz="1250" b="1" dirty="0">
                <a:solidFill>
                  <a:srgbClr val="000000"/>
                </a:solidFill>
                <a:latin typeface="Heebo Bold" pitchFamily="34" charset="0"/>
                <a:ea typeface="Heebo Bold" pitchFamily="34" charset="-122"/>
                <a:cs typeface="Heebo Bold" pitchFamily="34" charset="-120"/>
              </a:rPr>
              <a:t>higher-than-average profit</a:t>
            </a:r>
            <a:r>
              <a:rPr lang="en-US" sz="1250" dirty="0">
                <a:solidFill>
                  <a:srgbClr val="000000"/>
                </a:solidFill>
                <a:latin typeface="Heebo" pitchFamily="34" charset="0"/>
                <a:ea typeface="Heebo" pitchFamily="34" charset="-122"/>
                <a:cs typeface="Heebo" pitchFamily="34" charset="-120"/>
              </a:rPr>
              <a:t>, making them the company's most valuable customers in terms of both sales and profitability. Their strong purchasing activity and high financial contribution highlight the importance of retaining these customers. Management should strengthen customer relationships through loyalty programs, personalized offers, and excellent customer service to encourage repeat purchases and sustain long-term profitability.</a:t>
            </a:r>
            <a:endParaRPr lang="en-US" sz="1250" dirty="0"/>
          </a:p>
        </p:txBody>
      </p:sp>
      <p:sp>
        <p:nvSpPr>
          <p:cNvPr id="8" name="Shape 5"/>
          <p:cNvSpPr/>
          <p:nvPr/>
        </p:nvSpPr>
        <p:spPr>
          <a:xfrm>
            <a:off x="661475" y="3593306"/>
            <a:ext cx="10868745" cy="19050"/>
          </a:xfrm>
          <a:prstGeom prst="roundRect">
            <a:avLst>
              <a:gd name="adj" fmla="val 59999"/>
            </a:avLst>
          </a:prstGeom>
          <a:solidFill>
            <a:srgbClr val="4C4C4D">
              <a:alpha val="50000"/>
            </a:srgbClr>
          </a:solidFill>
          <a:ln/>
        </p:spPr>
      </p:sp>
      <p:sp>
        <p:nvSpPr>
          <p:cNvPr id="9" name="Text 6"/>
          <p:cNvSpPr/>
          <p:nvPr/>
        </p:nvSpPr>
        <p:spPr>
          <a:xfrm>
            <a:off x="661475" y="3857228"/>
            <a:ext cx="10868745" cy="401638"/>
          </a:xfrm>
          <a:prstGeom prst="rect">
            <a:avLst/>
          </a:prstGeom>
          <a:noFill/>
          <a:ln/>
        </p:spPr>
        <p:txBody>
          <a:bodyPr wrap="none" lIns="0" tIns="0" rIns="0" bIns="0" rtlCol="0" anchor="t"/>
          <a:lstStyle/>
          <a:p>
            <a:pPr marL="0" indent="0" algn="l">
              <a:lnSpc>
                <a:spcPct val="104000"/>
              </a:lnSpc>
              <a:buNone/>
            </a:pPr>
            <a:r>
              <a:rPr lang="en-US" sz="2500" dirty="0">
                <a:solidFill>
                  <a:srgbClr val="152D47"/>
                </a:solidFill>
                <a:latin typeface="Crimson Pro SemiBold" pitchFamily="34" charset="0"/>
                <a:ea typeface="Crimson Pro SemiBold" pitchFamily="34" charset="-122"/>
                <a:cs typeface="Crimson Pro SemiBold" pitchFamily="34" charset="-120"/>
              </a:rPr>
              <a:t>Q5. Which customers generate high revenue but low profit?</a:t>
            </a:r>
            <a:endParaRPr lang="en-US" sz="2500" dirty="0"/>
          </a:p>
        </p:txBody>
      </p:sp>
      <p:sp>
        <p:nvSpPr>
          <p:cNvPr id="10" name="Shape 7"/>
          <p:cNvSpPr/>
          <p:nvPr/>
        </p:nvSpPr>
        <p:spPr>
          <a:xfrm>
            <a:off x="661475" y="4463653"/>
            <a:ext cx="10868745" cy="1290439"/>
          </a:xfrm>
          <a:prstGeom prst="roundRect">
            <a:avLst>
              <a:gd name="adj" fmla="val 1868"/>
            </a:avLst>
          </a:prstGeom>
          <a:solidFill>
            <a:srgbClr val="CCD7FF"/>
          </a:solidFill>
          <a:ln/>
        </p:spPr>
      </p:sp>
      <p:pic>
        <p:nvPicPr>
          <p:cNvPr id="11" name="Image 1" descr="preencoded.png"/>
          <p:cNvPicPr>
            <a:picLocks noChangeAspect="1"/>
          </p:cNvPicPr>
          <p:nvPr/>
        </p:nvPicPr>
        <p:blipFill>
          <a:blip r:embed="rId3"/>
          <a:stretch>
            <a:fillRect/>
          </a:stretch>
        </p:blipFill>
        <p:spPr>
          <a:xfrm>
            <a:off x="822106" y="4682530"/>
            <a:ext cx="200814" cy="160635"/>
          </a:xfrm>
          <a:prstGeom prst="rect">
            <a:avLst/>
          </a:prstGeom>
        </p:spPr>
      </p:pic>
      <p:sp>
        <p:nvSpPr>
          <p:cNvPr id="12" name="Text 8"/>
          <p:cNvSpPr/>
          <p:nvPr/>
        </p:nvSpPr>
        <p:spPr>
          <a:xfrm>
            <a:off x="1183551" y="4640263"/>
            <a:ext cx="10186038" cy="950912"/>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000000"/>
                </a:solidFill>
                <a:latin typeface="Heebo" pitchFamily="34" charset="0"/>
                <a:ea typeface="Heebo" pitchFamily="34" charset="-122"/>
                <a:cs typeface="Heebo" pitchFamily="34" charset="-120"/>
              </a:rPr>
              <a:t>Several customers generated </a:t>
            </a:r>
            <a:r>
              <a:rPr lang="en-US" sz="1250" b="1" dirty="0">
                <a:solidFill>
                  <a:srgbClr val="000000"/>
                </a:solidFill>
                <a:latin typeface="Heebo Bold" pitchFamily="34" charset="0"/>
                <a:ea typeface="Heebo Bold" pitchFamily="34" charset="-122"/>
                <a:cs typeface="Heebo Bold" pitchFamily="34" charset="-120"/>
              </a:rPr>
              <a:t>higher-than-average revenue</a:t>
            </a:r>
            <a:r>
              <a:rPr lang="en-US" sz="1250" dirty="0">
                <a:solidFill>
                  <a:srgbClr val="000000"/>
                </a:solidFill>
                <a:latin typeface="Heebo" pitchFamily="34" charset="0"/>
                <a:ea typeface="Heebo" pitchFamily="34" charset="-122"/>
                <a:cs typeface="Heebo" pitchFamily="34" charset="-120"/>
              </a:rPr>
              <a:t> but </a:t>
            </a:r>
            <a:r>
              <a:rPr lang="en-US" sz="1250" b="1" dirty="0">
                <a:solidFill>
                  <a:srgbClr val="000000"/>
                </a:solidFill>
                <a:latin typeface="Heebo Bold" pitchFamily="34" charset="0"/>
                <a:ea typeface="Heebo Bold" pitchFamily="34" charset="-122"/>
                <a:cs typeface="Heebo Bold" pitchFamily="34" charset="-120"/>
              </a:rPr>
              <a:t>lower-than-average profit</a:t>
            </a:r>
            <a:r>
              <a:rPr lang="en-US" sz="1250" dirty="0">
                <a:solidFill>
                  <a:srgbClr val="000000"/>
                </a:solidFill>
                <a:latin typeface="Heebo" pitchFamily="34" charset="0"/>
                <a:ea typeface="Heebo" pitchFamily="34" charset="-122"/>
                <a:cs typeface="Heebo" pitchFamily="34" charset="-120"/>
              </a:rPr>
              <a:t> during the analysis period. This indicates that while these customers contribute significantly to sales, they generate relatively lower profitability than expected. Management should review pricing strategies, discount policies, and purchasing patterns for these customers to identify opportunities to improve profit margins while maintaining strong customer relationships and sales performance.</a:t>
            </a:r>
            <a:endParaRPr lang="en-US" sz="1250" dirty="0"/>
          </a:p>
        </p:txBody>
      </p:sp>
    </p:spTree>
    <p:extLst>
      <p:ext uri="{BB962C8B-B14F-4D97-AF65-F5344CB8AC3E}">
        <p14:creationId xmlns:p14="http://schemas.microsoft.com/office/powerpoint/2010/main" val="178248122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744538"/>
            <a:ext cx="2244867" cy="229691"/>
          </a:xfrm>
          <a:prstGeom prst="roundRect">
            <a:avLst>
              <a:gd name="adj" fmla="val 7900"/>
            </a:avLst>
          </a:prstGeom>
          <a:solidFill>
            <a:srgbClr val="CCD7FF"/>
          </a:solidFill>
          <a:ln/>
        </p:spPr>
      </p:sp>
      <p:sp>
        <p:nvSpPr>
          <p:cNvPr id="3" name="Text 1"/>
          <p:cNvSpPr/>
          <p:nvPr/>
        </p:nvSpPr>
        <p:spPr>
          <a:xfrm>
            <a:off x="752159" y="789880"/>
            <a:ext cx="2673085" cy="139005"/>
          </a:xfrm>
          <a:prstGeom prst="rect">
            <a:avLst/>
          </a:prstGeom>
          <a:noFill/>
          <a:ln/>
        </p:spPr>
        <p:txBody>
          <a:bodyPr wrap="none" lIns="0" tIns="0" rIns="0" bIns="0" rtlCol="0" anchor="t"/>
          <a:lstStyle/>
          <a:p>
            <a:pPr marL="0" indent="0" algn="l">
              <a:lnSpc>
                <a:spcPct val="96000"/>
              </a:lnSpc>
              <a:buNone/>
            </a:pPr>
            <a:r>
              <a:rPr lang="en-US" sz="950" dirty="0">
                <a:solidFill>
                  <a:srgbClr val="4C4C4D"/>
                </a:solidFill>
                <a:latin typeface="Heebo" pitchFamily="34" charset="0"/>
                <a:ea typeface="Heebo" pitchFamily="34" charset="-122"/>
                <a:cs typeface="Heebo" pitchFamily="34" charset="-120"/>
              </a:rPr>
              <a:t>CUSTOMER PROFITABILITY ANALYSIS</a:t>
            </a:r>
            <a:endParaRPr lang="en-US" sz="950" dirty="0"/>
          </a:p>
        </p:txBody>
      </p:sp>
      <p:sp>
        <p:nvSpPr>
          <p:cNvPr id="4" name="Text 2"/>
          <p:cNvSpPr/>
          <p:nvPr/>
        </p:nvSpPr>
        <p:spPr>
          <a:xfrm>
            <a:off x="661475" y="1022548"/>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Q6. What is the average customer spending?</a:t>
            </a:r>
            <a:endParaRPr lang="en-US" sz="2950" dirty="0"/>
          </a:p>
        </p:txBody>
      </p:sp>
      <p:sp>
        <p:nvSpPr>
          <p:cNvPr id="5" name="Text 3"/>
          <p:cNvSpPr/>
          <p:nvPr/>
        </p:nvSpPr>
        <p:spPr>
          <a:xfrm>
            <a:off x="1748389" y="1752005"/>
            <a:ext cx="8694917" cy="499070"/>
          </a:xfrm>
          <a:prstGeom prst="rect">
            <a:avLst/>
          </a:prstGeom>
          <a:noFill/>
          <a:ln/>
        </p:spPr>
        <p:txBody>
          <a:bodyPr wrap="none" lIns="0" tIns="0" rIns="0" bIns="0" rtlCol="0" anchor="t"/>
          <a:lstStyle/>
          <a:p>
            <a:pPr marL="0" indent="0" algn="ctr">
              <a:lnSpc>
                <a:spcPct val="83000"/>
              </a:lnSpc>
              <a:buNone/>
            </a:pPr>
            <a:r>
              <a:rPr lang="en-US" sz="3900" dirty="0">
                <a:solidFill>
                  <a:srgbClr val="4C4C4D"/>
                </a:solidFill>
                <a:latin typeface="Crimson Pro SemiBold" pitchFamily="34" charset="0"/>
                <a:ea typeface="Crimson Pro SemiBold" pitchFamily="34" charset="-122"/>
                <a:cs typeface="Crimson Pro SemiBold" pitchFamily="34" charset="-120"/>
              </a:rPr>
              <a:t>3,037.97</a:t>
            </a:r>
            <a:endParaRPr lang="en-US" sz="3900" dirty="0"/>
          </a:p>
        </p:txBody>
      </p:sp>
      <p:sp>
        <p:nvSpPr>
          <p:cNvPr id="6" name="Text 4"/>
          <p:cNvSpPr/>
          <p:nvPr/>
        </p:nvSpPr>
        <p:spPr>
          <a:xfrm>
            <a:off x="661475" y="2417366"/>
            <a:ext cx="10868745" cy="236240"/>
          </a:xfrm>
          <a:prstGeom prst="rect">
            <a:avLst/>
          </a:prstGeom>
          <a:noFill/>
          <a:ln/>
        </p:spPr>
        <p:txBody>
          <a:bodyPr wrap="none" lIns="0" tIns="0" rIns="0" bIns="0" rtlCol="0" anchor="t"/>
          <a:lstStyle/>
          <a:p>
            <a:pPr marL="0" indent="0" algn="ctr">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Average Customer Spending</a:t>
            </a:r>
            <a:endParaRPr lang="en-US" sz="1450" dirty="0"/>
          </a:p>
        </p:txBody>
      </p:sp>
      <p:sp>
        <p:nvSpPr>
          <p:cNvPr id="7" name="Shape 5"/>
          <p:cNvSpPr/>
          <p:nvPr/>
        </p:nvSpPr>
        <p:spPr>
          <a:xfrm>
            <a:off x="661475" y="2789634"/>
            <a:ext cx="10868745" cy="1176139"/>
          </a:xfrm>
          <a:prstGeom prst="roundRect">
            <a:avLst>
              <a:gd name="adj" fmla="val 1929"/>
            </a:avLst>
          </a:prstGeom>
          <a:solidFill>
            <a:srgbClr val="CCD7FF"/>
          </a:solidFill>
          <a:ln/>
        </p:spPr>
      </p:sp>
      <p:pic>
        <p:nvPicPr>
          <p:cNvPr id="8" name="Image 0" descr="preencoded.png"/>
          <p:cNvPicPr>
            <a:picLocks noChangeAspect="1"/>
          </p:cNvPicPr>
          <p:nvPr/>
        </p:nvPicPr>
        <p:blipFill>
          <a:blip r:embed="rId3"/>
          <a:stretch>
            <a:fillRect/>
          </a:stretch>
        </p:blipFill>
        <p:spPr>
          <a:xfrm>
            <a:off x="812680" y="2992338"/>
            <a:ext cx="189007" cy="151209"/>
          </a:xfrm>
          <a:prstGeom prst="rect">
            <a:avLst/>
          </a:prstGeom>
        </p:spPr>
      </p:pic>
      <p:sp>
        <p:nvSpPr>
          <p:cNvPr id="9" name="Text 6"/>
          <p:cNvSpPr/>
          <p:nvPr/>
        </p:nvSpPr>
        <p:spPr>
          <a:xfrm>
            <a:off x="1152893" y="2948384"/>
            <a:ext cx="10226122" cy="870744"/>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000000"/>
                </a:solidFill>
                <a:latin typeface="Heebo" pitchFamily="34" charset="0"/>
                <a:ea typeface="Heebo" pitchFamily="34" charset="-122"/>
                <a:cs typeface="Heebo" pitchFamily="34" charset="-120"/>
              </a:rPr>
              <a:t>Customers spent an average of </a:t>
            </a:r>
            <a:r>
              <a:rPr lang="en-US" sz="1150" b="1" dirty="0">
                <a:solidFill>
                  <a:srgbClr val="000000"/>
                </a:solidFill>
                <a:latin typeface="Heebo Bold" pitchFamily="34" charset="0"/>
                <a:ea typeface="Heebo Bold" pitchFamily="34" charset="-122"/>
                <a:cs typeface="Heebo Bold" pitchFamily="34" charset="-120"/>
              </a:rPr>
              <a:t>3,037.97</a:t>
            </a:r>
            <a:r>
              <a:rPr lang="en-US" sz="1150" dirty="0">
                <a:solidFill>
                  <a:srgbClr val="000000"/>
                </a:solidFill>
                <a:latin typeface="Heebo" pitchFamily="34" charset="0"/>
                <a:ea typeface="Heebo" pitchFamily="34" charset="-122"/>
                <a:cs typeface="Heebo" pitchFamily="34" charset="-120"/>
              </a:rPr>
              <a:t> during the analysis period, reflecting the average revenue generated per customer. This KPI provides insight into customer purchasing behavior and the overall value of the company's customer base. Management should focus on increasing customer spending through upselling, cross-selling, personalized product recommendations, and loyalty programs while continuing to attract new customers to support long-term revenue growth.</a:t>
            </a:r>
            <a:endParaRPr lang="en-US" sz="1150" dirty="0"/>
          </a:p>
        </p:txBody>
      </p:sp>
      <p:sp>
        <p:nvSpPr>
          <p:cNvPr id="10" name="Shape 7"/>
          <p:cNvSpPr/>
          <p:nvPr/>
        </p:nvSpPr>
        <p:spPr>
          <a:xfrm>
            <a:off x="661475" y="4139605"/>
            <a:ext cx="10868745" cy="19050"/>
          </a:xfrm>
          <a:prstGeom prst="roundRect">
            <a:avLst>
              <a:gd name="adj" fmla="val 59999"/>
            </a:avLst>
          </a:prstGeom>
          <a:solidFill>
            <a:srgbClr val="4C4C4D">
              <a:alpha val="50000"/>
            </a:srgbClr>
          </a:solidFill>
          <a:ln/>
        </p:spPr>
      </p:sp>
      <p:sp>
        <p:nvSpPr>
          <p:cNvPr id="11" name="Text 8"/>
          <p:cNvSpPr/>
          <p:nvPr/>
        </p:nvSpPr>
        <p:spPr>
          <a:xfrm>
            <a:off x="661475" y="4377829"/>
            <a:ext cx="10868745" cy="378023"/>
          </a:xfrm>
          <a:prstGeom prst="rect">
            <a:avLst/>
          </a:prstGeom>
          <a:noFill/>
          <a:ln/>
        </p:spPr>
        <p:txBody>
          <a:bodyPr wrap="none" lIns="0" tIns="0" rIns="0" bIns="0" rtlCol="0" anchor="t"/>
          <a:lstStyle/>
          <a:p>
            <a:pPr marL="0" indent="0" algn="l">
              <a:lnSpc>
                <a:spcPct val="104000"/>
              </a:lnSpc>
              <a:buNone/>
            </a:pPr>
            <a:r>
              <a:rPr lang="en-US" sz="2350" dirty="0">
                <a:solidFill>
                  <a:srgbClr val="152D47"/>
                </a:solidFill>
                <a:latin typeface="Crimson Pro SemiBold" pitchFamily="34" charset="0"/>
                <a:ea typeface="Crimson Pro SemiBold" pitchFamily="34" charset="-122"/>
                <a:cs typeface="Crimson Pro SemiBold" pitchFamily="34" charset="-120"/>
              </a:rPr>
              <a:t>Q7. Which customer group contribute most profit?</a:t>
            </a:r>
            <a:endParaRPr lang="en-US" sz="2350" dirty="0"/>
          </a:p>
        </p:txBody>
      </p:sp>
      <p:sp>
        <p:nvSpPr>
          <p:cNvPr id="12" name="Shape 9"/>
          <p:cNvSpPr/>
          <p:nvPr/>
        </p:nvSpPr>
        <p:spPr>
          <a:xfrm>
            <a:off x="661475" y="4937224"/>
            <a:ext cx="10868745" cy="1176139"/>
          </a:xfrm>
          <a:prstGeom prst="roundRect">
            <a:avLst>
              <a:gd name="adj" fmla="val 1929"/>
            </a:avLst>
          </a:prstGeom>
          <a:solidFill>
            <a:srgbClr val="CCD7FF"/>
          </a:solidFill>
          <a:ln/>
        </p:spPr>
      </p:sp>
      <p:pic>
        <p:nvPicPr>
          <p:cNvPr id="13" name="Image 1" descr="preencoded.png"/>
          <p:cNvPicPr>
            <a:picLocks noChangeAspect="1"/>
          </p:cNvPicPr>
          <p:nvPr/>
        </p:nvPicPr>
        <p:blipFill>
          <a:blip r:embed="rId3"/>
          <a:stretch>
            <a:fillRect/>
          </a:stretch>
        </p:blipFill>
        <p:spPr>
          <a:xfrm>
            <a:off x="812680" y="5139928"/>
            <a:ext cx="189007" cy="151209"/>
          </a:xfrm>
          <a:prstGeom prst="rect">
            <a:avLst/>
          </a:prstGeom>
        </p:spPr>
      </p:pic>
      <p:sp>
        <p:nvSpPr>
          <p:cNvPr id="14" name="Text 10"/>
          <p:cNvSpPr/>
          <p:nvPr/>
        </p:nvSpPr>
        <p:spPr>
          <a:xfrm>
            <a:off x="1152893" y="5095974"/>
            <a:ext cx="10226122" cy="870744"/>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000000"/>
                </a:solidFill>
                <a:latin typeface="Heebo" pitchFamily="34" charset="0"/>
                <a:ea typeface="Heebo" pitchFamily="34" charset="-122"/>
                <a:cs typeface="Heebo" pitchFamily="34" charset="-120"/>
              </a:rPr>
              <a:t>The </a:t>
            </a:r>
            <a:r>
              <a:rPr lang="en-US" sz="1150" b="1" dirty="0">
                <a:solidFill>
                  <a:srgbClr val="000000"/>
                </a:solidFill>
                <a:latin typeface="Heebo Bold" pitchFamily="34" charset="0"/>
                <a:ea typeface="Heebo Bold" pitchFamily="34" charset="-122"/>
                <a:cs typeface="Heebo Bold" pitchFamily="34" charset="-120"/>
              </a:rPr>
              <a:t>VIP customer group</a:t>
            </a:r>
            <a:r>
              <a:rPr lang="en-US" sz="1150" dirty="0">
                <a:solidFill>
                  <a:srgbClr val="000000"/>
                </a:solidFill>
                <a:latin typeface="Heebo" pitchFamily="34" charset="0"/>
                <a:ea typeface="Heebo" pitchFamily="34" charset="-122"/>
                <a:cs typeface="Heebo" pitchFamily="34" charset="-120"/>
              </a:rPr>
              <a:t> contributed the highest profit during the analysis period, making it the company's most valuable customer segment in terms of profitability. Their significant financial contribution highlights the importance of retaining and nurturing these customers. Management should strengthen relationships with VIP customers through loyalty programs, personalized offers, and exceptional customer service to encourage repeat business and sustain long-term profitability.</a:t>
            </a:r>
            <a:endParaRPr lang="en-US" sz="1150" dirty="0"/>
          </a:p>
        </p:txBody>
      </p:sp>
    </p:spTree>
    <p:extLst>
      <p:ext uri="{BB962C8B-B14F-4D97-AF65-F5344CB8AC3E}">
        <p14:creationId xmlns:p14="http://schemas.microsoft.com/office/powerpoint/2010/main" val="14309005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978918"/>
            <a:ext cx="3227902" cy="287139"/>
          </a:xfrm>
          <a:prstGeom prst="roundRect">
            <a:avLst>
              <a:gd name="adj" fmla="val 7899"/>
            </a:avLst>
          </a:prstGeom>
          <a:solidFill>
            <a:srgbClr val="CCD7FF"/>
          </a:solidFill>
          <a:ln/>
        </p:spPr>
      </p:sp>
      <p:sp>
        <p:nvSpPr>
          <p:cNvPr id="3" name="Text 1"/>
          <p:cNvSpPr/>
          <p:nvPr/>
        </p:nvSpPr>
        <p:spPr>
          <a:xfrm>
            <a:off x="774879" y="2035572"/>
            <a:ext cx="3610678"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SALES CHANNEL PERFORMANCE ANALYSIS</a:t>
            </a:r>
            <a:endParaRPr lang="en-US" sz="1150" dirty="0"/>
          </a:p>
        </p:txBody>
      </p:sp>
      <p:sp>
        <p:nvSpPr>
          <p:cNvPr id="4" name="Text 2"/>
          <p:cNvSpPr/>
          <p:nvPr/>
        </p:nvSpPr>
        <p:spPr>
          <a:xfrm>
            <a:off x="661475" y="234166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Q1. Which sales channel generate highest revenue?</a:t>
            </a:r>
            <a:endParaRPr lang="en-US" sz="3700" dirty="0"/>
          </a:p>
        </p:txBody>
      </p:sp>
      <p:sp>
        <p:nvSpPr>
          <p:cNvPr id="5" name="Shape 3"/>
          <p:cNvSpPr/>
          <p:nvPr/>
        </p:nvSpPr>
        <p:spPr>
          <a:xfrm>
            <a:off x="661475" y="3215779"/>
            <a:ext cx="10868745" cy="1663204"/>
          </a:xfrm>
          <a:prstGeom prst="roundRect">
            <a:avLst>
              <a:gd name="adj" fmla="val 1705"/>
            </a:avLst>
          </a:prstGeom>
          <a:solidFill>
            <a:srgbClr val="CCD7FF"/>
          </a:solidFill>
          <a:ln/>
        </p:spPr>
      </p:sp>
      <p:pic>
        <p:nvPicPr>
          <p:cNvPr id="6" name="Image 0" descr="preencoded.png"/>
          <p:cNvPicPr>
            <a:picLocks noChangeAspect="1"/>
          </p:cNvPicPr>
          <p:nvPr/>
        </p:nvPicPr>
        <p:blipFill>
          <a:blip r:embed="rId3"/>
          <a:stretch>
            <a:fillRect/>
          </a:stretch>
        </p:blipFill>
        <p:spPr>
          <a:xfrm>
            <a:off x="850482" y="3483471"/>
            <a:ext cx="236234" cy="189012"/>
          </a:xfrm>
          <a:prstGeom prst="rect">
            <a:avLst/>
          </a:prstGeom>
        </p:spPr>
      </p:pic>
      <p:sp>
        <p:nvSpPr>
          <p:cNvPr id="7" name="Text 4"/>
          <p:cNvSpPr/>
          <p:nvPr/>
        </p:nvSpPr>
        <p:spPr>
          <a:xfrm>
            <a:off x="1275723" y="3452019"/>
            <a:ext cx="10065490"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Heebo" pitchFamily="34" charset="0"/>
                <a:ea typeface="Heebo" pitchFamily="34" charset="-122"/>
                <a:cs typeface="Heebo" pitchFamily="34" charset="-120"/>
              </a:rPr>
              <a:t>The </a:t>
            </a:r>
            <a:r>
              <a:rPr lang="en-US" sz="1450" b="1" dirty="0">
                <a:solidFill>
                  <a:srgbClr val="000000"/>
                </a:solidFill>
                <a:latin typeface="Heebo Bold" pitchFamily="34" charset="0"/>
                <a:ea typeface="Heebo Bold" pitchFamily="34" charset="-122"/>
                <a:cs typeface="Heebo Bold" pitchFamily="34" charset="-120"/>
              </a:rPr>
              <a:t>Website</a:t>
            </a:r>
            <a:r>
              <a:rPr lang="en-US" sz="1450" dirty="0">
                <a:solidFill>
                  <a:srgbClr val="000000"/>
                </a:solidFill>
                <a:latin typeface="Heebo" pitchFamily="34" charset="0"/>
                <a:ea typeface="Heebo" pitchFamily="34" charset="-122"/>
                <a:cs typeface="Heebo" pitchFamily="34" charset="-120"/>
              </a:rPr>
              <a:t> sales channel generated the highest revenue during the analysis period, making it the company's highest-performing channel in terms of sales. Its strong revenue contribution highlights its strategic importance to overall business performance. Management should continue investing in this channel by enhancing the customer experience, maintaining product availability, and supporting targeted marketing campaigns to sustain long-term revenue growth.</a:t>
            </a:r>
            <a:endParaRPr lang="en-US" sz="1450" dirty="0"/>
          </a:p>
        </p:txBody>
      </p:sp>
    </p:spTree>
    <p:extLst>
      <p:ext uri="{BB962C8B-B14F-4D97-AF65-F5344CB8AC3E}">
        <p14:creationId xmlns:p14="http://schemas.microsoft.com/office/powerpoint/2010/main" val="298912522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768945"/>
            <a:ext cx="2905648" cy="258465"/>
          </a:xfrm>
          <a:prstGeom prst="roundRect">
            <a:avLst>
              <a:gd name="adj" fmla="val 7898"/>
            </a:avLst>
          </a:prstGeom>
          <a:solidFill>
            <a:srgbClr val="CCD7FF"/>
          </a:solidFill>
          <a:ln/>
        </p:spPr>
      </p:sp>
      <p:sp>
        <p:nvSpPr>
          <p:cNvPr id="3" name="Text 1"/>
          <p:cNvSpPr/>
          <p:nvPr/>
        </p:nvSpPr>
        <p:spPr>
          <a:xfrm>
            <a:off x="763469" y="819944"/>
            <a:ext cx="3311244" cy="156468"/>
          </a:xfrm>
          <a:prstGeom prst="rect">
            <a:avLst/>
          </a:prstGeom>
          <a:noFill/>
          <a:ln/>
        </p:spPr>
        <p:txBody>
          <a:bodyPr wrap="none" lIns="0" tIns="0" rIns="0" bIns="0" rtlCol="0" anchor="t"/>
          <a:lstStyle/>
          <a:p>
            <a:pPr marL="0" indent="0" algn="l">
              <a:lnSpc>
                <a:spcPct val="96000"/>
              </a:lnSpc>
              <a:buNone/>
            </a:pPr>
            <a:r>
              <a:rPr lang="en-US" sz="1050" dirty="0">
                <a:solidFill>
                  <a:srgbClr val="4C4C4D"/>
                </a:solidFill>
                <a:latin typeface="Heebo" pitchFamily="34" charset="0"/>
                <a:ea typeface="Heebo" pitchFamily="34" charset="-122"/>
                <a:cs typeface="Heebo" pitchFamily="34" charset="-120"/>
              </a:rPr>
              <a:t>SALES CHANNEL PERFORMANCE ANALYSIS</a:t>
            </a:r>
            <a:endParaRPr lang="en-US" sz="1050" dirty="0"/>
          </a:p>
        </p:txBody>
      </p:sp>
      <p:sp>
        <p:nvSpPr>
          <p:cNvPr id="4" name="Text 2"/>
          <p:cNvSpPr/>
          <p:nvPr/>
        </p:nvSpPr>
        <p:spPr>
          <a:xfrm>
            <a:off x="661475" y="1088628"/>
            <a:ext cx="10868745" cy="531614"/>
          </a:xfrm>
          <a:prstGeom prst="rect">
            <a:avLst/>
          </a:prstGeom>
          <a:noFill/>
          <a:ln/>
        </p:spPr>
        <p:txBody>
          <a:bodyPr wrap="none" lIns="0" tIns="0" rIns="0" bIns="0" rtlCol="0" anchor="t"/>
          <a:lstStyle/>
          <a:p>
            <a:pPr marL="0" indent="0" algn="l">
              <a:lnSpc>
                <a:spcPct val="104000"/>
              </a:lnSpc>
              <a:buNone/>
            </a:pPr>
            <a:r>
              <a:rPr lang="en-US" sz="3300" dirty="0">
                <a:solidFill>
                  <a:srgbClr val="152D47"/>
                </a:solidFill>
                <a:latin typeface="Crimson Pro SemiBold" pitchFamily="34" charset="0"/>
                <a:ea typeface="Crimson Pro SemiBold" pitchFamily="34" charset="-122"/>
                <a:cs typeface="Crimson Pro SemiBold" pitchFamily="34" charset="-120"/>
              </a:rPr>
              <a:t>Q2. Which sales channel generate highest profit?</a:t>
            </a:r>
            <a:endParaRPr lang="en-US" sz="3300" dirty="0"/>
          </a:p>
        </p:txBody>
      </p:sp>
      <p:sp>
        <p:nvSpPr>
          <p:cNvPr id="5" name="Shape 3"/>
          <p:cNvSpPr/>
          <p:nvPr/>
        </p:nvSpPr>
        <p:spPr>
          <a:xfrm>
            <a:off x="661475" y="1849834"/>
            <a:ext cx="10868745" cy="1409998"/>
          </a:xfrm>
          <a:prstGeom prst="roundRect">
            <a:avLst>
              <a:gd name="adj" fmla="val 1810"/>
            </a:avLst>
          </a:prstGeom>
          <a:solidFill>
            <a:srgbClr val="CCD7FF"/>
          </a:solidFill>
          <a:ln/>
        </p:spPr>
      </p:sp>
      <p:pic>
        <p:nvPicPr>
          <p:cNvPr id="6" name="Image 0" descr="preencoded.png"/>
          <p:cNvPicPr>
            <a:picLocks noChangeAspect="1"/>
          </p:cNvPicPr>
          <p:nvPr/>
        </p:nvPicPr>
        <p:blipFill>
          <a:blip r:embed="rId3"/>
          <a:stretch>
            <a:fillRect/>
          </a:stretch>
        </p:blipFill>
        <p:spPr>
          <a:xfrm>
            <a:off x="831532" y="2084983"/>
            <a:ext cx="212620" cy="170061"/>
          </a:xfrm>
          <a:prstGeom prst="rect">
            <a:avLst/>
          </a:prstGeom>
        </p:spPr>
      </p:pic>
      <p:sp>
        <p:nvSpPr>
          <p:cNvPr id="7" name="Text 4"/>
          <p:cNvSpPr/>
          <p:nvPr/>
        </p:nvSpPr>
        <p:spPr>
          <a:xfrm>
            <a:off x="1214209" y="2045395"/>
            <a:ext cx="10145955" cy="1034256"/>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000000"/>
                </a:solidFill>
                <a:latin typeface="Heebo" pitchFamily="34" charset="0"/>
                <a:ea typeface="Heebo" pitchFamily="34" charset="-122"/>
                <a:cs typeface="Heebo" pitchFamily="34" charset="-120"/>
              </a:rPr>
              <a:t>The </a:t>
            </a:r>
            <a:r>
              <a:rPr lang="en-US" sz="1300" b="1" dirty="0">
                <a:solidFill>
                  <a:srgbClr val="000000"/>
                </a:solidFill>
                <a:latin typeface="Heebo Bold" pitchFamily="34" charset="0"/>
                <a:ea typeface="Heebo Bold" pitchFamily="34" charset="-122"/>
                <a:cs typeface="Heebo Bold" pitchFamily="34" charset="-120"/>
              </a:rPr>
              <a:t>Website</a:t>
            </a:r>
            <a:r>
              <a:rPr lang="en-US" sz="1300" dirty="0">
                <a:solidFill>
                  <a:srgbClr val="000000"/>
                </a:solidFill>
                <a:latin typeface="Heebo" pitchFamily="34" charset="0"/>
                <a:ea typeface="Heebo" pitchFamily="34" charset="-122"/>
                <a:cs typeface="Heebo" pitchFamily="34" charset="-120"/>
              </a:rPr>
              <a:t> sales channel generated the highest profit during the analysis period, making it the company's most valuable channel in terms of profitability. Its strong contribution to overall earnings highlights its strategic importance to business performance. Management should continue investing in this channel by maintaining product availability, optimizing the customer experience, and supporting targeted marketing campaigns to sustain long-term profit growth.</a:t>
            </a:r>
            <a:endParaRPr lang="en-US" sz="1300" dirty="0"/>
          </a:p>
        </p:txBody>
      </p:sp>
      <p:sp>
        <p:nvSpPr>
          <p:cNvPr id="8" name="Shape 5"/>
          <p:cNvSpPr/>
          <p:nvPr/>
        </p:nvSpPr>
        <p:spPr>
          <a:xfrm>
            <a:off x="661475" y="3474541"/>
            <a:ext cx="10868745" cy="19050"/>
          </a:xfrm>
          <a:prstGeom prst="roundRect">
            <a:avLst>
              <a:gd name="adj" fmla="val 59999"/>
            </a:avLst>
          </a:prstGeom>
          <a:solidFill>
            <a:srgbClr val="4C4C4D">
              <a:alpha val="50000"/>
            </a:srgbClr>
          </a:solidFill>
          <a:ln/>
        </p:spPr>
      </p:sp>
      <p:sp>
        <p:nvSpPr>
          <p:cNvPr id="9" name="Text 6"/>
          <p:cNvSpPr/>
          <p:nvPr/>
        </p:nvSpPr>
        <p:spPr>
          <a:xfrm>
            <a:off x="661475" y="3765649"/>
            <a:ext cx="10868745" cy="425252"/>
          </a:xfrm>
          <a:prstGeom prst="rect">
            <a:avLst/>
          </a:prstGeom>
          <a:noFill/>
          <a:ln/>
        </p:spPr>
        <p:txBody>
          <a:bodyPr wrap="none" lIns="0" tIns="0" rIns="0" bIns="0" rtlCol="0" anchor="t"/>
          <a:lstStyle/>
          <a:p>
            <a:pPr marL="0" indent="0" algn="l">
              <a:lnSpc>
                <a:spcPct val="104000"/>
              </a:lnSpc>
              <a:buNone/>
            </a:pPr>
            <a:r>
              <a:rPr lang="en-US" sz="2650" dirty="0">
                <a:solidFill>
                  <a:srgbClr val="152D47"/>
                </a:solidFill>
                <a:latin typeface="Crimson Pro SemiBold" pitchFamily="34" charset="0"/>
                <a:ea typeface="Crimson Pro SemiBold" pitchFamily="34" charset="-122"/>
                <a:cs typeface="Crimson Pro SemiBold" pitchFamily="34" charset="-120"/>
              </a:rPr>
              <a:t>Q3. What is the profit margin by sales channel?</a:t>
            </a:r>
            <a:endParaRPr lang="en-US" sz="2650" dirty="0"/>
          </a:p>
        </p:txBody>
      </p:sp>
      <p:sp>
        <p:nvSpPr>
          <p:cNvPr id="10" name="Shape 7"/>
          <p:cNvSpPr/>
          <p:nvPr/>
        </p:nvSpPr>
        <p:spPr>
          <a:xfrm>
            <a:off x="661475" y="4420493"/>
            <a:ext cx="10868745" cy="1668562"/>
          </a:xfrm>
          <a:prstGeom prst="roundRect">
            <a:avLst>
              <a:gd name="adj" fmla="val 1529"/>
            </a:avLst>
          </a:prstGeom>
          <a:solidFill>
            <a:srgbClr val="CCD7FF"/>
          </a:solidFill>
          <a:ln/>
        </p:spPr>
      </p:sp>
      <p:pic>
        <p:nvPicPr>
          <p:cNvPr id="11" name="Image 1" descr="preencoded.png"/>
          <p:cNvPicPr>
            <a:picLocks noChangeAspect="1"/>
          </p:cNvPicPr>
          <p:nvPr/>
        </p:nvPicPr>
        <p:blipFill>
          <a:blip r:embed="rId3"/>
          <a:stretch>
            <a:fillRect/>
          </a:stretch>
        </p:blipFill>
        <p:spPr>
          <a:xfrm>
            <a:off x="831532" y="4655641"/>
            <a:ext cx="212620" cy="170061"/>
          </a:xfrm>
          <a:prstGeom prst="rect">
            <a:avLst/>
          </a:prstGeom>
        </p:spPr>
      </p:pic>
      <p:sp>
        <p:nvSpPr>
          <p:cNvPr id="12" name="Text 8"/>
          <p:cNvSpPr/>
          <p:nvPr/>
        </p:nvSpPr>
        <p:spPr>
          <a:xfrm>
            <a:off x="1214209" y="4616053"/>
            <a:ext cx="10145955" cy="1292820"/>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000000"/>
                </a:solidFill>
                <a:latin typeface="Heebo" pitchFamily="34" charset="0"/>
                <a:ea typeface="Heebo" pitchFamily="34" charset="-122"/>
                <a:cs typeface="Heebo" pitchFamily="34" charset="-120"/>
              </a:rPr>
              <a:t>The </a:t>
            </a:r>
            <a:r>
              <a:rPr lang="en-US" sz="1300" b="1" dirty="0">
                <a:solidFill>
                  <a:srgbClr val="000000"/>
                </a:solidFill>
                <a:latin typeface="Heebo Bold" pitchFamily="34" charset="0"/>
                <a:ea typeface="Heebo Bold" pitchFamily="34" charset="-122"/>
                <a:cs typeface="Heebo Bold" pitchFamily="34" charset="-120"/>
              </a:rPr>
              <a:t>Marketplace</a:t>
            </a:r>
            <a:r>
              <a:rPr lang="en-US" sz="1300" dirty="0">
                <a:solidFill>
                  <a:srgbClr val="000000"/>
                </a:solidFill>
                <a:latin typeface="Heebo" pitchFamily="34" charset="0"/>
                <a:ea typeface="Heebo" pitchFamily="34" charset="-122"/>
                <a:cs typeface="Heebo" pitchFamily="34" charset="-120"/>
              </a:rPr>
              <a:t> sales channel achieved the highest profit margin (</a:t>
            </a:r>
            <a:r>
              <a:rPr lang="en-US" sz="1300" b="1" dirty="0">
                <a:solidFill>
                  <a:srgbClr val="000000"/>
                </a:solidFill>
                <a:latin typeface="Heebo Bold" pitchFamily="34" charset="0"/>
                <a:ea typeface="Heebo Bold" pitchFamily="34" charset="-122"/>
                <a:cs typeface="Heebo Bold" pitchFamily="34" charset="-120"/>
              </a:rPr>
              <a:t>37.16%</a:t>
            </a:r>
            <a:r>
              <a:rPr lang="en-US" sz="1300" dirty="0">
                <a:solidFill>
                  <a:srgbClr val="000000"/>
                </a:solidFill>
                <a:latin typeface="Heebo" pitchFamily="34" charset="0"/>
                <a:ea typeface="Heebo" pitchFamily="34" charset="-122"/>
                <a:cs typeface="Heebo" pitchFamily="34" charset="-120"/>
              </a:rPr>
              <a:t>), closely followed by the Website, Mobile App, and Social Commerce channels. The small differences in profit margins indicate that the company maintains consistent profitability across all sales channels rather than relying on a single high-performing channel. Management should continue supporting all channels while monitoring the Marketplace channel to preserve its slight profitability advantage and applying successful practices across the business where appropriate.</a:t>
            </a:r>
            <a:endParaRPr lang="en-US" sz="1300" dirty="0"/>
          </a:p>
        </p:txBody>
      </p:sp>
    </p:spTree>
    <p:extLst>
      <p:ext uri="{BB962C8B-B14F-4D97-AF65-F5344CB8AC3E}">
        <p14:creationId xmlns:p14="http://schemas.microsoft.com/office/powerpoint/2010/main" val="18533943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844947"/>
            <a:ext cx="2007145" cy="272752"/>
          </a:xfrm>
          <a:prstGeom prst="roundRect">
            <a:avLst>
              <a:gd name="adj" fmla="val 7900"/>
            </a:avLst>
          </a:prstGeom>
          <a:solidFill>
            <a:srgbClr val="CCD7FF"/>
          </a:solidFill>
          <a:ln/>
        </p:spPr>
      </p:sp>
      <p:sp>
        <p:nvSpPr>
          <p:cNvPr id="3" name="Text 1"/>
          <p:cNvSpPr/>
          <p:nvPr/>
        </p:nvSpPr>
        <p:spPr>
          <a:xfrm>
            <a:off x="769125" y="898723"/>
            <a:ext cx="2401431" cy="165199"/>
          </a:xfrm>
          <a:prstGeom prst="rect">
            <a:avLst/>
          </a:prstGeom>
          <a:noFill/>
          <a:ln/>
        </p:spPr>
        <p:txBody>
          <a:bodyPr wrap="none" lIns="0" tIns="0" rIns="0" bIns="0" rtlCol="0" anchor="t"/>
          <a:lstStyle/>
          <a:p>
            <a:pPr marL="0" indent="0" algn="l">
              <a:lnSpc>
                <a:spcPct val="96000"/>
              </a:lnSpc>
              <a:buNone/>
            </a:pPr>
            <a:r>
              <a:rPr lang="en-US" sz="1100" dirty="0">
                <a:solidFill>
                  <a:srgbClr val="4C4C4D"/>
                </a:solidFill>
                <a:latin typeface="Heebo" pitchFamily="34" charset="0"/>
                <a:ea typeface="Heebo" pitchFamily="34" charset="-122"/>
                <a:cs typeface="Heebo" pitchFamily="34" charset="-120"/>
              </a:rPr>
              <a:t>SALES CHANNEL ANALYSIS</a:t>
            </a:r>
            <a:endParaRPr lang="en-US" sz="1100" dirty="0"/>
          </a:p>
        </p:txBody>
      </p:sp>
      <p:sp>
        <p:nvSpPr>
          <p:cNvPr id="4" name="Text 2"/>
          <p:cNvSpPr/>
          <p:nvPr/>
        </p:nvSpPr>
        <p:spPr>
          <a:xfrm>
            <a:off x="661475" y="1185863"/>
            <a:ext cx="10868745" cy="561181"/>
          </a:xfrm>
          <a:prstGeom prst="rect">
            <a:avLst/>
          </a:prstGeom>
          <a:noFill/>
          <a:ln/>
        </p:spPr>
        <p:txBody>
          <a:bodyPr wrap="none" lIns="0" tIns="0" rIns="0" bIns="0" rtlCol="0" anchor="t"/>
          <a:lstStyle/>
          <a:p>
            <a:pPr marL="0" indent="0" algn="l">
              <a:lnSpc>
                <a:spcPct val="104000"/>
              </a:lnSpc>
              <a:buNone/>
            </a:pPr>
            <a:r>
              <a:rPr lang="en-US" sz="3500" dirty="0">
                <a:solidFill>
                  <a:srgbClr val="152D47"/>
                </a:solidFill>
                <a:latin typeface="Crimson Pro SemiBold" pitchFamily="34" charset="0"/>
                <a:ea typeface="Crimson Pro SemiBold" pitchFamily="34" charset="-122"/>
                <a:cs typeface="Crimson Pro SemiBold" pitchFamily="34" charset="-120"/>
              </a:rPr>
              <a:t>Sales Channel Analysis</a:t>
            </a:r>
            <a:endParaRPr lang="en-US" sz="3500" dirty="0"/>
          </a:p>
        </p:txBody>
      </p:sp>
      <p:sp>
        <p:nvSpPr>
          <p:cNvPr id="5" name="Text 3"/>
          <p:cNvSpPr/>
          <p:nvPr/>
        </p:nvSpPr>
        <p:spPr>
          <a:xfrm>
            <a:off x="661475" y="2173486"/>
            <a:ext cx="5215303" cy="560983"/>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152D47"/>
                </a:solidFill>
                <a:latin typeface="Crimson Pro SemiBold" pitchFamily="34" charset="0"/>
                <a:ea typeface="Crimson Pro SemiBold" pitchFamily="34" charset="-122"/>
                <a:cs typeface="Crimson Pro SemiBold" pitchFamily="34" charset="-120"/>
              </a:rPr>
              <a:t>Q4. Which sales channels have high sales but low profitability?</a:t>
            </a:r>
            <a:endParaRPr lang="en-US" sz="1750" dirty="0"/>
          </a:p>
        </p:txBody>
      </p:sp>
      <p:sp>
        <p:nvSpPr>
          <p:cNvPr id="6" name="Text 4"/>
          <p:cNvSpPr/>
          <p:nvPr/>
        </p:nvSpPr>
        <p:spPr>
          <a:xfrm>
            <a:off x="661475" y="2905026"/>
            <a:ext cx="5215303" cy="2954437"/>
          </a:xfrm>
          <a:prstGeom prst="rect">
            <a:avLst/>
          </a:prstGeom>
          <a:noFill/>
          <a:ln/>
        </p:spPr>
        <p:txBody>
          <a:bodyPr wrap="square" lIns="0" tIns="0" rIns="0" bIns="0" rtlCol="0" anchor="t"/>
          <a:lstStyle/>
          <a:p>
            <a:pPr marL="0" indent="0" algn="l">
              <a:lnSpc>
                <a:spcPct val="130000"/>
              </a:lnSpc>
              <a:spcAft>
                <a:spcPts val="1200"/>
              </a:spcAft>
              <a:buNone/>
            </a:pPr>
            <a:r>
              <a:rPr lang="en-US" sz="1400" b="1" dirty="0">
                <a:solidFill>
                  <a:srgbClr val="4C4C4D"/>
                </a:solidFill>
                <a:latin typeface="Heebo Bold" pitchFamily="34" charset="0"/>
                <a:ea typeface="Heebo Bold" pitchFamily="34" charset="-122"/>
                <a:cs typeface="Heebo Bold" pitchFamily="34" charset="-120"/>
              </a:rPr>
              <a:t>Insight:</a:t>
            </a:r>
            <a:endParaRPr lang="en-US" sz="1400" dirty="0"/>
          </a:p>
          <a:p>
            <a:pPr marL="0" indent="0" algn="l">
              <a:lnSpc>
                <a:spcPct val="130000"/>
              </a:lnSpc>
              <a:buNone/>
            </a:pPr>
            <a:r>
              <a:rPr lang="en-US" sz="1400" dirty="0">
                <a:solidFill>
                  <a:srgbClr val="4C4C4D"/>
                </a:solidFill>
                <a:latin typeface="Heebo" pitchFamily="34" charset="0"/>
                <a:ea typeface="Heebo" pitchFamily="34" charset="-122"/>
                <a:cs typeface="Heebo" pitchFamily="34" charset="-120"/>
              </a:rPr>
              <a:t>The analysis found </a:t>
            </a:r>
            <a:r>
              <a:rPr lang="en-US" sz="1400" b="1" dirty="0">
                <a:solidFill>
                  <a:srgbClr val="4C4C4D"/>
                </a:solidFill>
                <a:latin typeface="Heebo Bold" pitchFamily="34" charset="0"/>
                <a:ea typeface="Heebo Bold" pitchFamily="34" charset="-122"/>
                <a:cs typeface="Heebo Bold" pitchFamily="34" charset="-120"/>
              </a:rPr>
              <a:t>no sales channel with high revenue and low profitability</a:t>
            </a:r>
            <a:r>
              <a:rPr lang="en-US" sz="1400" dirty="0">
                <a:solidFill>
                  <a:srgbClr val="4C4C4D"/>
                </a:solidFill>
                <a:latin typeface="Heebo" pitchFamily="34" charset="0"/>
                <a:ea typeface="Heebo" pitchFamily="34" charset="-122"/>
                <a:cs typeface="Heebo" pitchFamily="34" charset="-120"/>
              </a:rPr>
              <a:t>, indicating that the company's major sales channels are generating revenue without compromising profit. This suggests that the current pricing and operational strategies are effectively supporting profitable growth across all channels. Management should continue investing in and supporting all sales channels while regularly monitoring their performance to ensure that both revenue growth and profitability remain sustainable.</a:t>
            </a:r>
            <a:endParaRPr lang="en-US" sz="1400" dirty="0"/>
          </a:p>
        </p:txBody>
      </p:sp>
      <p:sp>
        <p:nvSpPr>
          <p:cNvPr id="7" name="Text 5"/>
          <p:cNvSpPr/>
          <p:nvPr/>
        </p:nvSpPr>
        <p:spPr>
          <a:xfrm>
            <a:off x="6321267" y="2173486"/>
            <a:ext cx="5215303" cy="280491"/>
          </a:xfrm>
          <a:prstGeom prst="rect">
            <a:avLst/>
          </a:prstGeom>
          <a:noFill/>
          <a:ln/>
        </p:spPr>
        <p:txBody>
          <a:bodyPr wrap="none" lIns="0" tIns="0" rIns="0" bIns="0" rtlCol="0" anchor="t"/>
          <a:lstStyle/>
          <a:p>
            <a:pPr marL="0" indent="0" algn="l">
              <a:lnSpc>
                <a:spcPct val="104000"/>
              </a:lnSpc>
              <a:buNone/>
            </a:pPr>
            <a:r>
              <a:rPr lang="en-US" sz="1750" dirty="0">
                <a:solidFill>
                  <a:srgbClr val="152D47"/>
                </a:solidFill>
                <a:latin typeface="Crimson Pro SemiBold" pitchFamily="34" charset="0"/>
                <a:ea typeface="Crimson Pro SemiBold" pitchFamily="34" charset="-122"/>
                <a:cs typeface="Crimson Pro SemiBold" pitchFamily="34" charset="-120"/>
              </a:rPr>
              <a:t>Q5. Which channels receive the highest discount?</a:t>
            </a:r>
            <a:endParaRPr lang="en-US" sz="1750" dirty="0"/>
          </a:p>
        </p:txBody>
      </p:sp>
      <p:sp>
        <p:nvSpPr>
          <p:cNvPr id="8" name="Text 6"/>
          <p:cNvSpPr/>
          <p:nvPr/>
        </p:nvSpPr>
        <p:spPr>
          <a:xfrm>
            <a:off x="6321267" y="2624534"/>
            <a:ext cx="5215303" cy="2394248"/>
          </a:xfrm>
          <a:prstGeom prst="rect">
            <a:avLst/>
          </a:prstGeom>
          <a:noFill/>
          <a:ln/>
        </p:spPr>
        <p:txBody>
          <a:bodyPr wrap="square" lIns="0" tIns="0" rIns="0" bIns="0" rtlCol="0" anchor="t"/>
          <a:lstStyle/>
          <a:p>
            <a:pPr marL="0" indent="0" algn="l">
              <a:lnSpc>
                <a:spcPct val="130000"/>
              </a:lnSpc>
              <a:spcAft>
                <a:spcPts val="1200"/>
              </a:spcAft>
              <a:buNone/>
            </a:pPr>
            <a:r>
              <a:rPr lang="en-US" sz="1400" b="1" dirty="0">
                <a:solidFill>
                  <a:srgbClr val="4C4C4D"/>
                </a:solidFill>
                <a:latin typeface="Heebo Bold" pitchFamily="34" charset="0"/>
                <a:ea typeface="Heebo Bold" pitchFamily="34" charset="-122"/>
                <a:cs typeface="Heebo Bold" pitchFamily="34" charset="-120"/>
              </a:rPr>
              <a:t>Insight:</a:t>
            </a:r>
            <a:endParaRPr lang="en-US" sz="1400" dirty="0"/>
          </a:p>
          <a:p>
            <a:pPr marL="0" indent="0" algn="l">
              <a:lnSpc>
                <a:spcPct val="130000"/>
              </a:lnSpc>
              <a:buNone/>
            </a:pPr>
            <a:r>
              <a:rPr lang="en-US" sz="1400" dirty="0">
                <a:solidFill>
                  <a:srgbClr val="4C4C4D"/>
                </a:solidFill>
                <a:latin typeface="Heebo" pitchFamily="34" charset="0"/>
                <a:ea typeface="Heebo" pitchFamily="34" charset="-122"/>
                <a:cs typeface="Heebo" pitchFamily="34" charset="-120"/>
              </a:rPr>
              <a:t>The </a:t>
            </a:r>
            <a:r>
              <a:rPr lang="en-US" sz="1400" b="1" dirty="0">
                <a:solidFill>
                  <a:srgbClr val="4C4C4D"/>
                </a:solidFill>
                <a:latin typeface="Heebo Bold" pitchFamily="34" charset="0"/>
                <a:ea typeface="Heebo Bold" pitchFamily="34" charset="-122"/>
                <a:cs typeface="Heebo Bold" pitchFamily="34" charset="-120"/>
              </a:rPr>
              <a:t>Website</a:t>
            </a:r>
            <a:r>
              <a:rPr lang="en-US" sz="1400" dirty="0">
                <a:solidFill>
                  <a:srgbClr val="4C4C4D"/>
                </a:solidFill>
                <a:latin typeface="Heebo" pitchFamily="34" charset="0"/>
                <a:ea typeface="Heebo" pitchFamily="34" charset="-122"/>
                <a:cs typeface="Heebo" pitchFamily="34" charset="-120"/>
              </a:rPr>
              <a:t> sales channel received the highest total discount during the analysis period, indicating that it is the primary channel for promotional pricing activities. This suggests that discounts play an important role in driving sales through the Website. Management should regularly evaluate the effectiveness of these discounts to ensure they continue to increase sales while maintaining healthy profit margins.</a:t>
            </a:r>
            <a:endParaRPr lang="en-US" sz="1400" dirty="0"/>
          </a:p>
        </p:txBody>
      </p:sp>
    </p:spTree>
    <p:extLst>
      <p:ext uri="{BB962C8B-B14F-4D97-AF65-F5344CB8AC3E}">
        <p14:creationId xmlns:p14="http://schemas.microsoft.com/office/powerpoint/2010/main" val="33670510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350466"/>
            <a:ext cx="2112810" cy="287139"/>
          </a:xfrm>
          <a:prstGeom prst="roundRect">
            <a:avLst>
              <a:gd name="adj" fmla="val 7899"/>
            </a:avLst>
          </a:prstGeom>
          <a:solidFill>
            <a:srgbClr val="CCD7FF"/>
          </a:solidFill>
          <a:ln/>
        </p:spPr>
      </p:sp>
      <p:sp>
        <p:nvSpPr>
          <p:cNvPr id="3" name="Text 1"/>
          <p:cNvSpPr/>
          <p:nvPr/>
        </p:nvSpPr>
        <p:spPr>
          <a:xfrm>
            <a:off x="774879" y="1407120"/>
            <a:ext cx="2495587"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SALES CHANNEL ANALYSIS</a:t>
            </a:r>
            <a:endParaRPr lang="en-US" sz="1150" dirty="0"/>
          </a:p>
        </p:txBody>
      </p:sp>
      <p:sp>
        <p:nvSpPr>
          <p:cNvPr id="4" name="Text 2"/>
          <p:cNvSpPr/>
          <p:nvPr/>
        </p:nvSpPr>
        <p:spPr>
          <a:xfrm>
            <a:off x="661475" y="1713210"/>
            <a:ext cx="10868745"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Q6. Which sales channel provides the best balance between revenue and profit?</a:t>
            </a:r>
            <a:endParaRPr lang="en-US" sz="3700" dirty="0"/>
          </a:p>
        </p:txBody>
      </p:sp>
      <p:sp>
        <p:nvSpPr>
          <p:cNvPr id="5" name="Text 3"/>
          <p:cNvSpPr/>
          <p:nvPr/>
        </p:nvSpPr>
        <p:spPr>
          <a:xfrm>
            <a:off x="661475" y="3177977"/>
            <a:ext cx="10868745" cy="2329557"/>
          </a:xfrm>
          <a:prstGeom prst="rect">
            <a:avLst/>
          </a:prstGeom>
          <a:noFill/>
          <a:ln/>
        </p:spPr>
        <p:txBody>
          <a:bodyPr wrap="square" lIns="0" tIns="0" rIns="0" bIns="0" rtlCol="0" anchor="t"/>
          <a:lstStyle/>
          <a:p>
            <a:pPr marL="0" indent="0" algn="l">
              <a:lnSpc>
                <a:spcPct val="133000"/>
              </a:lnSpc>
              <a:spcAft>
                <a:spcPts val="1650"/>
              </a:spcAft>
              <a:buNone/>
            </a:pPr>
            <a:r>
              <a:rPr lang="en-US" sz="1450" b="1" dirty="0">
                <a:solidFill>
                  <a:srgbClr val="4C4C4D"/>
                </a:solidFill>
                <a:latin typeface="Heebo Bold" pitchFamily="34" charset="0"/>
                <a:ea typeface="Heebo Bold" pitchFamily="34" charset="-122"/>
                <a:cs typeface="Heebo Bold" pitchFamily="34" charset="-120"/>
              </a:rPr>
              <a:t>Insight:</a:t>
            </a:r>
            <a:endParaRPr lang="en-US" sz="1450" dirty="0"/>
          </a:p>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The </a:t>
            </a:r>
            <a:r>
              <a:rPr lang="en-US" sz="1450" b="1" dirty="0">
                <a:solidFill>
                  <a:srgbClr val="4C4C4D"/>
                </a:solidFill>
                <a:latin typeface="Heebo Bold" pitchFamily="34" charset="0"/>
                <a:ea typeface="Heebo Bold" pitchFamily="34" charset="-122"/>
                <a:cs typeface="Heebo Bold" pitchFamily="34" charset="-120"/>
              </a:rPr>
              <a:t>Website</a:t>
            </a:r>
            <a:r>
              <a:rPr lang="en-US" sz="1450" dirty="0">
                <a:solidFill>
                  <a:srgbClr val="4C4C4D"/>
                </a:solidFill>
                <a:latin typeface="Heebo" pitchFamily="34" charset="0"/>
                <a:ea typeface="Heebo" pitchFamily="34" charset="-122"/>
                <a:cs typeface="Heebo" pitchFamily="34" charset="-120"/>
              </a:rPr>
              <a:t> sales channel provides the best balance between revenue and profitability during the analysis period. It generated the highest total revenue (</a:t>
            </a:r>
            <a:r>
              <a:rPr lang="en-US" sz="1450" b="1" dirty="0">
                <a:solidFill>
                  <a:srgbClr val="4C4C4D"/>
                </a:solidFill>
                <a:latin typeface="Heebo Bold" pitchFamily="34" charset="0"/>
                <a:ea typeface="Heebo Bold" pitchFamily="34" charset="-122"/>
                <a:cs typeface="Heebo Bold" pitchFamily="34" charset="-120"/>
              </a:rPr>
              <a:t>18.98 million</a:t>
            </a:r>
            <a:r>
              <a:rPr lang="en-US" sz="1450" dirty="0">
                <a:solidFill>
                  <a:srgbClr val="4C4C4D"/>
                </a:solidFill>
                <a:latin typeface="Heebo" pitchFamily="34" charset="0"/>
                <a:ea typeface="Heebo" pitchFamily="34" charset="-122"/>
                <a:cs typeface="Heebo" pitchFamily="34" charset="-120"/>
              </a:rPr>
              <a:t>) and the highest total profit (</a:t>
            </a:r>
            <a:r>
              <a:rPr lang="en-US" sz="1450" b="1" dirty="0">
                <a:solidFill>
                  <a:srgbClr val="4C4C4D"/>
                </a:solidFill>
                <a:latin typeface="Heebo Bold" pitchFamily="34" charset="0"/>
                <a:ea typeface="Heebo Bold" pitchFamily="34" charset="-122"/>
                <a:cs typeface="Heebo Bold" pitchFamily="34" charset="-120"/>
              </a:rPr>
              <a:t>7.02 million</a:t>
            </a:r>
            <a:r>
              <a:rPr lang="en-US" sz="1450" dirty="0">
                <a:solidFill>
                  <a:srgbClr val="4C4C4D"/>
                </a:solidFill>
                <a:latin typeface="Heebo" pitchFamily="34" charset="0"/>
                <a:ea typeface="Heebo" pitchFamily="34" charset="-122"/>
                <a:cs typeface="Heebo" pitchFamily="34" charset="-120"/>
              </a:rPr>
              <a:t>) while maintaining a strong profit margin of </a:t>
            </a:r>
            <a:r>
              <a:rPr lang="en-US" sz="1450" b="1" dirty="0">
                <a:solidFill>
                  <a:srgbClr val="4C4C4D"/>
                </a:solidFill>
                <a:latin typeface="Heebo Bold" pitchFamily="34" charset="0"/>
                <a:ea typeface="Heebo Bold" pitchFamily="34" charset="-122"/>
                <a:cs typeface="Heebo Bold" pitchFamily="34" charset="-120"/>
              </a:rPr>
              <a:t>36.97%</a:t>
            </a:r>
            <a:r>
              <a:rPr lang="en-US" sz="1450" dirty="0">
                <a:solidFill>
                  <a:srgbClr val="4C4C4D"/>
                </a:solidFill>
                <a:latin typeface="Heebo" pitchFamily="34" charset="0"/>
                <a:ea typeface="Heebo" pitchFamily="34" charset="-122"/>
                <a:cs typeface="Heebo" pitchFamily="34" charset="-120"/>
              </a:rPr>
              <a:t>, which is very close to the highest margin achieved by any channel. This indicates that the Website is the company's strongest overall sales channel, delivering both high sales volume and healthy profitability. Management should continue prioritizing the Website by investing in customer experience, digital marketing, and product availability while maintaining its pricing strategy to sustain long-term revenue and profit growth.</a:t>
            </a:r>
            <a:endParaRPr lang="en-US" sz="1450" dirty="0"/>
          </a:p>
        </p:txBody>
      </p:sp>
    </p:spTree>
    <p:extLst>
      <p:ext uri="{BB962C8B-B14F-4D97-AF65-F5344CB8AC3E}">
        <p14:creationId xmlns:p14="http://schemas.microsoft.com/office/powerpoint/2010/main" val="417667086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674118"/>
            <a:ext cx="2864076" cy="287139"/>
          </a:xfrm>
          <a:prstGeom prst="roundRect">
            <a:avLst>
              <a:gd name="adj" fmla="val 7899"/>
            </a:avLst>
          </a:prstGeom>
          <a:solidFill>
            <a:srgbClr val="CCD7FF"/>
          </a:solidFill>
          <a:ln/>
        </p:spPr>
      </p:sp>
      <p:sp>
        <p:nvSpPr>
          <p:cNvPr id="3" name="Text 1"/>
          <p:cNvSpPr/>
          <p:nvPr/>
        </p:nvSpPr>
        <p:spPr>
          <a:xfrm>
            <a:off x="774879" y="1730772"/>
            <a:ext cx="3246852"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COUNTRIES PERFORMANCE ANALYSIS</a:t>
            </a:r>
            <a:endParaRPr lang="en-US" sz="1150" dirty="0"/>
          </a:p>
        </p:txBody>
      </p:sp>
      <p:sp>
        <p:nvSpPr>
          <p:cNvPr id="4" name="Text 2"/>
          <p:cNvSpPr/>
          <p:nvPr/>
        </p:nvSpPr>
        <p:spPr>
          <a:xfrm>
            <a:off x="661475" y="203686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Countries Performance Analysis</a:t>
            </a:r>
            <a:endParaRPr lang="en-US" sz="3700" dirty="0"/>
          </a:p>
        </p:txBody>
      </p:sp>
      <p:sp>
        <p:nvSpPr>
          <p:cNvPr id="5" name="Text 3"/>
          <p:cNvSpPr/>
          <p:nvPr/>
        </p:nvSpPr>
        <p:spPr>
          <a:xfrm>
            <a:off x="661475" y="2703116"/>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Q1. Which country generate the highest revenue?</a:t>
            </a:r>
            <a:endParaRPr lang="en-US" sz="2950" dirty="0"/>
          </a:p>
        </p:txBody>
      </p:sp>
      <p:sp>
        <p:nvSpPr>
          <p:cNvPr id="6" name="Text 4"/>
          <p:cNvSpPr/>
          <p:nvPr/>
        </p:nvSpPr>
        <p:spPr>
          <a:xfrm>
            <a:off x="661475" y="3459063"/>
            <a:ext cx="10868745" cy="1724720"/>
          </a:xfrm>
          <a:prstGeom prst="rect">
            <a:avLst/>
          </a:prstGeom>
          <a:noFill/>
          <a:ln/>
        </p:spPr>
        <p:txBody>
          <a:bodyPr wrap="square" lIns="0" tIns="0" rIns="0" bIns="0" rtlCol="0" anchor="t"/>
          <a:lstStyle/>
          <a:p>
            <a:pPr marL="0" indent="0" algn="l">
              <a:lnSpc>
                <a:spcPct val="133000"/>
              </a:lnSpc>
              <a:spcAft>
                <a:spcPts val="1650"/>
              </a:spcAft>
              <a:buNone/>
            </a:pPr>
            <a:r>
              <a:rPr lang="en-US" sz="1450" b="1" dirty="0">
                <a:solidFill>
                  <a:srgbClr val="4C4C4D"/>
                </a:solidFill>
                <a:latin typeface="Heebo Bold" pitchFamily="34" charset="0"/>
                <a:ea typeface="Heebo Bold" pitchFamily="34" charset="-122"/>
                <a:cs typeface="Heebo Bold" pitchFamily="34" charset="-120"/>
              </a:rPr>
              <a:t>Insight:</a:t>
            </a:r>
            <a:endParaRPr lang="en-US" sz="1450" dirty="0"/>
          </a:p>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The </a:t>
            </a:r>
            <a:r>
              <a:rPr lang="en-US" sz="1450" b="1" dirty="0">
                <a:solidFill>
                  <a:srgbClr val="4C4C4D"/>
                </a:solidFill>
                <a:latin typeface="Heebo Bold" pitchFamily="34" charset="0"/>
                <a:ea typeface="Heebo Bold" pitchFamily="34" charset="-122"/>
                <a:cs typeface="Heebo Bold" pitchFamily="34" charset="-120"/>
              </a:rPr>
              <a:t>United States</a:t>
            </a:r>
            <a:r>
              <a:rPr lang="en-US" sz="1450" dirty="0">
                <a:solidFill>
                  <a:srgbClr val="4C4C4D"/>
                </a:solidFill>
                <a:latin typeface="Heebo" pitchFamily="34" charset="0"/>
                <a:ea typeface="Heebo" pitchFamily="34" charset="-122"/>
                <a:cs typeface="Heebo" pitchFamily="34" charset="-120"/>
              </a:rPr>
              <a:t> generated the highest revenue during the analysis period, making it the company's largest revenue-generating market. Its strong sales performance highlights its strategic importance to the company's overall business growth and financial performance. Management should continue prioritizing this market by enhancing the customer experience, maintaining product availability, and supporting targeted marketing initiatives to sustain long-term revenue growth.</a:t>
            </a:r>
            <a:endParaRPr lang="en-US" sz="1450" dirty="0"/>
          </a:p>
        </p:txBody>
      </p:sp>
    </p:spTree>
    <p:extLst>
      <p:ext uri="{BB962C8B-B14F-4D97-AF65-F5344CB8AC3E}">
        <p14:creationId xmlns:p14="http://schemas.microsoft.com/office/powerpoint/2010/main" val="299755014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172071"/>
            <a:ext cx="2578135" cy="258465"/>
          </a:xfrm>
          <a:prstGeom prst="roundRect">
            <a:avLst>
              <a:gd name="adj" fmla="val 7898"/>
            </a:avLst>
          </a:prstGeom>
          <a:solidFill>
            <a:srgbClr val="CCD7FF"/>
          </a:solidFill>
          <a:ln/>
        </p:spPr>
      </p:sp>
      <p:sp>
        <p:nvSpPr>
          <p:cNvPr id="3" name="Text 1"/>
          <p:cNvSpPr/>
          <p:nvPr/>
        </p:nvSpPr>
        <p:spPr>
          <a:xfrm>
            <a:off x="763469" y="1223070"/>
            <a:ext cx="2983731" cy="156468"/>
          </a:xfrm>
          <a:prstGeom prst="rect">
            <a:avLst/>
          </a:prstGeom>
          <a:noFill/>
          <a:ln/>
        </p:spPr>
        <p:txBody>
          <a:bodyPr wrap="none" lIns="0" tIns="0" rIns="0" bIns="0" rtlCol="0" anchor="t"/>
          <a:lstStyle/>
          <a:p>
            <a:pPr marL="0" indent="0" algn="l">
              <a:lnSpc>
                <a:spcPct val="96000"/>
              </a:lnSpc>
              <a:buNone/>
            </a:pPr>
            <a:r>
              <a:rPr lang="en-US" sz="1050" dirty="0">
                <a:solidFill>
                  <a:srgbClr val="4C4C4D"/>
                </a:solidFill>
                <a:latin typeface="Heebo" pitchFamily="34" charset="0"/>
                <a:ea typeface="Heebo" pitchFamily="34" charset="-122"/>
                <a:cs typeface="Heebo" pitchFamily="34" charset="-120"/>
              </a:rPr>
              <a:t>COUNTRIES PERFORMANCE ANALYSIS</a:t>
            </a:r>
            <a:endParaRPr lang="en-US" sz="1050" dirty="0"/>
          </a:p>
        </p:txBody>
      </p:sp>
      <p:sp>
        <p:nvSpPr>
          <p:cNvPr id="4" name="Text 2"/>
          <p:cNvSpPr/>
          <p:nvPr/>
        </p:nvSpPr>
        <p:spPr>
          <a:xfrm>
            <a:off x="661475" y="1491754"/>
            <a:ext cx="10868745" cy="531614"/>
          </a:xfrm>
          <a:prstGeom prst="rect">
            <a:avLst/>
          </a:prstGeom>
          <a:noFill/>
          <a:ln/>
        </p:spPr>
        <p:txBody>
          <a:bodyPr wrap="none" lIns="0" tIns="0" rIns="0" bIns="0" rtlCol="0" anchor="t"/>
          <a:lstStyle/>
          <a:p>
            <a:pPr marL="0" indent="0" algn="l">
              <a:lnSpc>
                <a:spcPct val="104000"/>
              </a:lnSpc>
              <a:buNone/>
            </a:pPr>
            <a:r>
              <a:rPr lang="en-US" sz="3300" dirty="0">
                <a:solidFill>
                  <a:srgbClr val="152D47"/>
                </a:solidFill>
                <a:latin typeface="Crimson Pro SemiBold" pitchFamily="34" charset="0"/>
                <a:ea typeface="Crimson Pro SemiBold" pitchFamily="34" charset="-122"/>
                <a:cs typeface="Crimson Pro SemiBold" pitchFamily="34" charset="-120"/>
              </a:rPr>
              <a:t>Countries Performance Analysis</a:t>
            </a:r>
            <a:endParaRPr lang="en-US" sz="3300" dirty="0"/>
          </a:p>
        </p:txBody>
      </p:sp>
      <p:sp>
        <p:nvSpPr>
          <p:cNvPr id="5" name="Text 3"/>
          <p:cNvSpPr/>
          <p:nvPr/>
        </p:nvSpPr>
        <p:spPr>
          <a:xfrm>
            <a:off x="661475" y="2406055"/>
            <a:ext cx="5226911" cy="265708"/>
          </a:xfrm>
          <a:prstGeom prst="rect">
            <a:avLst/>
          </a:prstGeom>
          <a:noFill/>
          <a:ln/>
        </p:spPr>
        <p:txBody>
          <a:bodyPr wrap="none" lIns="0" tIns="0" rIns="0" bIns="0" rtlCol="0" anchor="t"/>
          <a:lstStyle/>
          <a:p>
            <a:pPr marL="0" indent="0" algn="l">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Q2. Which country generate the highest profit?</a:t>
            </a:r>
            <a:endParaRPr lang="en-US" sz="1650" dirty="0"/>
          </a:p>
        </p:txBody>
      </p:sp>
      <p:sp>
        <p:nvSpPr>
          <p:cNvPr id="6" name="Text 4"/>
          <p:cNvSpPr/>
          <p:nvPr/>
        </p:nvSpPr>
        <p:spPr>
          <a:xfrm>
            <a:off x="661475" y="2824857"/>
            <a:ext cx="5226911" cy="2723356"/>
          </a:xfrm>
          <a:prstGeom prst="rect">
            <a:avLst/>
          </a:prstGeom>
          <a:noFill/>
          <a:ln/>
        </p:spPr>
        <p:txBody>
          <a:bodyPr wrap="square" lIns="0" tIns="0" rIns="0" bIns="0" rtlCol="0" anchor="t"/>
          <a:lstStyle/>
          <a:p>
            <a:pPr marL="0" indent="0" algn="l">
              <a:lnSpc>
                <a:spcPct val="127000"/>
              </a:lnSpc>
              <a:spcAft>
                <a:spcPts val="1050"/>
              </a:spcAft>
              <a:buNone/>
            </a:pPr>
            <a:r>
              <a:rPr lang="en-US" sz="1300" b="1" dirty="0">
                <a:solidFill>
                  <a:srgbClr val="4C4C4D"/>
                </a:solidFill>
                <a:latin typeface="Heebo Bold" pitchFamily="34" charset="0"/>
                <a:ea typeface="Heebo Bold" pitchFamily="34" charset="-122"/>
                <a:cs typeface="Heebo Bold" pitchFamily="34" charset="-120"/>
              </a:rPr>
              <a:t>Insight:</a:t>
            </a:r>
            <a:endParaRPr lang="en-US" sz="1300" dirty="0"/>
          </a:p>
          <a:p>
            <a:pPr marL="0" indent="0" algn="l">
              <a:lnSpc>
                <a:spcPct val="127000"/>
              </a:lnSpc>
              <a:buNone/>
            </a:pPr>
            <a:r>
              <a:rPr lang="en-US" sz="1300" dirty="0">
                <a:solidFill>
                  <a:srgbClr val="4C4C4D"/>
                </a:solidFill>
                <a:latin typeface="Heebo" pitchFamily="34" charset="0"/>
                <a:ea typeface="Heebo" pitchFamily="34" charset="-122"/>
                <a:cs typeface="Heebo" pitchFamily="34" charset="-120"/>
              </a:rPr>
              <a:t>The </a:t>
            </a:r>
            <a:r>
              <a:rPr lang="en-US" sz="1300" b="1" dirty="0">
                <a:solidFill>
                  <a:srgbClr val="4C4C4D"/>
                </a:solidFill>
                <a:latin typeface="Heebo Bold" pitchFamily="34" charset="0"/>
                <a:ea typeface="Heebo Bold" pitchFamily="34" charset="-122"/>
                <a:cs typeface="Heebo Bold" pitchFamily="34" charset="-120"/>
              </a:rPr>
              <a:t>United States</a:t>
            </a:r>
            <a:r>
              <a:rPr lang="en-US" sz="1300" dirty="0">
                <a:solidFill>
                  <a:srgbClr val="4C4C4D"/>
                </a:solidFill>
                <a:latin typeface="Heebo" pitchFamily="34" charset="0"/>
                <a:ea typeface="Heebo" pitchFamily="34" charset="-122"/>
                <a:cs typeface="Heebo" pitchFamily="34" charset="-120"/>
              </a:rPr>
              <a:t> generated the highest profit during the analysis period, making it the company's most profitable market. Its strong contribution to overall earnings highlights its strategic importance to the business. Management should continue prioritizing this market by enhancing the customer experience, maintaining product availability, and supporting targeted marketing initiatives. At the same time, management should evaluate pricing strategies, operating costs, and promotional activities in lower-performing markets to identify opportunities for improving profitability.</a:t>
            </a:r>
            <a:endParaRPr lang="en-US" sz="1300" dirty="0"/>
          </a:p>
        </p:txBody>
      </p:sp>
      <p:sp>
        <p:nvSpPr>
          <p:cNvPr id="7" name="Text 5"/>
          <p:cNvSpPr/>
          <p:nvPr/>
        </p:nvSpPr>
        <p:spPr>
          <a:xfrm>
            <a:off x="6309659" y="2406055"/>
            <a:ext cx="5226911" cy="265708"/>
          </a:xfrm>
          <a:prstGeom prst="rect">
            <a:avLst/>
          </a:prstGeom>
          <a:noFill/>
          <a:ln/>
        </p:spPr>
        <p:txBody>
          <a:bodyPr wrap="none" lIns="0" tIns="0" rIns="0" bIns="0" rtlCol="0" anchor="t"/>
          <a:lstStyle/>
          <a:p>
            <a:pPr marL="0" indent="0" algn="l">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Q3. What is profit margin by country?</a:t>
            </a:r>
            <a:endParaRPr lang="en-US" sz="1650" dirty="0"/>
          </a:p>
        </p:txBody>
      </p:sp>
      <p:sp>
        <p:nvSpPr>
          <p:cNvPr id="8" name="Text 6"/>
          <p:cNvSpPr/>
          <p:nvPr/>
        </p:nvSpPr>
        <p:spPr>
          <a:xfrm>
            <a:off x="6309659" y="2824857"/>
            <a:ext cx="5226911" cy="2464792"/>
          </a:xfrm>
          <a:prstGeom prst="rect">
            <a:avLst/>
          </a:prstGeom>
          <a:noFill/>
          <a:ln/>
        </p:spPr>
        <p:txBody>
          <a:bodyPr wrap="square" lIns="0" tIns="0" rIns="0" bIns="0" rtlCol="0" anchor="t"/>
          <a:lstStyle/>
          <a:p>
            <a:pPr marL="0" indent="0" algn="l">
              <a:lnSpc>
                <a:spcPct val="127000"/>
              </a:lnSpc>
              <a:spcAft>
                <a:spcPts val="1050"/>
              </a:spcAft>
              <a:buNone/>
            </a:pPr>
            <a:r>
              <a:rPr lang="en-US" sz="1300" b="1" dirty="0">
                <a:solidFill>
                  <a:srgbClr val="4C4C4D"/>
                </a:solidFill>
                <a:latin typeface="Heebo Bold" pitchFamily="34" charset="0"/>
                <a:ea typeface="Heebo Bold" pitchFamily="34" charset="-122"/>
                <a:cs typeface="Heebo Bold" pitchFamily="34" charset="-120"/>
              </a:rPr>
              <a:t>Insight:</a:t>
            </a:r>
            <a:endParaRPr lang="en-US" sz="1300" dirty="0"/>
          </a:p>
          <a:p>
            <a:pPr marL="0" indent="0" algn="l">
              <a:lnSpc>
                <a:spcPct val="127000"/>
              </a:lnSpc>
              <a:buNone/>
            </a:pPr>
            <a:r>
              <a:rPr lang="en-US" sz="1300" dirty="0">
                <a:solidFill>
                  <a:srgbClr val="4C4C4D"/>
                </a:solidFill>
                <a:latin typeface="Heebo" pitchFamily="34" charset="0"/>
                <a:ea typeface="Heebo" pitchFamily="34" charset="-122"/>
                <a:cs typeface="Heebo" pitchFamily="34" charset="-120"/>
              </a:rPr>
              <a:t>The </a:t>
            </a:r>
            <a:r>
              <a:rPr lang="en-US" sz="1300" b="1" dirty="0">
                <a:solidFill>
                  <a:srgbClr val="4C4C4D"/>
                </a:solidFill>
                <a:latin typeface="Heebo Bold" pitchFamily="34" charset="0"/>
                <a:ea typeface="Heebo Bold" pitchFamily="34" charset="-122"/>
                <a:cs typeface="Heebo Bold" pitchFamily="34" charset="-120"/>
              </a:rPr>
              <a:t>United States</a:t>
            </a:r>
            <a:r>
              <a:rPr lang="en-US" sz="1300" dirty="0">
                <a:solidFill>
                  <a:srgbClr val="4C4C4D"/>
                </a:solidFill>
                <a:latin typeface="Heebo" pitchFamily="34" charset="0"/>
                <a:ea typeface="Heebo" pitchFamily="34" charset="-122"/>
                <a:cs typeface="Heebo" pitchFamily="34" charset="-120"/>
              </a:rPr>
              <a:t> achieved the highest profit margin during the analysis period, although the differences compared with other countries were relatively small. This indicates that the company maintains consistently strong profitability across its international markets, with the United States showing slightly better profit efficiency. Management should continue prioritizing the U.S. market while maintaining effective pricing, operational, and marketing strategies across all countries to sustain consistent profitability.</a:t>
            </a:r>
            <a:endParaRPr lang="en-US" sz="1300" dirty="0"/>
          </a:p>
        </p:txBody>
      </p:sp>
    </p:spTree>
    <p:extLst>
      <p:ext uri="{BB962C8B-B14F-4D97-AF65-F5344CB8AC3E}">
        <p14:creationId xmlns:p14="http://schemas.microsoft.com/office/powerpoint/2010/main" val="384363423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985044"/>
            <a:ext cx="2721006" cy="272752"/>
          </a:xfrm>
          <a:prstGeom prst="roundRect">
            <a:avLst>
              <a:gd name="adj" fmla="val 7900"/>
            </a:avLst>
          </a:prstGeom>
          <a:solidFill>
            <a:srgbClr val="CCD7FF"/>
          </a:solidFill>
          <a:ln/>
        </p:spPr>
      </p:sp>
      <p:sp>
        <p:nvSpPr>
          <p:cNvPr id="3" name="Text 1"/>
          <p:cNvSpPr/>
          <p:nvPr/>
        </p:nvSpPr>
        <p:spPr>
          <a:xfrm>
            <a:off x="769125" y="1038820"/>
            <a:ext cx="3115292" cy="165199"/>
          </a:xfrm>
          <a:prstGeom prst="rect">
            <a:avLst/>
          </a:prstGeom>
          <a:noFill/>
          <a:ln/>
        </p:spPr>
        <p:txBody>
          <a:bodyPr wrap="none" lIns="0" tIns="0" rIns="0" bIns="0" rtlCol="0" anchor="t"/>
          <a:lstStyle/>
          <a:p>
            <a:pPr marL="0" indent="0" algn="l">
              <a:lnSpc>
                <a:spcPct val="96000"/>
              </a:lnSpc>
              <a:buNone/>
            </a:pPr>
            <a:r>
              <a:rPr lang="en-US" sz="1100" dirty="0">
                <a:solidFill>
                  <a:srgbClr val="4C4C4D"/>
                </a:solidFill>
                <a:latin typeface="Heebo" pitchFamily="34" charset="0"/>
                <a:ea typeface="Heebo" pitchFamily="34" charset="-122"/>
                <a:cs typeface="Heebo" pitchFamily="34" charset="-120"/>
              </a:rPr>
              <a:t>COUNTRIES PERFORMANCE ANALYSIS</a:t>
            </a:r>
            <a:endParaRPr lang="en-US" sz="1100" dirty="0"/>
          </a:p>
        </p:txBody>
      </p:sp>
      <p:sp>
        <p:nvSpPr>
          <p:cNvPr id="4" name="Text 2"/>
          <p:cNvSpPr/>
          <p:nvPr/>
        </p:nvSpPr>
        <p:spPr>
          <a:xfrm>
            <a:off x="661475" y="1325959"/>
            <a:ext cx="10868745" cy="561181"/>
          </a:xfrm>
          <a:prstGeom prst="rect">
            <a:avLst/>
          </a:prstGeom>
          <a:noFill/>
          <a:ln/>
        </p:spPr>
        <p:txBody>
          <a:bodyPr wrap="none" lIns="0" tIns="0" rIns="0" bIns="0" rtlCol="0" anchor="t"/>
          <a:lstStyle/>
          <a:p>
            <a:pPr marL="0" indent="0" algn="l">
              <a:lnSpc>
                <a:spcPct val="104000"/>
              </a:lnSpc>
              <a:buNone/>
            </a:pPr>
            <a:r>
              <a:rPr lang="en-US" sz="3500" dirty="0">
                <a:solidFill>
                  <a:srgbClr val="152D47"/>
                </a:solidFill>
                <a:latin typeface="Crimson Pro SemiBold" pitchFamily="34" charset="0"/>
                <a:ea typeface="Crimson Pro SemiBold" pitchFamily="34" charset="-122"/>
                <a:cs typeface="Crimson Pro SemiBold" pitchFamily="34" charset="-120"/>
              </a:rPr>
              <a:t>Countries Performance Analysis</a:t>
            </a:r>
            <a:endParaRPr lang="en-US" sz="3500" dirty="0"/>
          </a:p>
        </p:txBody>
      </p:sp>
      <p:sp>
        <p:nvSpPr>
          <p:cNvPr id="5" name="Text 3"/>
          <p:cNvSpPr/>
          <p:nvPr/>
        </p:nvSpPr>
        <p:spPr>
          <a:xfrm>
            <a:off x="661475" y="2313583"/>
            <a:ext cx="5215303" cy="560983"/>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152D47"/>
                </a:solidFill>
                <a:latin typeface="Crimson Pro SemiBold" pitchFamily="34" charset="0"/>
                <a:ea typeface="Crimson Pro SemiBold" pitchFamily="34" charset="-122"/>
                <a:cs typeface="Crimson Pro SemiBold" pitchFamily="34" charset="-120"/>
              </a:rPr>
              <a:t>Q4. Which country have high sales but low profitability?</a:t>
            </a:r>
            <a:endParaRPr lang="en-US" sz="1750" dirty="0"/>
          </a:p>
        </p:txBody>
      </p:sp>
      <p:sp>
        <p:nvSpPr>
          <p:cNvPr id="6" name="Text 4"/>
          <p:cNvSpPr/>
          <p:nvPr/>
        </p:nvSpPr>
        <p:spPr>
          <a:xfrm>
            <a:off x="661475" y="3045123"/>
            <a:ext cx="5215303" cy="2674342"/>
          </a:xfrm>
          <a:prstGeom prst="rect">
            <a:avLst/>
          </a:prstGeom>
          <a:noFill/>
          <a:ln/>
        </p:spPr>
        <p:txBody>
          <a:bodyPr wrap="square" lIns="0" tIns="0" rIns="0" bIns="0" rtlCol="0" anchor="t"/>
          <a:lstStyle/>
          <a:p>
            <a:pPr marL="0" indent="0" algn="l">
              <a:lnSpc>
                <a:spcPct val="130000"/>
              </a:lnSpc>
              <a:spcAft>
                <a:spcPts val="1200"/>
              </a:spcAft>
              <a:buNone/>
            </a:pPr>
            <a:r>
              <a:rPr lang="en-US" sz="1400" b="1" dirty="0">
                <a:solidFill>
                  <a:srgbClr val="4C4C4D"/>
                </a:solidFill>
                <a:latin typeface="Heebo Bold" pitchFamily="34" charset="0"/>
                <a:ea typeface="Heebo Bold" pitchFamily="34" charset="-122"/>
                <a:cs typeface="Heebo Bold" pitchFamily="34" charset="-120"/>
              </a:rPr>
              <a:t>Insight:</a:t>
            </a:r>
            <a:endParaRPr lang="en-US" sz="1400" dirty="0"/>
          </a:p>
          <a:p>
            <a:pPr marL="0" indent="0" algn="l">
              <a:lnSpc>
                <a:spcPct val="130000"/>
              </a:lnSpc>
              <a:buNone/>
            </a:pPr>
            <a:r>
              <a:rPr lang="en-US" sz="1400" dirty="0">
                <a:solidFill>
                  <a:srgbClr val="4C4C4D"/>
                </a:solidFill>
                <a:latin typeface="Heebo" pitchFamily="34" charset="0"/>
                <a:ea typeface="Heebo" pitchFamily="34" charset="-122"/>
                <a:cs typeface="Heebo" pitchFamily="34" charset="-120"/>
              </a:rPr>
              <a:t>The analysis found </a:t>
            </a:r>
            <a:r>
              <a:rPr lang="en-US" sz="1400" b="1" dirty="0">
                <a:solidFill>
                  <a:srgbClr val="4C4C4D"/>
                </a:solidFill>
                <a:latin typeface="Heebo Bold" pitchFamily="34" charset="0"/>
                <a:ea typeface="Heebo Bold" pitchFamily="34" charset="-122"/>
                <a:cs typeface="Heebo Bold" pitchFamily="34" charset="-120"/>
              </a:rPr>
              <a:t>no country with high revenue and low profitability</a:t>
            </a:r>
            <a:r>
              <a:rPr lang="en-US" sz="1400" dirty="0">
                <a:solidFill>
                  <a:srgbClr val="4C4C4D"/>
                </a:solidFill>
                <a:latin typeface="Heebo" pitchFamily="34" charset="0"/>
                <a:ea typeface="Heebo" pitchFamily="34" charset="-122"/>
                <a:cs typeface="Heebo" pitchFamily="34" charset="-120"/>
              </a:rPr>
              <a:t>, indicating that the company's major markets are generating strong revenue without compromising profit. This suggests that the current pricing and operational strategies are effectively supporting both revenue growth and profitability across countries. Management should continue investing in and supporting all key markets while regularly monitoring revenue and profit performance to ensure sustainable long-term growth.</a:t>
            </a:r>
            <a:endParaRPr lang="en-US" sz="1400" dirty="0"/>
          </a:p>
        </p:txBody>
      </p:sp>
      <p:sp>
        <p:nvSpPr>
          <p:cNvPr id="7" name="Text 5"/>
          <p:cNvSpPr/>
          <p:nvPr/>
        </p:nvSpPr>
        <p:spPr>
          <a:xfrm>
            <a:off x="6321267" y="2313583"/>
            <a:ext cx="5215303" cy="280491"/>
          </a:xfrm>
          <a:prstGeom prst="rect">
            <a:avLst/>
          </a:prstGeom>
          <a:noFill/>
          <a:ln/>
        </p:spPr>
        <p:txBody>
          <a:bodyPr wrap="none" lIns="0" tIns="0" rIns="0" bIns="0" rtlCol="0" anchor="t"/>
          <a:lstStyle/>
          <a:p>
            <a:pPr marL="0" indent="0" algn="l">
              <a:lnSpc>
                <a:spcPct val="104000"/>
              </a:lnSpc>
              <a:buNone/>
            </a:pPr>
            <a:r>
              <a:rPr lang="en-US" sz="1750" dirty="0">
                <a:solidFill>
                  <a:srgbClr val="152D47"/>
                </a:solidFill>
                <a:latin typeface="Crimson Pro SemiBold" pitchFamily="34" charset="0"/>
                <a:ea typeface="Crimson Pro SemiBold" pitchFamily="34" charset="-122"/>
                <a:cs typeface="Crimson Pro SemiBold" pitchFamily="34" charset="-120"/>
              </a:rPr>
              <a:t>Q5. Which country are negatively impacting profit?</a:t>
            </a:r>
            <a:endParaRPr lang="en-US" sz="1750" dirty="0"/>
          </a:p>
        </p:txBody>
      </p:sp>
      <p:sp>
        <p:nvSpPr>
          <p:cNvPr id="8" name="Text 6"/>
          <p:cNvSpPr/>
          <p:nvPr/>
        </p:nvSpPr>
        <p:spPr>
          <a:xfrm>
            <a:off x="6321267" y="2764631"/>
            <a:ext cx="5215303" cy="2954437"/>
          </a:xfrm>
          <a:prstGeom prst="rect">
            <a:avLst/>
          </a:prstGeom>
          <a:noFill/>
          <a:ln/>
        </p:spPr>
        <p:txBody>
          <a:bodyPr wrap="square" lIns="0" tIns="0" rIns="0" bIns="0" rtlCol="0" anchor="t"/>
          <a:lstStyle/>
          <a:p>
            <a:pPr marL="0" indent="0" algn="l">
              <a:lnSpc>
                <a:spcPct val="130000"/>
              </a:lnSpc>
              <a:spcAft>
                <a:spcPts val="1200"/>
              </a:spcAft>
              <a:buNone/>
            </a:pPr>
            <a:r>
              <a:rPr lang="en-US" sz="1400" b="1" dirty="0">
                <a:solidFill>
                  <a:srgbClr val="4C4C4D"/>
                </a:solidFill>
                <a:latin typeface="Heebo Bold" pitchFamily="34" charset="0"/>
                <a:ea typeface="Heebo Bold" pitchFamily="34" charset="-122"/>
                <a:cs typeface="Heebo Bold" pitchFamily="34" charset="-120"/>
              </a:rPr>
              <a:t>Insight:</a:t>
            </a:r>
            <a:endParaRPr lang="en-US" sz="1400" dirty="0"/>
          </a:p>
          <a:p>
            <a:pPr marL="0" indent="0" algn="l">
              <a:lnSpc>
                <a:spcPct val="130000"/>
              </a:lnSpc>
              <a:buNone/>
            </a:pPr>
            <a:r>
              <a:rPr lang="en-US" sz="1400" dirty="0">
                <a:solidFill>
                  <a:srgbClr val="4C4C4D"/>
                </a:solidFill>
                <a:latin typeface="Heebo" pitchFamily="34" charset="0"/>
                <a:ea typeface="Heebo" pitchFamily="34" charset="-122"/>
                <a:cs typeface="Heebo" pitchFamily="34" charset="-120"/>
              </a:rPr>
              <a:t>The analysis found </a:t>
            </a:r>
            <a:r>
              <a:rPr lang="en-US" sz="1400" b="1" dirty="0">
                <a:solidFill>
                  <a:srgbClr val="4C4C4D"/>
                </a:solidFill>
                <a:latin typeface="Heebo Bold" pitchFamily="34" charset="0"/>
                <a:ea typeface="Heebo Bold" pitchFamily="34" charset="-122"/>
                <a:cs typeface="Heebo Bold" pitchFamily="34" charset="-120"/>
              </a:rPr>
              <a:t>no country with negative profit</a:t>
            </a:r>
            <a:r>
              <a:rPr lang="en-US" sz="1400" dirty="0">
                <a:solidFill>
                  <a:srgbClr val="4C4C4D"/>
                </a:solidFill>
                <a:latin typeface="Heebo" pitchFamily="34" charset="0"/>
                <a:ea typeface="Heebo" pitchFamily="34" charset="-122"/>
                <a:cs typeface="Heebo" pitchFamily="34" charset="-120"/>
              </a:rPr>
              <a:t>, indicating that all analyzed markets contributed positively to the company's overall profitability during the analysis period. This suggests that the company's current pricing, operational, and sales strategies are effectively supporting profitable performance across countries. Management should continue maintaining these strategies while regularly monitoring revenue and profit trends to ensure long-term sustainable growth and to quickly identify any future changes in market performance.</a:t>
            </a:r>
            <a:endParaRPr lang="en-US" sz="1400" dirty="0"/>
          </a:p>
        </p:txBody>
      </p:sp>
    </p:spTree>
    <p:extLst>
      <p:ext uri="{BB962C8B-B14F-4D97-AF65-F5344CB8AC3E}">
        <p14:creationId xmlns:p14="http://schemas.microsoft.com/office/powerpoint/2010/main" val="334025074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796951"/>
            <a:ext cx="2864076" cy="287139"/>
          </a:xfrm>
          <a:prstGeom prst="roundRect">
            <a:avLst>
              <a:gd name="adj" fmla="val 7899"/>
            </a:avLst>
          </a:prstGeom>
          <a:solidFill>
            <a:srgbClr val="CCD7FF"/>
          </a:solidFill>
          <a:ln/>
        </p:spPr>
      </p:sp>
      <p:sp>
        <p:nvSpPr>
          <p:cNvPr id="3" name="Text 1"/>
          <p:cNvSpPr/>
          <p:nvPr/>
        </p:nvSpPr>
        <p:spPr>
          <a:xfrm>
            <a:off x="774879" y="1853605"/>
            <a:ext cx="3246852"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COUNTRIES PERFORMANCE ANALYSIS</a:t>
            </a:r>
            <a:endParaRPr lang="en-US" sz="1150" dirty="0"/>
          </a:p>
        </p:txBody>
      </p:sp>
      <p:sp>
        <p:nvSpPr>
          <p:cNvPr id="4" name="Text 2"/>
          <p:cNvSpPr/>
          <p:nvPr/>
        </p:nvSpPr>
        <p:spPr>
          <a:xfrm>
            <a:off x="661475" y="2159695"/>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Q6. Which country represent growth opportunity?</a:t>
            </a:r>
            <a:endParaRPr lang="en-US" sz="3700" dirty="0"/>
          </a:p>
        </p:txBody>
      </p:sp>
      <p:sp>
        <p:nvSpPr>
          <p:cNvPr id="5" name="Text 3"/>
          <p:cNvSpPr/>
          <p:nvPr/>
        </p:nvSpPr>
        <p:spPr>
          <a:xfrm>
            <a:off x="661475" y="3033812"/>
            <a:ext cx="10868745" cy="2027138"/>
          </a:xfrm>
          <a:prstGeom prst="rect">
            <a:avLst/>
          </a:prstGeom>
          <a:noFill/>
          <a:ln/>
        </p:spPr>
        <p:txBody>
          <a:bodyPr wrap="square" lIns="0" tIns="0" rIns="0" bIns="0" rtlCol="0" anchor="t"/>
          <a:lstStyle/>
          <a:p>
            <a:pPr marL="0" indent="0" algn="l">
              <a:lnSpc>
                <a:spcPct val="133000"/>
              </a:lnSpc>
              <a:spcAft>
                <a:spcPts val="1650"/>
              </a:spcAft>
              <a:buNone/>
            </a:pPr>
            <a:r>
              <a:rPr lang="en-US" sz="1450" b="1" dirty="0">
                <a:solidFill>
                  <a:srgbClr val="4C4C4D"/>
                </a:solidFill>
                <a:latin typeface="Heebo Bold" pitchFamily="34" charset="0"/>
                <a:ea typeface="Heebo Bold" pitchFamily="34" charset="-122"/>
                <a:cs typeface="Heebo Bold" pitchFamily="34" charset="-120"/>
              </a:rPr>
              <a:t>Insight:</a:t>
            </a:r>
            <a:endParaRPr lang="en-US" sz="1450" dirty="0"/>
          </a:p>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The </a:t>
            </a:r>
            <a:r>
              <a:rPr lang="en-US" sz="1450" b="1" dirty="0">
                <a:solidFill>
                  <a:srgbClr val="4C4C4D"/>
                </a:solidFill>
                <a:latin typeface="Heebo Bold" pitchFamily="34" charset="0"/>
                <a:ea typeface="Heebo Bold" pitchFamily="34" charset="-122"/>
                <a:cs typeface="Heebo Bold" pitchFamily="34" charset="-120"/>
              </a:rPr>
              <a:t>United States</a:t>
            </a:r>
            <a:r>
              <a:rPr lang="en-US" sz="1450" dirty="0">
                <a:solidFill>
                  <a:srgbClr val="4C4C4D"/>
                </a:solidFill>
                <a:latin typeface="Heebo" pitchFamily="34" charset="0"/>
                <a:ea typeface="Heebo" pitchFamily="34" charset="-122"/>
                <a:cs typeface="Heebo" pitchFamily="34" charset="-120"/>
              </a:rPr>
              <a:t> represents the company's strongest growth opportunity, generating the highest revenue, profit, and order volume during the analysis period. This demonstrates strong customer demand and confirms the United States as the company's most strategically important market. Given its proven performance, further investment in marketing, customer experience, and product availability could help expand market share and drive additional revenue and profit growth. Management should continue prioritizing this market while maintaining its successful sales and operational strategies.</a:t>
            </a:r>
            <a:endParaRPr lang="en-US" sz="1450" dirty="0"/>
          </a:p>
        </p:txBody>
      </p:sp>
    </p:spTree>
    <p:extLst>
      <p:ext uri="{BB962C8B-B14F-4D97-AF65-F5344CB8AC3E}">
        <p14:creationId xmlns:p14="http://schemas.microsoft.com/office/powerpoint/2010/main" val="170726180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674118"/>
            <a:ext cx="2238914" cy="287139"/>
          </a:xfrm>
          <a:prstGeom prst="roundRect">
            <a:avLst>
              <a:gd name="adj" fmla="val 7899"/>
            </a:avLst>
          </a:prstGeom>
          <a:solidFill>
            <a:srgbClr val="CCD7FF"/>
          </a:solidFill>
          <a:ln/>
        </p:spPr>
      </p:sp>
      <p:sp>
        <p:nvSpPr>
          <p:cNvPr id="3" name="Text 1"/>
          <p:cNvSpPr/>
          <p:nvPr/>
        </p:nvSpPr>
        <p:spPr>
          <a:xfrm>
            <a:off x="774879" y="1730772"/>
            <a:ext cx="2621691" cy="173831"/>
          </a:xfrm>
          <a:prstGeom prst="rect">
            <a:avLst/>
          </a:prstGeom>
          <a:noFill/>
          <a:ln/>
        </p:spPr>
        <p:txBody>
          <a:bodyPr wrap="none" lIns="0" tIns="0" rIns="0" bIns="0" rtlCol="0" anchor="t"/>
          <a:lstStyle/>
          <a:p>
            <a:pPr marL="0" indent="0" algn="l">
              <a:lnSpc>
                <a:spcPct val="96000"/>
              </a:lnSpc>
              <a:buNone/>
            </a:pPr>
            <a:r>
              <a:rPr lang="en-US" sz="1150" dirty="0">
                <a:solidFill>
                  <a:srgbClr val="4C4C4D"/>
                </a:solidFill>
                <a:latin typeface="Heebo" pitchFamily="34" charset="0"/>
                <a:ea typeface="Heebo" pitchFamily="34" charset="-122"/>
                <a:cs typeface="Heebo" pitchFamily="34" charset="-120"/>
              </a:rPr>
              <a:t>DISCOUNT IMPACT ANALYSIS</a:t>
            </a:r>
            <a:endParaRPr lang="en-US" sz="1150" dirty="0"/>
          </a:p>
        </p:txBody>
      </p:sp>
      <p:sp>
        <p:nvSpPr>
          <p:cNvPr id="4" name="Text 2"/>
          <p:cNvSpPr/>
          <p:nvPr/>
        </p:nvSpPr>
        <p:spPr>
          <a:xfrm>
            <a:off x="661475" y="203686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Discount Impact Analysis</a:t>
            </a:r>
            <a:endParaRPr lang="en-US" sz="3700" dirty="0"/>
          </a:p>
        </p:txBody>
      </p:sp>
      <p:sp>
        <p:nvSpPr>
          <p:cNvPr id="5" name="Text 3"/>
          <p:cNvSpPr/>
          <p:nvPr/>
        </p:nvSpPr>
        <p:spPr>
          <a:xfrm>
            <a:off x="661475" y="2703116"/>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Q1. What is the average discount percentage?</a:t>
            </a:r>
            <a:endParaRPr lang="en-US" sz="2950" dirty="0"/>
          </a:p>
        </p:txBody>
      </p:sp>
      <p:sp>
        <p:nvSpPr>
          <p:cNvPr id="6" name="Text 4"/>
          <p:cNvSpPr/>
          <p:nvPr/>
        </p:nvSpPr>
        <p:spPr>
          <a:xfrm>
            <a:off x="661475" y="3459063"/>
            <a:ext cx="10868745" cy="1724720"/>
          </a:xfrm>
          <a:prstGeom prst="rect">
            <a:avLst/>
          </a:prstGeom>
          <a:noFill/>
          <a:ln/>
        </p:spPr>
        <p:txBody>
          <a:bodyPr wrap="square" lIns="0" tIns="0" rIns="0" bIns="0" rtlCol="0" anchor="t"/>
          <a:lstStyle/>
          <a:p>
            <a:pPr marL="0" indent="0" algn="l">
              <a:lnSpc>
                <a:spcPct val="133000"/>
              </a:lnSpc>
              <a:spcAft>
                <a:spcPts val="1650"/>
              </a:spcAft>
              <a:buNone/>
            </a:pPr>
            <a:r>
              <a:rPr lang="en-US" sz="1450" b="1" dirty="0">
                <a:solidFill>
                  <a:srgbClr val="4C4C4D"/>
                </a:solidFill>
                <a:latin typeface="Heebo Bold" pitchFamily="34" charset="0"/>
                <a:ea typeface="Heebo Bold" pitchFamily="34" charset="-122"/>
                <a:cs typeface="Heebo Bold" pitchFamily="34" charset="-120"/>
              </a:rPr>
              <a:t>Insight:</a:t>
            </a:r>
            <a:endParaRPr lang="en-US" sz="1450" dirty="0"/>
          </a:p>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The company offered an </a:t>
            </a:r>
            <a:r>
              <a:rPr lang="en-US" sz="1450" b="1" dirty="0">
                <a:solidFill>
                  <a:srgbClr val="4C4C4D"/>
                </a:solidFill>
                <a:latin typeface="Heebo Bold" pitchFamily="34" charset="0"/>
                <a:ea typeface="Heebo Bold" pitchFamily="34" charset="-122"/>
                <a:cs typeface="Heebo Bold" pitchFamily="34" charset="-120"/>
              </a:rPr>
              <a:t>average discount of 6.70%</a:t>
            </a:r>
            <a:r>
              <a:rPr lang="en-US" sz="1450" dirty="0">
                <a:solidFill>
                  <a:srgbClr val="4C4C4D"/>
                </a:solidFill>
                <a:latin typeface="Heebo" pitchFamily="34" charset="0"/>
                <a:ea typeface="Heebo" pitchFamily="34" charset="-122"/>
                <a:cs typeface="Heebo" pitchFamily="34" charset="-120"/>
              </a:rPr>
              <a:t> during the analysis period, indicating that it follows a moderate discounting strategy rather than relying on deep price reductions to drive sales. This suggests that the business aims to balance customer incentives with profitability. Management should continue monitoring the effectiveness of discounts by evaluating their impact on revenue, customer demand, and profit margins to ensure the current pricing strategy supports sustainable business growth.</a:t>
            </a:r>
            <a:endParaRPr lang="en-US" sz="1450" dirty="0"/>
          </a:p>
        </p:txBody>
      </p:sp>
    </p:spTree>
    <p:extLst>
      <p:ext uri="{BB962C8B-B14F-4D97-AF65-F5344CB8AC3E}">
        <p14:creationId xmlns:p14="http://schemas.microsoft.com/office/powerpoint/2010/main" val="360905993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042789"/>
            <a:ext cx="2015281" cy="258465"/>
          </a:xfrm>
          <a:prstGeom prst="roundRect">
            <a:avLst>
              <a:gd name="adj" fmla="val 7898"/>
            </a:avLst>
          </a:prstGeom>
          <a:solidFill>
            <a:srgbClr val="CCD7FF"/>
          </a:solidFill>
          <a:ln/>
        </p:spPr>
      </p:sp>
      <p:sp>
        <p:nvSpPr>
          <p:cNvPr id="3" name="Text 1"/>
          <p:cNvSpPr/>
          <p:nvPr/>
        </p:nvSpPr>
        <p:spPr>
          <a:xfrm>
            <a:off x="763469" y="1093788"/>
            <a:ext cx="2420877" cy="156468"/>
          </a:xfrm>
          <a:prstGeom prst="rect">
            <a:avLst/>
          </a:prstGeom>
          <a:noFill/>
          <a:ln/>
        </p:spPr>
        <p:txBody>
          <a:bodyPr wrap="none" lIns="0" tIns="0" rIns="0" bIns="0" rtlCol="0" anchor="t"/>
          <a:lstStyle/>
          <a:p>
            <a:pPr marL="0" indent="0" algn="l">
              <a:lnSpc>
                <a:spcPct val="96000"/>
              </a:lnSpc>
              <a:buNone/>
            </a:pPr>
            <a:r>
              <a:rPr lang="en-US" sz="1050" dirty="0">
                <a:solidFill>
                  <a:srgbClr val="4C4C4D"/>
                </a:solidFill>
                <a:latin typeface="Heebo" pitchFamily="34" charset="0"/>
                <a:ea typeface="Heebo" pitchFamily="34" charset="-122"/>
                <a:cs typeface="Heebo" pitchFamily="34" charset="-120"/>
              </a:rPr>
              <a:t>DISCOUNT IMPACT ANALYSIS</a:t>
            </a:r>
            <a:endParaRPr lang="en-US" sz="1050" dirty="0"/>
          </a:p>
        </p:txBody>
      </p:sp>
      <p:sp>
        <p:nvSpPr>
          <p:cNvPr id="4" name="Text 2"/>
          <p:cNvSpPr/>
          <p:nvPr/>
        </p:nvSpPr>
        <p:spPr>
          <a:xfrm>
            <a:off x="661475" y="1362472"/>
            <a:ext cx="10868745" cy="531614"/>
          </a:xfrm>
          <a:prstGeom prst="rect">
            <a:avLst/>
          </a:prstGeom>
          <a:noFill/>
          <a:ln/>
        </p:spPr>
        <p:txBody>
          <a:bodyPr wrap="none" lIns="0" tIns="0" rIns="0" bIns="0" rtlCol="0" anchor="t"/>
          <a:lstStyle/>
          <a:p>
            <a:pPr marL="0" indent="0" algn="l">
              <a:lnSpc>
                <a:spcPct val="104000"/>
              </a:lnSpc>
              <a:buNone/>
            </a:pPr>
            <a:r>
              <a:rPr lang="en-US" sz="3300" dirty="0">
                <a:solidFill>
                  <a:srgbClr val="152D47"/>
                </a:solidFill>
                <a:latin typeface="Crimson Pro SemiBold" pitchFamily="34" charset="0"/>
                <a:ea typeface="Crimson Pro SemiBold" pitchFamily="34" charset="-122"/>
                <a:cs typeface="Crimson Pro SemiBold" pitchFamily="34" charset="-120"/>
              </a:rPr>
              <a:t>Discount Impact Analysis</a:t>
            </a:r>
            <a:endParaRPr lang="en-US" sz="3300" dirty="0"/>
          </a:p>
        </p:txBody>
      </p:sp>
      <p:sp>
        <p:nvSpPr>
          <p:cNvPr id="5" name="Text 3"/>
          <p:cNvSpPr/>
          <p:nvPr/>
        </p:nvSpPr>
        <p:spPr>
          <a:xfrm>
            <a:off x="661475" y="2276773"/>
            <a:ext cx="5226911" cy="265708"/>
          </a:xfrm>
          <a:prstGeom prst="rect">
            <a:avLst/>
          </a:prstGeom>
          <a:noFill/>
          <a:ln/>
        </p:spPr>
        <p:txBody>
          <a:bodyPr wrap="none" lIns="0" tIns="0" rIns="0" bIns="0" rtlCol="0" anchor="t"/>
          <a:lstStyle/>
          <a:p>
            <a:pPr marL="0" indent="0" algn="l">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Q2. How does discount percentage effect profit?</a:t>
            </a:r>
            <a:endParaRPr lang="en-US" sz="1650" dirty="0"/>
          </a:p>
        </p:txBody>
      </p:sp>
      <p:sp>
        <p:nvSpPr>
          <p:cNvPr id="6" name="Text 4"/>
          <p:cNvSpPr/>
          <p:nvPr/>
        </p:nvSpPr>
        <p:spPr>
          <a:xfrm>
            <a:off x="661475" y="2695575"/>
            <a:ext cx="5226911" cy="2723356"/>
          </a:xfrm>
          <a:prstGeom prst="rect">
            <a:avLst/>
          </a:prstGeom>
          <a:noFill/>
          <a:ln/>
        </p:spPr>
        <p:txBody>
          <a:bodyPr wrap="square" lIns="0" tIns="0" rIns="0" bIns="0" rtlCol="0" anchor="t"/>
          <a:lstStyle/>
          <a:p>
            <a:pPr marL="0" indent="0" algn="l">
              <a:lnSpc>
                <a:spcPct val="127000"/>
              </a:lnSpc>
              <a:spcAft>
                <a:spcPts val="1050"/>
              </a:spcAft>
              <a:buNone/>
            </a:pPr>
            <a:r>
              <a:rPr lang="en-US" sz="1300" b="1" dirty="0">
                <a:solidFill>
                  <a:srgbClr val="4C4C4D"/>
                </a:solidFill>
                <a:latin typeface="Heebo Bold" pitchFamily="34" charset="0"/>
                <a:ea typeface="Heebo Bold" pitchFamily="34" charset="-122"/>
                <a:cs typeface="Heebo Bold" pitchFamily="34" charset="-120"/>
              </a:rPr>
              <a:t>Insight:</a:t>
            </a:r>
            <a:endParaRPr lang="en-US" sz="1300" dirty="0"/>
          </a:p>
          <a:p>
            <a:pPr marL="0" indent="0" algn="l">
              <a:lnSpc>
                <a:spcPct val="127000"/>
              </a:lnSpc>
              <a:buNone/>
            </a:pPr>
            <a:r>
              <a:rPr lang="en-US" sz="1300" dirty="0">
                <a:solidFill>
                  <a:srgbClr val="4C4C4D"/>
                </a:solidFill>
                <a:latin typeface="Heebo" pitchFamily="34" charset="0"/>
                <a:ea typeface="Heebo" pitchFamily="34" charset="-122"/>
                <a:cs typeface="Heebo" pitchFamily="34" charset="-120"/>
              </a:rPr>
              <a:t>The analysis shows that </a:t>
            </a:r>
            <a:r>
              <a:rPr lang="en-US" sz="1300" b="1" dirty="0">
                <a:solidFill>
                  <a:srgbClr val="4C4C4D"/>
                </a:solidFill>
                <a:latin typeface="Heebo Bold" pitchFamily="34" charset="0"/>
                <a:ea typeface="Heebo Bold" pitchFamily="34" charset="-122"/>
                <a:cs typeface="Heebo Bold" pitchFamily="34" charset="-120"/>
              </a:rPr>
              <a:t>higher discount percentages are associated with lower profits</a:t>
            </a:r>
            <a:r>
              <a:rPr lang="en-US" sz="1300" dirty="0">
                <a:solidFill>
                  <a:srgbClr val="4C4C4D"/>
                </a:solidFill>
                <a:latin typeface="Heebo" pitchFamily="34" charset="0"/>
                <a:ea typeface="Heebo" pitchFamily="34" charset="-122"/>
                <a:cs typeface="Heebo" pitchFamily="34" charset="-120"/>
              </a:rPr>
              <a:t>, indicating that excessive discounting reduces the company's overall profitability. While discounts can help attract customers and increase sales, offering large discounts may significantly reduce earnings. Management should regularly review its discount strategy to identify the optimal discount level that balances revenue growth with profitability. High-discount products and promotional campaigns should be monitored to ensure they generate sufficient sales without eroding profit margins.</a:t>
            </a:r>
            <a:endParaRPr lang="en-US" sz="1300" dirty="0"/>
          </a:p>
        </p:txBody>
      </p:sp>
      <p:sp>
        <p:nvSpPr>
          <p:cNvPr id="7" name="Text 5"/>
          <p:cNvSpPr/>
          <p:nvPr/>
        </p:nvSpPr>
        <p:spPr>
          <a:xfrm>
            <a:off x="6309659" y="2276773"/>
            <a:ext cx="5226911" cy="265708"/>
          </a:xfrm>
          <a:prstGeom prst="rect">
            <a:avLst/>
          </a:prstGeom>
          <a:noFill/>
          <a:ln/>
        </p:spPr>
        <p:txBody>
          <a:bodyPr wrap="none" lIns="0" tIns="0" rIns="0" bIns="0" rtlCol="0" anchor="t"/>
          <a:lstStyle/>
          <a:p>
            <a:pPr marL="0" indent="0" algn="l">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Q3. Which products receive the highest discount?</a:t>
            </a:r>
            <a:endParaRPr lang="en-US" sz="1650" dirty="0"/>
          </a:p>
        </p:txBody>
      </p:sp>
      <p:sp>
        <p:nvSpPr>
          <p:cNvPr id="8" name="Text 6"/>
          <p:cNvSpPr/>
          <p:nvPr/>
        </p:nvSpPr>
        <p:spPr>
          <a:xfrm>
            <a:off x="6309659" y="2695575"/>
            <a:ext cx="5226911" cy="2981920"/>
          </a:xfrm>
          <a:prstGeom prst="rect">
            <a:avLst/>
          </a:prstGeom>
          <a:noFill/>
          <a:ln/>
        </p:spPr>
        <p:txBody>
          <a:bodyPr wrap="square" lIns="0" tIns="0" rIns="0" bIns="0" rtlCol="0" anchor="t"/>
          <a:lstStyle/>
          <a:p>
            <a:pPr marL="0" indent="0" algn="l">
              <a:lnSpc>
                <a:spcPct val="127000"/>
              </a:lnSpc>
              <a:spcAft>
                <a:spcPts val="1050"/>
              </a:spcAft>
              <a:buNone/>
            </a:pPr>
            <a:r>
              <a:rPr lang="en-US" sz="1300" b="1" dirty="0">
                <a:solidFill>
                  <a:srgbClr val="4C4C4D"/>
                </a:solidFill>
                <a:latin typeface="Heebo Bold" pitchFamily="34" charset="0"/>
                <a:ea typeface="Heebo Bold" pitchFamily="34" charset="-122"/>
                <a:cs typeface="Heebo Bold" pitchFamily="34" charset="-120"/>
              </a:rPr>
              <a:t>Insight:</a:t>
            </a:r>
            <a:endParaRPr lang="en-US" sz="1300" dirty="0"/>
          </a:p>
          <a:p>
            <a:pPr marL="0" indent="0" algn="l">
              <a:lnSpc>
                <a:spcPct val="127000"/>
              </a:lnSpc>
              <a:buNone/>
            </a:pPr>
            <a:r>
              <a:rPr lang="en-US" sz="1300" dirty="0">
                <a:solidFill>
                  <a:srgbClr val="4C4C4D"/>
                </a:solidFill>
                <a:latin typeface="Heebo" pitchFamily="34" charset="0"/>
                <a:ea typeface="Heebo" pitchFamily="34" charset="-122"/>
                <a:cs typeface="Heebo" pitchFamily="34" charset="-120"/>
              </a:rPr>
              <a:t>Premium electronic products, including the </a:t>
            </a:r>
            <a:r>
              <a:rPr lang="en-US" sz="1300" b="1" dirty="0">
                <a:solidFill>
                  <a:srgbClr val="4C4C4D"/>
                </a:solidFill>
                <a:latin typeface="Heebo Bold" pitchFamily="34" charset="0"/>
                <a:ea typeface="Heebo Bold" pitchFamily="34" charset="-122"/>
                <a:cs typeface="Heebo Bold" pitchFamily="34" charset="-120"/>
              </a:rPr>
              <a:t>Apple MacBook Air</a:t>
            </a:r>
            <a:r>
              <a:rPr lang="en-US" sz="1300" dirty="0">
                <a:solidFill>
                  <a:srgbClr val="4C4C4D"/>
                </a:solidFill>
                <a:latin typeface="Heebo" pitchFamily="34" charset="0"/>
                <a:ea typeface="Heebo" pitchFamily="34" charset="-122"/>
                <a:cs typeface="Heebo" pitchFamily="34" charset="-120"/>
              </a:rPr>
              <a:t>, </a:t>
            </a:r>
            <a:r>
              <a:rPr lang="en-US" sz="1300" b="1" dirty="0">
                <a:solidFill>
                  <a:srgbClr val="4C4C4D"/>
                </a:solidFill>
                <a:latin typeface="Heebo Bold" pitchFamily="34" charset="0"/>
                <a:ea typeface="Heebo Bold" pitchFamily="34" charset="-122"/>
                <a:cs typeface="Heebo Bold" pitchFamily="34" charset="-120"/>
              </a:rPr>
              <a:t>Dell XPS 13 Laptop</a:t>
            </a:r>
            <a:r>
              <a:rPr lang="en-US" sz="1300" dirty="0">
                <a:solidFill>
                  <a:srgbClr val="4C4C4D"/>
                </a:solidFill>
                <a:latin typeface="Heebo" pitchFamily="34" charset="0"/>
                <a:ea typeface="Heebo" pitchFamily="34" charset="-122"/>
                <a:cs typeface="Heebo" pitchFamily="34" charset="-120"/>
              </a:rPr>
              <a:t>, and </a:t>
            </a:r>
            <a:r>
              <a:rPr lang="en-US" sz="1300" b="1" dirty="0">
                <a:solidFill>
                  <a:srgbClr val="4C4C4D"/>
                </a:solidFill>
                <a:latin typeface="Heebo Bold" pitchFamily="34" charset="0"/>
                <a:ea typeface="Heebo Bold" pitchFamily="34" charset="-122"/>
                <a:cs typeface="Heebo Bold" pitchFamily="34" charset="-120"/>
              </a:rPr>
              <a:t>Canon EOS R50 Camera</a:t>
            </a:r>
            <a:r>
              <a:rPr lang="en-US" sz="1300" dirty="0">
                <a:solidFill>
                  <a:srgbClr val="4C4C4D"/>
                </a:solidFill>
                <a:latin typeface="Heebo" pitchFamily="34" charset="0"/>
                <a:ea typeface="Heebo" pitchFamily="34" charset="-122"/>
                <a:cs typeface="Heebo" pitchFamily="34" charset="-120"/>
              </a:rPr>
              <a:t>, received the highest total discounts during the analysis period. This suggests that the company's promotional strategy is primarily focused on high-value products to attract customers and drive sales. Management should regularly evaluate whether these discounts generate sufficient revenue and profit to justify the promotional investment. If profitability remains healthy, the current strategy can be maintained; otherwise, discount levels and pricing strategies should be reviewed to protect overall earnings.</a:t>
            </a:r>
            <a:endParaRPr lang="en-US" sz="1300" dirty="0"/>
          </a:p>
        </p:txBody>
      </p:sp>
    </p:spTree>
    <p:extLst>
      <p:ext uri="{BB962C8B-B14F-4D97-AF65-F5344CB8AC3E}">
        <p14:creationId xmlns:p14="http://schemas.microsoft.com/office/powerpoint/2010/main" val="209231000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042789"/>
            <a:ext cx="2015281" cy="258465"/>
          </a:xfrm>
          <a:prstGeom prst="roundRect">
            <a:avLst>
              <a:gd name="adj" fmla="val 7898"/>
            </a:avLst>
          </a:prstGeom>
          <a:solidFill>
            <a:srgbClr val="CCD7FF"/>
          </a:solidFill>
          <a:ln/>
        </p:spPr>
      </p:sp>
      <p:sp>
        <p:nvSpPr>
          <p:cNvPr id="3" name="Text 1"/>
          <p:cNvSpPr/>
          <p:nvPr/>
        </p:nvSpPr>
        <p:spPr>
          <a:xfrm>
            <a:off x="763469" y="1093788"/>
            <a:ext cx="2420877" cy="156468"/>
          </a:xfrm>
          <a:prstGeom prst="rect">
            <a:avLst/>
          </a:prstGeom>
          <a:noFill/>
          <a:ln/>
        </p:spPr>
        <p:txBody>
          <a:bodyPr wrap="none" lIns="0" tIns="0" rIns="0" bIns="0" rtlCol="0" anchor="t"/>
          <a:lstStyle/>
          <a:p>
            <a:pPr marL="0" indent="0" algn="l">
              <a:lnSpc>
                <a:spcPct val="96000"/>
              </a:lnSpc>
              <a:buNone/>
            </a:pPr>
            <a:r>
              <a:rPr lang="en-US" sz="1050" dirty="0">
                <a:solidFill>
                  <a:srgbClr val="4C4C4D"/>
                </a:solidFill>
                <a:latin typeface="Heebo" pitchFamily="34" charset="0"/>
                <a:ea typeface="Heebo" pitchFamily="34" charset="-122"/>
                <a:cs typeface="Heebo" pitchFamily="34" charset="-120"/>
              </a:rPr>
              <a:t>DISCOUNT IMPACT ANALYSIS</a:t>
            </a:r>
            <a:endParaRPr lang="en-US" sz="1050" dirty="0"/>
          </a:p>
        </p:txBody>
      </p:sp>
      <p:sp>
        <p:nvSpPr>
          <p:cNvPr id="4" name="Text 2"/>
          <p:cNvSpPr/>
          <p:nvPr/>
        </p:nvSpPr>
        <p:spPr>
          <a:xfrm>
            <a:off x="661475" y="1362472"/>
            <a:ext cx="10868745" cy="531614"/>
          </a:xfrm>
          <a:prstGeom prst="rect">
            <a:avLst/>
          </a:prstGeom>
          <a:noFill/>
          <a:ln/>
        </p:spPr>
        <p:txBody>
          <a:bodyPr wrap="none" lIns="0" tIns="0" rIns="0" bIns="0" rtlCol="0" anchor="t"/>
          <a:lstStyle/>
          <a:p>
            <a:pPr marL="0" indent="0" algn="l">
              <a:lnSpc>
                <a:spcPct val="104000"/>
              </a:lnSpc>
              <a:buNone/>
            </a:pPr>
            <a:r>
              <a:rPr lang="en-US" sz="3300" dirty="0">
                <a:solidFill>
                  <a:srgbClr val="152D47"/>
                </a:solidFill>
                <a:latin typeface="Crimson Pro SemiBold" pitchFamily="34" charset="0"/>
                <a:ea typeface="Crimson Pro SemiBold" pitchFamily="34" charset="-122"/>
                <a:cs typeface="Crimson Pro SemiBold" pitchFamily="34" charset="-120"/>
              </a:rPr>
              <a:t>Discount Impact Analysis</a:t>
            </a:r>
            <a:endParaRPr lang="en-US" sz="3300" dirty="0"/>
          </a:p>
        </p:txBody>
      </p:sp>
      <p:sp>
        <p:nvSpPr>
          <p:cNvPr id="5" name="Text 3"/>
          <p:cNvSpPr/>
          <p:nvPr/>
        </p:nvSpPr>
        <p:spPr>
          <a:xfrm>
            <a:off x="661475" y="2276773"/>
            <a:ext cx="5226911" cy="265708"/>
          </a:xfrm>
          <a:prstGeom prst="rect">
            <a:avLst/>
          </a:prstGeom>
          <a:noFill/>
          <a:ln/>
        </p:spPr>
        <p:txBody>
          <a:bodyPr wrap="none" lIns="0" tIns="0" rIns="0" bIns="0" rtlCol="0" anchor="t"/>
          <a:lstStyle/>
          <a:p>
            <a:pPr marL="0" indent="0" algn="l">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Q4. Which category receive the highest discount?</a:t>
            </a:r>
            <a:endParaRPr lang="en-US" sz="1650" dirty="0"/>
          </a:p>
        </p:txBody>
      </p:sp>
      <p:sp>
        <p:nvSpPr>
          <p:cNvPr id="6" name="Text 4"/>
          <p:cNvSpPr/>
          <p:nvPr/>
        </p:nvSpPr>
        <p:spPr>
          <a:xfrm>
            <a:off x="661475" y="2695575"/>
            <a:ext cx="5226911" cy="2981920"/>
          </a:xfrm>
          <a:prstGeom prst="rect">
            <a:avLst/>
          </a:prstGeom>
          <a:noFill/>
          <a:ln/>
        </p:spPr>
        <p:txBody>
          <a:bodyPr wrap="square" lIns="0" tIns="0" rIns="0" bIns="0" rtlCol="0" anchor="t"/>
          <a:lstStyle/>
          <a:p>
            <a:pPr marL="0" indent="0" algn="l">
              <a:lnSpc>
                <a:spcPct val="127000"/>
              </a:lnSpc>
              <a:spcAft>
                <a:spcPts val="1050"/>
              </a:spcAft>
              <a:buNone/>
            </a:pPr>
            <a:r>
              <a:rPr lang="en-US" sz="1300" b="1" dirty="0">
                <a:solidFill>
                  <a:srgbClr val="4C4C4D"/>
                </a:solidFill>
                <a:latin typeface="Heebo Bold" pitchFamily="34" charset="0"/>
                <a:ea typeface="Heebo Bold" pitchFamily="34" charset="-122"/>
                <a:cs typeface="Heebo Bold" pitchFamily="34" charset="-120"/>
              </a:rPr>
              <a:t>Insight:</a:t>
            </a:r>
            <a:endParaRPr lang="en-US" sz="1300" dirty="0"/>
          </a:p>
          <a:p>
            <a:pPr marL="0" indent="0" algn="l">
              <a:lnSpc>
                <a:spcPct val="127000"/>
              </a:lnSpc>
              <a:buNone/>
            </a:pPr>
            <a:r>
              <a:rPr lang="en-US" sz="1300" dirty="0">
                <a:solidFill>
                  <a:srgbClr val="4C4C4D"/>
                </a:solidFill>
                <a:latin typeface="Heebo" pitchFamily="34" charset="0"/>
                <a:ea typeface="Heebo" pitchFamily="34" charset="-122"/>
                <a:cs typeface="Heebo" pitchFamily="34" charset="-120"/>
              </a:rPr>
              <a:t>The </a:t>
            </a:r>
            <a:r>
              <a:rPr lang="en-US" sz="1300" b="1" dirty="0">
                <a:solidFill>
                  <a:srgbClr val="4C4C4D"/>
                </a:solidFill>
                <a:latin typeface="Heebo Bold" pitchFamily="34" charset="0"/>
                <a:ea typeface="Heebo Bold" pitchFamily="34" charset="-122"/>
                <a:cs typeface="Heebo Bold" pitchFamily="34" charset="-120"/>
              </a:rPr>
              <a:t>Electronics</a:t>
            </a:r>
            <a:r>
              <a:rPr lang="en-US" sz="1300" dirty="0">
                <a:solidFill>
                  <a:srgbClr val="4C4C4D"/>
                </a:solidFill>
                <a:latin typeface="Heebo" pitchFamily="34" charset="0"/>
                <a:ea typeface="Heebo" pitchFamily="34" charset="-122"/>
                <a:cs typeface="Heebo" pitchFamily="34" charset="-120"/>
              </a:rPr>
              <a:t> category received the highest total discount during the analysis period, followed by </a:t>
            </a:r>
            <a:r>
              <a:rPr lang="en-US" sz="1300" b="1" dirty="0">
                <a:solidFill>
                  <a:srgbClr val="4C4C4D"/>
                </a:solidFill>
                <a:latin typeface="Heebo Bold" pitchFamily="34" charset="0"/>
                <a:ea typeface="Heebo Bold" pitchFamily="34" charset="-122"/>
                <a:cs typeface="Heebo Bold" pitchFamily="34" charset="-120"/>
              </a:rPr>
              <a:t>Fashion</a:t>
            </a:r>
            <a:r>
              <a:rPr lang="en-US" sz="1300" dirty="0">
                <a:solidFill>
                  <a:srgbClr val="4C4C4D"/>
                </a:solidFill>
                <a:latin typeface="Heebo" pitchFamily="34" charset="0"/>
                <a:ea typeface="Heebo" pitchFamily="34" charset="-122"/>
                <a:cs typeface="Heebo" pitchFamily="34" charset="-120"/>
              </a:rPr>
              <a:t> and </a:t>
            </a:r>
            <a:r>
              <a:rPr lang="en-US" sz="1300" b="1" dirty="0">
                <a:solidFill>
                  <a:srgbClr val="4C4C4D"/>
                </a:solidFill>
                <a:latin typeface="Heebo Bold" pitchFamily="34" charset="0"/>
                <a:ea typeface="Heebo Bold" pitchFamily="34" charset="-122"/>
                <a:cs typeface="Heebo Bold" pitchFamily="34" charset="-120"/>
              </a:rPr>
              <a:t>Home &amp; Kitchen</a:t>
            </a:r>
            <a:r>
              <a:rPr lang="en-US" sz="1300" dirty="0">
                <a:solidFill>
                  <a:srgbClr val="4C4C4D"/>
                </a:solidFill>
                <a:latin typeface="Heebo" pitchFamily="34" charset="0"/>
                <a:ea typeface="Heebo" pitchFamily="34" charset="-122"/>
                <a:cs typeface="Heebo" pitchFamily="34" charset="-120"/>
              </a:rPr>
              <a:t>. This suggests that the company's promotional activities are primarily concentrated on high-value electronic products to attract customers and drive sales. Management should regularly evaluate the effectiveness of these discounts by monitoring their impact on revenue and profitability. If the discounts continue to generate strong financial returns, the current strategy should be maintained otherwise, discount levels should be reviewed to protect profit margins.</a:t>
            </a:r>
            <a:endParaRPr lang="en-US" sz="1300" dirty="0"/>
          </a:p>
        </p:txBody>
      </p:sp>
      <p:sp>
        <p:nvSpPr>
          <p:cNvPr id="7" name="Text 5"/>
          <p:cNvSpPr/>
          <p:nvPr/>
        </p:nvSpPr>
        <p:spPr>
          <a:xfrm>
            <a:off x="6309659" y="2276773"/>
            <a:ext cx="5226911" cy="265708"/>
          </a:xfrm>
          <a:prstGeom prst="rect">
            <a:avLst/>
          </a:prstGeom>
          <a:noFill/>
          <a:ln/>
        </p:spPr>
        <p:txBody>
          <a:bodyPr wrap="none" lIns="0" tIns="0" rIns="0" bIns="0" rtlCol="0" anchor="t"/>
          <a:lstStyle/>
          <a:p>
            <a:pPr marL="0" indent="0" algn="l">
              <a:lnSpc>
                <a:spcPct val="104000"/>
              </a:lnSpc>
              <a:buNone/>
            </a:pPr>
            <a:r>
              <a:rPr lang="en-US" sz="1650" dirty="0">
                <a:solidFill>
                  <a:srgbClr val="152D47"/>
                </a:solidFill>
                <a:latin typeface="Crimson Pro SemiBold" pitchFamily="34" charset="0"/>
                <a:ea typeface="Crimson Pro SemiBold" pitchFamily="34" charset="-122"/>
                <a:cs typeface="Crimson Pro SemiBold" pitchFamily="34" charset="-120"/>
              </a:rPr>
              <a:t>Q5. Which discount level provide the best profitability?</a:t>
            </a:r>
            <a:endParaRPr lang="en-US" sz="1650" dirty="0"/>
          </a:p>
        </p:txBody>
      </p:sp>
      <p:sp>
        <p:nvSpPr>
          <p:cNvPr id="8" name="Text 6"/>
          <p:cNvSpPr/>
          <p:nvPr/>
        </p:nvSpPr>
        <p:spPr>
          <a:xfrm>
            <a:off x="6309659" y="2695575"/>
            <a:ext cx="5226911" cy="2723356"/>
          </a:xfrm>
          <a:prstGeom prst="rect">
            <a:avLst/>
          </a:prstGeom>
          <a:noFill/>
          <a:ln/>
        </p:spPr>
        <p:txBody>
          <a:bodyPr wrap="square" lIns="0" tIns="0" rIns="0" bIns="0" rtlCol="0" anchor="t"/>
          <a:lstStyle/>
          <a:p>
            <a:pPr marL="0" indent="0" algn="l">
              <a:lnSpc>
                <a:spcPct val="127000"/>
              </a:lnSpc>
              <a:spcAft>
                <a:spcPts val="1050"/>
              </a:spcAft>
              <a:buNone/>
            </a:pPr>
            <a:r>
              <a:rPr lang="en-US" sz="1300" b="1" dirty="0">
                <a:solidFill>
                  <a:srgbClr val="4C4C4D"/>
                </a:solidFill>
                <a:latin typeface="Heebo Bold" pitchFamily="34" charset="0"/>
                <a:ea typeface="Heebo Bold" pitchFamily="34" charset="-122"/>
                <a:cs typeface="Heebo Bold" pitchFamily="34" charset="-120"/>
              </a:rPr>
              <a:t>Insight:</a:t>
            </a:r>
            <a:endParaRPr lang="en-US" sz="1300" dirty="0"/>
          </a:p>
          <a:p>
            <a:pPr marL="0" indent="0" algn="l">
              <a:lnSpc>
                <a:spcPct val="127000"/>
              </a:lnSpc>
              <a:buNone/>
            </a:pPr>
            <a:r>
              <a:rPr lang="en-US" sz="1300" dirty="0">
                <a:solidFill>
                  <a:srgbClr val="4C4C4D"/>
                </a:solidFill>
                <a:latin typeface="Heebo" pitchFamily="34" charset="0"/>
                <a:ea typeface="Heebo" pitchFamily="34" charset="-122"/>
                <a:cs typeface="Heebo" pitchFamily="34" charset="-120"/>
              </a:rPr>
              <a:t>The analysis shows that products sold with </a:t>
            </a:r>
            <a:r>
              <a:rPr lang="en-US" sz="1300" b="1" dirty="0">
                <a:solidFill>
                  <a:srgbClr val="4C4C4D"/>
                </a:solidFill>
                <a:latin typeface="Heebo Bold" pitchFamily="34" charset="0"/>
                <a:ea typeface="Heebo Bold" pitchFamily="34" charset="-122"/>
                <a:cs typeface="Heebo Bold" pitchFamily="34" charset="-120"/>
              </a:rPr>
              <a:t>no discount generated the highest profitability</a:t>
            </a:r>
            <a:r>
              <a:rPr lang="en-US" sz="1300" dirty="0">
                <a:solidFill>
                  <a:srgbClr val="4C4C4D"/>
                </a:solidFill>
                <a:latin typeface="Heebo" pitchFamily="34" charset="0"/>
                <a:ea typeface="Heebo" pitchFamily="34" charset="-122"/>
                <a:cs typeface="Heebo" pitchFamily="34" charset="-120"/>
              </a:rPr>
              <a:t>, achieving a profit margin of </a:t>
            </a:r>
            <a:r>
              <a:rPr lang="en-US" sz="1300" b="1" dirty="0">
                <a:solidFill>
                  <a:srgbClr val="4C4C4D"/>
                </a:solidFill>
                <a:latin typeface="Heebo Bold" pitchFamily="34" charset="0"/>
                <a:ea typeface="Heebo Bold" pitchFamily="34" charset="-122"/>
                <a:cs typeface="Heebo Bold" pitchFamily="34" charset="-120"/>
              </a:rPr>
              <a:t>40.27%</a:t>
            </a:r>
            <a:r>
              <a:rPr lang="en-US" sz="1300" dirty="0">
                <a:solidFill>
                  <a:srgbClr val="4C4C4D"/>
                </a:solidFill>
                <a:latin typeface="Heebo" pitchFamily="34" charset="0"/>
                <a:ea typeface="Heebo" pitchFamily="34" charset="-122"/>
                <a:cs typeface="Heebo" pitchFamily="34" charset="-120"/>
              </a:rPr>
              <a:t> and total profit of </a:t>
            </a:r>
            <a:r>
              <a:rPr lang="en-US" sz="1300" b="1" dirty="0">
                <a:solidFill>
                  <a:srgbClr val="4C4C4D"/>
                </a:solidFill>
                <a:latin typeface="Heebo Bold" pitchFamily="34" charset="0"/>
                <a:ea typeface="Heebo Bold" pitchFamily="34" charset="-122"/>
                <a:cs typeface="Heebo Bold" pitchFamily="34" charset="-120"/>
              </a:rPr>
              <a:t>9.08 million</a:t>
            </a:r>
            <a:r>
              <a:rPr lang="en-US" sz="1300" dirty="0">
                <a:solidFill>
                  <a:srgbClr val="4C4C4D"/>
                </a:solidFill>
                <a:latin typeface="Heebo" pitchFamily="34" charset="0"/>
                <a:ea typeface="Heebo" pitchFamily="34" charset="-122"/>
                <a:cs typeface="Heebo" pitchFamily="34" charset="-120"/>
              </a:rPr>
              <a:t>. As discount levels increased, profitability declined, with the 11–20% discount segment generating a lower profit margin of </a:t>
            </a:r>
            <a:r>
              <a:rPr lang="en-US" sz="1300" b="1" dirty="0">
                <a:solidFill>
                  <a:srgbClr val="4C4C4D"/>
                </a:solidFill>
                <a:latin typeface="Heebo Bold" pitchFamily="34" charset="0"/>
                <a:ea typeface="Heebo Bold" pitchFamily="34" charset="-122"/>
                <a:cs typeface="Heebo Bold" pitchFamily="34" charset="-120"/>
              </a:rPr>
              <a:t>30.47%</a:t>
            </a:r>
            <a:r>
              <a:rPr lang="en-US" sz="1300" dirty="0">
                <a:solidFill>
                  <a:srgbClr val="4C4C4D"/>
                </a:solidFill>
                <a:latin typeface="Heebo" pitchFamily="34" charset="0"/>
                <a:ea typeface="Heebo" pitchFamily="34" charset="-122"/>
                <a:cs typeface="Heebo" pitchFamily="34" charset="-120"/>
              </a:rPr>
              <a:t>. This indicates that higher discount levels reduce the company's earnings efficiency. Management should use discounts strategically and evaluate whether increased sales volume from discounted products is sufficient to compensate for the reduction in profit margins.</a:t>
            </a:r>
            <a:endParaRPr lang="en-US" sz="1300" dirty="0"/>
          </a:p>
        </p:txBody>
      </p:sp>
    </p:spTree>
    <p:extLst>
      <p:ext uri="{BB962C8B-B14F-4D97-AF65-F5344CB8AC3E}">
        <p14:creationId xmlns:p14="http://schemas.microsoft.com/office/powerpoint/2010/main" val="372389076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61475" y="3113385"/>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Executive Business Recommendations</a:t>
            </a:r>
            <a:endParaRPr lang="en-US" sz="3700" dirty="0"/>
          </a:p>
        </p:txBody>
      </p:sp>
      <p:sp>
        <p:nvSpPr>
          <p:cNvPr id="5" name="Shape 3"/>
          <p:cNvSpPr/>
          <p:nvPr/>
        </p:nvSpPr>
        <p:spPr>
          <a:xfrm>
            <a:off x="661475" y="4034730"/>
            <a:ext cx="10868745" cy="25400"/>
          </a:xfrm>
          <a:prstGeom prst="roundRect">
            <a:avLst>
              <a:gd name="adj" fmla="val 59999"/>
            </a:avLst>
          </a:prstGeom>
          <a:solidFill>
            <a:srgbClr val="4C4C4D">
              <a:alpha val="50000"/>
            </a:srgbClr>
          </a:solidFill>
          <a:ln/>
        </p:spPr>
      </p:sp>
    </p:spTree>
    <p:extLst>
      <p:ext uri="{BB962C8B-B14F-4D97-AF65-F5344CB8AC3E}">
        <p14:creationId xmlns:p14="http://schemas.microsoft.com/office/powerpoint/2010/main" val="396510617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037034"/>
            <a:ext cx="1695507" cy="243979"/>
          </a:xfrm>
          <a:prstGeom prst="roundRect">
            <a:avLst>
              <a:gd name="adj" fmla="val 7902"/>
            </a:avLst>
          </a:prstGeom>
          <a:solidFill>
            <a:srgbClr val="CCD7FF"/>
          </a:solidFill>
          <a:ln/>
        </p:spPr>
      </p:sp>
      <p:sp>
        <p:nvSpPr>
          <p:cNvPr id="3" name="Text 1"/>
          <p:cNvSpPr/>
          <p:nvPr/>
        </p:nvSpPr>
        <p:spPr>
          <a:xfrm>
            <a:off x="757814" y="1085155"/>
            <a:ext cx="2112414" cy="147737"/>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RECOMMENDATIONS 1–3</a:t>
            </a:r>
            <a:endParaRPr lang="en-US" sz="1000" dirty="0"/>
          </a:p>
        </p:txBody>
      </p:sp>
      <p:sp>
        <p:nvSpPr>
          <p:cNvPr id="4" name="Text 2"/>
          <p:cNvSpPr/>
          <p:nvPr/>
        </p:nvSpPr>
        <p:spPr>
          <a:xfrm>
            <a:off x="661475" y="1335584"/>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152D47"/>
                </a:solidFill>
                <a:latin typeface="Crimson Pro SemiBold" pitchFamily="34" charset="0"/>
                <a:ea typeface="Crimson Pro SemiBold" pitchFamily="34" charset="-122"/>
                <a:cs typeface="Crimson Pro SemiBold" pitchFamily="34" charset="-120"/>
              </a:rPr>
              <a:t>Market, Product &amp; Profitability Strategy</a:t>
            </a:r>
            <a:endParaRPr lang="en-US" sz="315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661475" y="2042418"/>
            <a:ext cx="3531901" cy="3778448"/>
          </a:xfrm>
          <a:prstGeom prst="rect">
            <a:avLst/>
          </a:prstGeom>
        </p:spPr>
      </p:pic>
      <p:sp>
        <p:nvSpPr>
          <p:cNvPr id="6" name="Text 3"/>
          <p:cNvSpPr/>
          <p:nvPr/>
        </p:nvSpPr>
        <p:spPr>
          <a:xfrm>
            <a:off x="2306877" y="2151856"/>
            <a:ext cx="240996" cy="301228"/>
          </a:xfrm>
          <a:prstGeom prst="rect">
            <a:avLst/>
          </a:prstGeom>
          <a:noFill/>
          <a:ln/>
        </p:spPr>
        <p:txBody>
          <a:bodyPr wrap="none" lIns="0" tIns="0" rIns="0" bIns="0" rtlCol="0" anchor="ctr"/>
          <a:lstStyle/>
          <a:p>
            <a:pPr marL="0" indent="0" algn="ctr">
              <a:lnSpc>
                <a:spcPct val="100000"/>
              </a:lnSpc>
              <a:buNone/>
            </a:pPr>
            <a:r>
              <a:rPr lang="en-US" sz="1850" dirty="0">
                <a:solidFill>
                  <a:srgbClr val="4C4C4D"/>
                </a:solidFill>
                <a:latin typeface="Crimson Pro SemiBold" pitchFamily="34" charset="0"/>
                <a:ea typeface="Crimson Pro SemiBold" pitchFamily="34" charset="-122"/>
                <a:cs typeface="Crimson Pro SemiBold" pitchFamily="34" charset="-120"/>
              </a:rPr>
              <a:t>1</a:t>
            </a:r>
            <a:endParaRPr lang="en-US" sz="1850" dirty="0"/>
          </a:p>
        </p:txBody>
      </p:sp>
      <p:sp>
        <p:nvSpPr>
          <p:cNvPr id="7" name="Text 4"/>
          <p:cNvSpPr/>
          <p:nvPr/>
        </p:nvSpPr>
        <p:spPr>
          <a:xfrm>
            <a:off x="841156" y="2679998"/>
            <a:ext cx="3172539" cy="502047"/>
          </a:xfrm>
          <a:prstGeom prst="rect">
            <a:avLst/>
          </a:prstGeom>
          <a:noFill/>
          <a:ln/>
        </p:spPr>
        <p:txBody>
          <a:bodyPr wrap="square" lIns="0" tIns="0" rIns="0" bIns="0" rtlCol="0" anchor="t">
            <a:normAutofit/>
          </a:bodyPr>
          <a:lstStyle/>
          <a:p>
            <a:pPr marL="0" indent="0" algn="l">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Continue Investing in High-Performing Markets</a:t>
            </a:r>
            <a:endParaRPr lang="en-US" sz="1550" dirty="0"/>
          </a:p>
        </p:txBody>
      </p:sp>
      <p:sp>
        <p:nvSpPr>
          <p:cNvPr id="8" name="Text 5"/>
          <p:cNvSpPr/>
          <p:nvPr/>
        </p:nvSpPr>
        <p:spPr>
          <a:xfrm>
            <a:off x="841156" y="3263900"/>
            <a:ext cx="3172539" cy="2377281"/>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The United States is the company's strongest market, generating the highest revenue, profit, and order volume. Management should continue investing in this market by strengthening marketing campaigns, enhancing customer experience, and ensuring product availability. India should also be considered a strategic market for future expansion due to its strong business performance.</a:t>
            </a:r>
            <a:endParaRPr lang="en-US" sz="1250" dirty="0"/>
          </a:p>
        </p:txBody>
      </p:sp>
      <p:pic>
        <p:nvPicPr>
          <p:cNvPr id="9"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329897" y="2042418"/>
            <a:ext cx="3531901" cy="3778448"/>
          </a:xfrm>
          <a:prstGeom prst="rect">
            <a:avLst/>
          </a:prstGeom>
        </p:spPr>
      </p:pic>
      <p:sp>
        <p:nvSpPr>
          <p:cNvPr id="10" name="Text 6"/>
          <p:cNvSpPr/>
          <p:nvPr/>
        </p:nvSpPr>
        <p:spPr>
          <a:xfrm>
            <a:off x="5975300" y="2151856"/>
            <a:ext cx="240996" cy="301228"/>
          </a:xfrm>
          <a:prstGeom prst="rect">
            <a:avLst/>
          </a:prstGeom>
          <a:noFill/>
          <a:ln/>
        </p:spPr>
        <p:txBody>
          <a:bodyPr wrap="none" lIns="0" tIns="0" rIns="0" bIns="0" rtlCol="0" anchor="ctr"/>
          <a:lstStyle/>
          <a:p>
            <a:pPr marL="0" indent="0" algn="ctr">
              <a:lnSpc>
                <a:spcPct val="100000"/>
              </a:lnSpc>
              <a:buNone/>
            </a:pPr>
            <a:r>
              <a:rPr lang="en-US" sz="1850" dirty="0">
                <a:solidFill>
                  <a:srgbClr val="4C4C4D"/>
                </a:solidFill>
                <a:latin typeface="Crimson Pro SemiBold" pitchFamily="34" charset="0"/>
                <a:ea typeface="Crimson Pro SemiBold" pitchFamily="34" charset="-122"/>
                <a:cs typeface="Crimson Pro SemiBold" pitchFamily="34" charset="-120"/>
              </a:rPr>
              <a:t>2</a:t>
            </a:r>
            <a:endParaRPr lang="en-US" sz="1850" dirty="0"/>
          </a:p>
        </p:txBody>
      </p:sp>
      <p:sp>
        <p:nvSpPr>
          <p:cNvPr id="11" name="Text 7"/>
          <p:cNvSpPr/>
          <p:nvPr/>
        </p:nvSpPr>
        <p:spPr>
          <a:xfrm>
            <a:off x="4509578" y="2679998"/>
            <a:ext cx="3172539" cy="502047"/>
          </a:xfrm>
          <a:prstGeom prst="rect">
            <a:avLst/>
          </a:prstGeom>
          <a:noFill/>
          <a:ln/>
        </p:spPr>
        <p:txBody>
          <a:bodyPr wrap="square" lIns="0" tIns="0" rIns="0" bIns="0" rtlCol="0" anchor="t">
            <a:normAutofit/>
          </a:bodyPr>
          <a:lstStyle/>
          <a:p>
            <a:pPr marL="0" indent="0" algn="l">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Prioritize High-Performing Products and Categories</a:t>
            </a:r>
            <a:endParaRPr lang="en-US" sz="1550" dirty="0"/>
          </a:p>
        </p:txBody>
      </p:sp>
      <p:sp>
        <p:nvSpPr>
          <p:cNvPr id="12" name="Text 8"/>
          <p:cNvSpPr/>
          <p:nvPr/>
        </p:nvSpPr>
        <p:spPr>
          <a:xfrm>
            <a:off x="4509578" y="3263900"/>
            <a:ext cx="3172539" cy="2139553"/>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Electronics products, particularly the Apple MacBook Air series, are major contributors to both revenue and profit. The company should continue investing in inventory, marketing, and product availability for these products while maintaining healthy profit margins. Fashion should also remain a strategic category because it delivers the highest profit margin.</a:t>
            </a:r>
            <a:endParaRPr lang="en-US" sz="1250" dirty="0"/>
          </a:p>
        </p:txBody>
      </p:sp>
      <p:pic>
        <p:nvPicPr>
          <p:cNvPr id="13"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7998319" y="2042418"/>
            <a:ext cx="3531901" cy="3778448"/>
          </a:xfrm>
          <a:prstGeom prst="rect">
            <a:avLst/>
          </a:prstGeom>
        </p:spPr>
      </p:pic>
      <p:sp>
        <p:nvSpPr>
          <p:cNvPr id="14" name="Text 9"/>
          <p:cNvSpPr/>
          <p:nvPr/>
        </p:nvSpPr>
        <p:spPr>
          <a:xfrm>
            <a:off x="9643722" y="2151856"/>
            <a:ext cx="240996" cy="301228"/>
          </a:xfrm>
          <a:prstGeom prst="rect">
            <a:avLst/>
          </a:prstGeom>
          <a:noFill/>
          <a:ln/>
        </p:spPr>
        <p:txBody>
          <a:bodyPr wrap="none" lIns="0" tIns="0" rIns="0" bIns="0" rtlCol="0" anchor="ctr"/>
          <a:lstStyle/>
          <a:p>
            <a:pPr marL="0" indent="0" algn="ctr">
              <a:lnSpc>
                <a:spcPct val="100000"/>
              </a:lnSpc>
              <a:buNone/>
            </a:pPr>
            <a:r>
              <a:rPr lang="en-US" sz="1850" dirty="0">
                <a:solidFill>
                  <a:srgbClr val="4C4C4D"/>
                </a:solidFill>
                <a:latin typeface="Crimson Pro SemiBold" pitchFamily="34" charset="0"/>
                <a:ea typeface="Crimson Pro SemiBold" pitchFamily="34" charset="-122"/>
                <a:cs typeface="Crimson Pro SemiBold" pitchFamily="34" charset="-120"/>
              </a:rPr>
              <a:t>3</a:t>
            </a:r>
            <a:endParaRPr lang="en-US" sz="1850" dirty="0"/>
          </a:p>
        </p:txBody>
      </p:sp>
      <p:sp>
        <p:nvSpPr>
          <p:cNvPr id="15" name="Text 10"/>
          <p:cNvSpPr/>
          <p:nvPr/>
        </p:nvSpPr>
        <p:spPr>
          <a:xfrm>
            <a:off x="8178000" y="2679998"/>
            <a:ext cx="3172539" cy="502047"/>
          </a:xfrm>
          <a:prstGeom prst="rect">
            <a:avLst/>
          </a:prstGeom>
          <a:noFill/>
          <a:ln/>
        </p:spPr>
        <p:txBody>
          <a:bodyPr wrap="square" lIns="0" tIns="0" rIns="0" bIns="0" rtlCol="0" anchor="t">
            <a:normAutofit/>
          </a:bodyPr>
          <a:lstStyle/>
          <a:p>
            <a:pPr marL="0" indent="0" algn="l">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Improve the Performance of Low-Profit Products</a:t>
            </a:r>
            <a:endParaRPr lang="en-US" sz="1550" dirty="0"/>
          </a:p>
        </p:txBody>
      </p:sp>
      <p:sp>
        <p:nvSpPr>
          <p:cNvPr id="16" name="Text 11"/>
          <p:cNvSpPr/>
          <p:nvPr/>
        </p:nvSpPr>
        <p:spPr>
          <a:xfrm>
            <a:off x="8178000" y="3263900"/>
            <a:ext cx="3172539" cy="1901825"/>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Several products generate high revenue but low profit, while a few products generate negative profit. Management should review their pricing strategy, procurement costs, and promotional activities to improve profitability or determine whether these products should be repositioned or discontinued.</a:t>
            </a:r>
            <a:endParaRPr lang="en-US" sz="1250" dirty="0"/>
          </a:p>
        </p:txBody>
      </p:sp>
    </p:spTree>
    <p:extLst>
      <p:ext uri="{BB962C8B-B14F-4D97-AF65-F5344CB8AC3E}">
        <p14:creationId xmlns:p14="http://schemas.microsoft.com/office/powerpoint/2010/main" val="184639778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162546"/>
            <a:ext cx="1695507" cy="243979"/>
          </a:xfrm>
          <a:prstGeom prst="roundRect">
            <a:avLst>
              <a:gd name="adj" fmla="val 7902"/>
            </a:avLst>
          </a:prstGeom>
          <a:solidFill>
            <a:srgbClr val="CCD7FF"/>
          </a:solidFill>
          <a:ln/>
        </p:spPr>
      </p:sp>
      <p:sp>
        <p:nvSpPr>
          <p:cNvPr id="3" name="Text 1"/>
          <p:cNvSpPr/>
          <p:nvPr/>
        </p:nvSpPr>
        <p:spPr>
          <a:xfrm>
            <a:off x="757814" y="1210667"/>
            <a:ext cx="2112414" cy="147737"/>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RECOMMENDATIONS 4–6</a:t>
            </a:r>
            <a:endParaRPr lang="en-US" sz="1000" dirty="0"/>
          </a:p>
        </p:txBody>
      </p:sp>
      <p:sp>
        <p:nvSpPr>
          <p:cNvPr id="4" name="Text 2"/>
          <p:cNvSpPr/>
          <p:nvPr/>
        </p:nvSpPr>
        <p:spPr>
          <a:xfrm>
            <a:off x="661475" y="1461095"/>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152D47"/>
                </a:solidFill>
                <a:latin typeface="Crimson Pro SemiBold" pitchFamily="34" charset="0"/>
                <a:ea typeface="Crimson Pro SemiBold" pitchFamily="34" charset="-122"/>
                <a:cs typeface="Crimson Pro SemiBold" pitchFamily="34" charset="-120"/>
              </a:rPr>
              <a:t>Customer, Channel &amp; Discount Strategy</a:t>
            </a:r>
            <a:endParaRPr lang="en-US" sz="315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661475" y="2167930"/>
            <a:ext cx="3531901" cy="3527425"/>
          </a:xfrm>
          <a:prstGeom prst="rect">
            <a:avLst/>
          </a:prstGeom>
        </p:spPr>
      </p:pic>
      <p:sp>
        <p:nvSpPr>
          <p:cNvPr id="6" name="Text 3"/>
          <p:cNvSpPr/>
          <p:nvPr/>
        </p:nvSpPr>
        <p:spPr>
          <a:xfrm>
            <a:off x="2306877" y="2277368"/>
            <a:ext cx="240996" cy="301228"/>
          </a:xfrm>
          <a:prstGeom prst="rect">
            <a:avLst/>
          </a:prstGeom>
          <a:noFill/>
          <a:ln/>
        </p:spPr>
        <p:txBody>
          <a:bodyPr wrap="none" lIns="0" tIns="0" rIns="0" bIns="0" rtlCol="0" anchor="ctr"/>
          <a:lstStyle/>
          <a:p>
            <a:pPr marL="0" indent="0" algn="ctr">
              <a:lnSpc>
                <a:spcPct val="100000"/>
              </a:lnSpc>
              <a:buNone/>
            </a:pPr>
            <a:r>
              <a:rPr lang="en-US" sz="1850" dirty="0">
                <a:solidFill>
                  <a:srgbClr val="4C4C4D"/>
                </a:solidFill>
                <a:latin typeface="Crimson Pro SemiBold" pitchFamily="34" charset="0"/>
                <a:ea typeface="Crimson Pro SemiBold" pitchFamily="34" charset="-122"/>
                <a:cs typeface="Crimson Pro SemiBold" pitchFamily="34" charset="-120"/>
              </a:rPr>
              <a:t>1</a:t>
            </a:r>
            <a:endParaRPr lang="en-US" sz="1850" dirty="0"/>
          </a:p>
        </p:txBody>
      </p:sp>
      <p:sp>
        <p:nvSpPr>
          <p:cNvPr id="7" name="Text 4"/>
          <p:cNvSpPr/>
          <p:nvPr/>
        </p:nvSpPr>
        <p:spPr>
          <a:xfrm>
            <a:off x="841156" y="2805509"/>
            <a:ext cx="3172539" cy="502047"/>
          </a:xfrm>
          <a:prstGeom prst="rect">
            <a:avLst/>
          </a:prstGeom>
          <a:noFill/>
          <a:ln/>
        </p:spPr>
        <p:txBody>
          <a:bodyPr wrap="square" lIns="0" tIns="0" rIns="0" bIns="0" rtlCol="0" anchor="t">
            <a:normAutofit/>
          </a:bodyPr>
          <a:lstStyle/>
          <a:p>
            <a:pPr marL="0" indent="0" algn="l">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Strengthen Customer Retention Strategies</a:t>
            </a:r>
            <a:endParaRPr lang="en-US" sz="1550" dirty="0"/>
          </a:p>
        </p:txBody>
      </p:sp>
      <p:sp>
        <p:nvSpPr>
          <p:cNvPr id="8" name="Text 5"/>
          <p:cNvSpPr/>
          <p:nvPr/>
        </p:nvSpPr>
        <p:spPr>
          <a:xfrm>
            <a:off x="841156" y="3389412"/>
            <a:ext cx="3172539" cy="1901825"/>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VIP and high-profit customers represent the company's most valuable customer segment. Management should strengthen customer relationships through loyalty programs, personalized offers, exclusive promotions, and excellent customer service to encourage repeat purchases and maximize customer lifetime value.</a:t>
            </a:r>
            <a:endParaRPr lang="en-US" sz="1250" dirty="0"/>
          </a:p>
        </p:txBody>
      </p:sp>
      <p:pic>
        <p:nvPicPr>
          <p:cNvPr id="9"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329897" y="2167930"/>
            <a:ext cx="3531901" cy="3527425"/>
          </a:xfrm>
          <a:prstGeom prst="rect">
            <a:avLst/>
          </a:prstGeom>
        </p:spPr>
      </p:pic>
      <p:sp>
        <p:nvSpPr>
          <p:cNvPr id="10" name="Text 6"/>
          <p:cNvSpPr/>
          <p:nvPr/>
        </p:nvSpPr>
        <p:spPr>
          <a:xfrm>
            <a:off x="5975300" y="2277368"/>
            <a:ext cx="240996" cy="301228"/>
          </a:xfrm>
          <a:prstGeom prst="rect">
            <a:avLst/>
          </a:prstGeom>
          <a:noFill/>
          <a:ln/>
        </p:spPr>
        <p:txBody>
          <a:bodyPr wrap="none" lIns="0" tIns="0" rIns="0" bIns="0" rtlCol="0" anchor="ctr"/>
          <a:lstStyle/>
          <a:p>
            <a:pPr marL="0" indent="0" algn="ctr">
              <a:lnSpc>
                <a:spcPct val="100000"/>
              </a:lnSpc>
              <a:buNone/>
            </a:pPr>
            <a:r>
              <a:rPr lang="en-US" sz="1850" dirty="0">
                <a:solidFill>
                  <a:srgbClr val="4C4C4D"/>
                </a:solidFill>
                <a:latin typeface="Crimson Pro SemiBold" pitchFamily="34" charset="0"/>
                <a:ea typeface="Crimson Pro SemiBold" pitchFamily="34" charset="-122"/>
                <a:cs typeface="Crimson Pro SemiBold" pitchFamily="34" charset="-120"/>
              </a:rPr>
              <a:t>2</a:t>
            </a:r>
            <a:endParaRPr lang="en-US" sz="1850" dirty="0"/>
          </a:p>
        </p:txBody>
      </p:sp>
      <p:sp>
        <p:nvSpPr>
          <p:cNvPr id="11" name="Text 7"/>
          <p:cNvSpPr/>
          <p:nvPr/>
        </p:nvSpPr>
        <p:spPr>
          <a:xfrm>
            <a:off x="4509578" y="2805509"/>
            <a:ext cx="3172539" cy="502047"/>
          </a:xfrm>
          <a:prstGeom prst="rect">
            <a:avLst/>
          </a:prstGeom>
          <a:noFill/>
          <a:ln/>
        </p:spPr>
        <p:txBody>
          <a:bodyPr wrap="square" lIns="0" tIns="0" rIns="0" bIns="0" rtlCol="0" anchor="t">
            <a:normAutofit/>
          </a:bodyPr>
          <a:lstStyle/>
          <a:p>
            <a:pPr marL="0" indent="0" algn="l">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Maintain the Performance of High-Value Sales Channels</a:t>
            </a:r>
            <a:endParaRPr lang="en-US" sz="1550" dirty="0"/>
          </a:p>
        </p:txBody>
      </p:sp>
      <p:sp>
        <p:nvSpPr>
          <p:cNvPr id="12" name="Text 8"/>
          <p:cNvSpPr/>
          <p:nvPr/>
        </p:nvSpPr>
        <p:spPr>
          <a:xfrm>
            <a:off x="4509578" y="3389412"/>
            <a:ext cx="3172539" cy="1901825"/>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The Website is the company's strongest sales channel in terms of revenue and profit, while Marketplace delivers the highest profit margin. Management should continue investing in digital marketing, platform improvements, and product availability across all sales channels to sustain long-term growth.</a:t>
            </a:r>
            <a:endParaRPr lang="en-US" sz="1250" dirty="0"/>
          </a:p>
        </p:txBody>
      </p:sp>
      <p:pic>
        <p:nvPicPr>
          <p:cNvPr id="13"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7998319" y="2167930"/>
            <a:ext cx="3531901" cy="3527425"/>
          </a:xfrm>
          <a:prstGeom prst="rect">
            <a:avLst/>
          </a:prstGeom>
        </p:spPr>
      </p:pic>
      <p:sp>
        <p:nvSpPr>
          <p:cNvPr id="14" name="Text 9"/>
          <p:cNvSpPr/>
          <p:nvPr/>
        </p:nvSpPr>
        <p:spPr>
          <a:xfrm>
            <a:off x="9643722" y="2277368"/>
            <a:ext cx="240996" cy="301228"/>
          </a:xfrm>
          <a:prstGeom prst="rect">
            <a:avLst/>
          </a:prstGeom>
          <a:noFill/>
          <a:ln/>
        </p:spPr>
        <p:txBody>
          <a:bodyPr wrap="none" lIns="0" tIns="0" rIns="0" bIns="0" rtlCol="0" anchor="ctr"/>
          <a:lstStyle/>
          <a:p>
            <a:pPr marL="0" indent="0" algn="ctr">
              <a:lnSpc>
                <a:spcPct val="100000"/>
              </a:lnSpc>
              <a:buNone/>
            </a:pPr>
            <a:r>
              <a:rPr lang="en-US" sz="1850" dirty="0">
                <a:solidFill>
                  <a:srgbClr val="4C4C4D"/>
                </a:solidFill>
                <a:latin typeface="Crimson Pro SemiBold" pitchFamily="34" charset="0"/>
                <a:ea typeface="Crimson Pro SemiBold" pitchFamily="34" charset="-122"/>
                <a:cs typeface="Crimson Pro SemiBold" pitchFamily="34" charset="-120"/>
              </a:rPr>
              <a:t>3</a:t>
            </a:r>
            <a:endParaRPr lang="en-US" sz="1850" dirty="0"/>
          </a:p>
        </p:txBody>
      </p:sp>
      <p:sp>
        <p:nvSpPr>
          <p:cNvPr id="15" name="Text 10"/>
          <p:cNvSpPr/>
          <p:nvPr/>
        </p:nvSpPr>
        <p:spPr>
          <a:xfrm>
            <a:off x="8178000" y="2805509"/>
            <a:ext cx="3172539" cy="251023"/>
          </a:xfrm>
          <a:prstGeom prst="rect">
            <a:avLst/>
          </a:prstGeom>
          <a:noFill/>
          <a:ln/>
        </p:spPr>
        <p:txBody>
          <a:bodyPr wrap="none" lIns="0" tIns="0" rIns="0" bIns="0" rtlCol="0" anchor="t"/>
          <a:lstStyle/>
          <a:p>
            <a:pPr marL="0" indent="0" algn="l">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Optimize the Discount Strategy</a:t>
            </a:r>
            <a:endParaRPr lang="en-US" sz="1550" dirty="0"/>
          </a:p>
        </p:txBody>
      </p:sp>
      <p:sp>
        <p:nvSpPr>
          <p:cNvPr id="16" name="Text 11"/>
          <p:cNvSpPr/>
          <p:nvPr/>
        </p:nvSpPr>
        <p:spPr>
          <a:xfrm>
            <a:off x="8178000" y="3138388"/>
            <a:ext cx="3172539" cy="2377281"/>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The analysis shows that profitability decreases as discount percentages increase. Management should avoid excessive discounting and regularly evaluate promotional campaigns to identify the discount level that maximizes both sales and profitability. High-discount products should be monitored to ensure that discounts generate sufficient financial returns.</a:t>
            </a:r>
            <a:endParaRPr lang="en-US" sz="1250" dirty="0"/>
          </a:p>
        </p:txBody>
      </p:sp>
    </p:spTree>
    <p:extLst>
      <p:ext uri="{BB962C8B-B14F-4D97-AF65-F5344CB8AC3E}">
        <p14:creationId xmlns:p14="http://schemas.microsoft.com/office/powerpoint/2010/main" val="364588381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274763"/>
            <a:ext cx="1695507" cy="243979"/>
          </a:xfrm>
          <a:prstGeom prst="roundRect">
            <a:avLst>
              <a:gd name="adj" fmla="val 7902"/>
            </a:avLst>
          </a:prstGeom>
          <a:solidFill>
            <a:srgbClr val="CCD7FF"/>
          </a:solidFill>
          <a:ln/>
        </p:spPr>
      </p:sp>
      <p:sp>
        <p:nvSpPr>
          <p:cNvPr id="3" name="Text 1"/>
          <p:cNvSpPr/>
          <p:nvPr/>
        </p:nvSpPr>
        <p:spPr>
          <a:xfrm>
            <a:off x="757814" y="1322884"/>
            <a:ext cx="2112414" cy="147737"/>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RECOMMENDATIONS 7–9</a:t>
            </a:r>
            <a:endParaRPr lang="en-US" sz="1000" dirty="0"/>
          </a:p>
        </p:txBody>
      </p:sp>
      <p:sp>
        <p:nvSpPr>
          <p:cNvPr id="4" name="Text 2"/>
          <p:cNvSpPr/>
          <p:nvPr/>
        </p:nvSpPr>
        <p:spPr>
          <a:xfrm>
            <a:off x="661475" y="1573312"/>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152D47"/>
                </a:solidFill>
                <a:latin typeface="Crimson Pro SemiBold" pitchFamily="34" charset="0"/>
                <a:ea typeface="Crimson Pro SemiBold" pitchFamily="34" charset="-122"/>
                <a:cs typeface="Crimson Pro SemiBold" pitchFamily="34" charset="-120"/>
              </a:rPr>
              <a:t>Global Growth, Margins &amp; Data-Driven Operations</a:t>
            </a:r>
            <a:endParaRPr lang="en-US" sz="315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661475" y="2280146"/>
            <a:ext cx="3531901" cy="3302992"/>
          </a:xfrm>
          <a:prstGeom prst="rect">
            <a:avLst/>
          </a:prstGeom>
        </p:spPr>
      </p:pic>
      <p:sp>
        <p:nvSpPr>
          <p:cNvPr id="6" name="Text 3"/>
          <p:cNvSpPr/>
          <p:nvPr/>
        </p:nvSpPr>
        <p:spPr>
          <a:xfrm>
            <a:off x="2306877" y="2389584"/>
            <a:ext cx="240996" cy="301228"/>
          </a:xfrm>
          <a:prstGeom prst="rect">
            <a:avLst/>
          </a:prstGeom>
          <a:noFill/>
          <a:ln/>
        </p:spPr>
        <p:txBody>
          <a:bodyPr wrap="none" lIns="0" tIns="0" rIns="0" bIns="0" rtlCol="0" anchor="ctr"/>
          <a:lstStyle/>
          <a:p>
            <a:pPr marL="0" indent="0" algn="ctr">
              <a:lnSpc>
                <a:spcPct val="100000"/>
              </a:lnSpc>
              <a:buNone/>
            </a:pPr>
            <a:r>
              <a:rPr lang="en-US" sz="1850" dirty="0">
                <a:solidFill>
                  <a:srgbClr val="4C4C4D"/>
                </a:solidFill>
                <a:latin typeface="Crimson Pro SemiBold" pitchFamily="34" charset="0"/>
                <a:ea typeface="Crimson Pro SemiBold" pitchFamily="34" charset="-122"/>
                <a:cs typeface="Crimson Pro SemiBold" pitchFamily="34" charset="-120"/>
              </a:rPr>
              <a:t>1</a:t>
            </a:r>
            <a:endParaRPr lang="en-US" sz="1850" dirty="0"/>
          </a:p>
        </p:txBody>
      </p:sp>
      <p:sp>
        <p:nvSpPr>
          <p:cNvPr id="7" name="Text 4"/>
          <p:cNvSpPr/>
          <p:nvPr/>
        </p:nvSpPr>
        <p:spPr>
          <a:xfrm>
            <a:off x="841156" y="2917726"/>
            <a:ext cx="3172539" cy="251023"/>
          </a:xfrm>
          <a:prstGeom prst="rect">
            <a:avLst/>
          </a:prstGeom>
          <a:noFill/>
          <a:ln/>
        </p:spPr>
        <p:txBody>
          <a:bodyPr wrap="none" lIns="0" tIns="0" rIns="0" bIns="0" rtlCol="0" anchor="t"/>
          <a:lstStyle/>
          <a:p>
            <a:pPr marL="0" indent="0" algn="l">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Expand Profitable Markets</a:t>
            </a:r>
            <a:endParaRPr lang="en-US" sz="1550" dirty="0"/>
          </a:p>
        </p:txBody>
      </p:sp>
      <p:sp>
        <p:nvSpPr>
          <p:cNvPr id="8" name="Text 5"/>
          <p:cNvSpPr/>
          <p:nvPr/>
        </p:nvSpPr>
        <p:spPr>
          <a:xfrm>
            <a:off x="841156" y="3250605"/>
            <a:ext cx="3172539" cy="1901825"/>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No country generated negative profit, indicating that the company's international operations are financially healthy. Management should continue supporting all profitable markets while identifying opportunities to increase market share in countries with strong customer demand and growth potential.</a:t>
            </a:r>
            <a:endParaRPr lang="en-US" sz="1250" dirty="0"/>
          </a:p>
        </p:txBody>
      </p:sp>
      <p:pic>
        <p:nvPicPr>
          <p:cNvPr id="9"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329897" y="2280146"/>
            <a:ext cx="3531901" cy="3302992"/>
          </a:xfrm>
          <a:prstGeom prst="rect">
            <a:avLst/>
          </a:prstGeom>
        </p:spPr>
      </p:pic>
      <p:sp>
        <p:nvSpPr>
          <p:cNvPr id="10" name="Text 6"/>
          <p:cNvSpPr/>
          <p:nvPr/>
        </p:nvSpPr>
        <p:spPr>
          <a:xfrm>
            <a:off x="5975300" y="2389584"/>
            <a:ext cx="240996" cy="301228"/>
          </a:xfrm>
          <a:prstGeom prst="rect">
            <a:avLst/>
          </a:prstGeom>
          <a:noFill/>
          <a:ln/>
        </p:spPr>
        <p:txBody>
          <a:bodyPr wrap="none" lIns="0" tIns="0" rIns="0" bIns="0" rtlCol="0" anchor="ctr"/>
          <a:lstStyle/>
          <a:p>
            <a:pPr marL="0" indent="0" algn="ctr">
              <a:lnSpc>
                <a:spcPct val="100000"/>
              </a:lnSpc>
              <a:buNone/>
            </a:pPr>
            <a:r>
              <a:rPr lang="en-US" sz="1850" dirty="0">
                <a:solidFill>
                  <a:srgbClr val="4C4C4D"/>
                </a:solidFill>
                <a:latin typeface="Crimson Pro SemiBold" pitchFamily="34" charset="0"/>
                <a:ea typeface="Crimson Pro SemiBold" pitchFamily="34" charset="-122"/>
                <a:cs typeface="Crimson Pro SemiBold" pitchFamily="34" charset="-120"/>
              </a:rPr>
              <a:t>2</a:t>
            </a:r>
            <a:endParaRPr lang="en-US" sz="1850" dirty="0"/>
          </a:p>
        </p:txBody>
      </p:sp>
      <p:sp>
        <p:nvSpPr>
          <p:cNvPr id="11" name="Text 7"/>
          <p:cNvSpPr/>
          <p:nvPr/>
        </p:nvSpPr>
        <p:spPr>
          <a:xfrm>
            <a:off x="4509578" y="2917726"/>
            <a:ext cx="3172539" cy="251023"/>
          </a:xfrm>
          <a:prstGeom prst="rect">
            <a:avLst/>
          </a:prstGeom>
          <a:noFill/>
          <a:ln/>
        </p:spPr>
        <p:txBody>
          <a:bodyPr wrap="none" lIns="0" tIns="0" rIns="0" bIns="0" rtlCol="0" anchor="t"/>
          <a:lstStyle/>
          <a:p>
            <a:pPr marL="0" indent="0" algn="l">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Protect Profit Margins</a:t>
            </a:r>
            <a:endParaRPr lang="en-US" sz="1550" dirty="0"/>
          </a:p>
        </p:txBody>
      </p:sp>
      <p:sp>
        <p:nvSpPr>
          <p:cNvPr id="12" name="Text 8"/>
          <p:cNvSpPr/>
          <p:nvPr/>
        </p:nvSpPr>
        <p:spPr>
          <a:xfrm>
            <a:off x="4509578" y="3250605"/>
            <a:ext cx="3172539" cy="1664097"/>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Although the business continues to grow in both revenue and profit, maintaining healthy profit margins should remain a strategic priority. Leadership should regularly monitor pricing strategies, operational costs, and promotional activities to ensure future growth remains profitable and sustainable.</a:t>
            </a:r>
            <a:endParaRPr lang="en-US" sz="1250" dirty="0"/>
          </a:p>
        </p:txBody>
      </p:sp>
      <p:pic>
        <p:nvPicPr>
          <p:cNvPr id="13"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7998319" y="2280146"/>
            <a:ext cx="3531901" cy="3302992"/>
          </a:xfrm>
          <a:prstGeom prst="rect">
            <a:avLst/>
          </a:prstGeom>
        </p:spPr>
      </p:pic>
      <p:sp>
        <p:nvSpPr>
          <p:cNvPr id="14" name="Text 9"/>
          <p:cNvSpPr/>
          <p:nvPr/>
        </p:nvSpPr>
        <p:spPr>
          <a:xfrm>
            <a:off x="9643722" y="2389584"/>
            <a:ext cx="240996" cy="301228"/>
          </a:xfrm>
          <a:prstGeom prst="rect">
            <a:avLst/>
          </a:prstGeom>
          <a:noFill/>
          <a:ln/>
        </p:spPr>
        <p:txBody>
          <a:bodyPr wrap="none" lIns="0" tIns="0" rIns="0" bIns="0" rtlCol="0" anchor="ctr"/>
          <a:lstStyle/>
          <a:p>
            <a:pPr marL="0" indent="0" algn="ctr">
              <a:lnSpc>
                <a:spcPct val="100000"/>
              </a:lnSpc>
              <a:buNone/>
            </a:pPr>
            <a:r>
              <a:rPr lang="en-US" sz="1850" dirty="0">
                <a:solidFill>
                  <a:srgbClr val="4C4C4D"/>
                </a:solidFill>
                <a:latin typeface="Crimson Pro SemiBold" pitchFamily="34" charset="0"/>
                <a:ea typeface="Crimson Pro SemiBold" pitchFamily="34" charset="-122"/>
                <a:cs typeface="Crimson Pro SemiBold" pitchFamily="34" charset="-120"/>
              </a:rPr>
              <a:t>3</a:t>
            </a:r>
            <a:endParaRPr lang="en-US" sz="1850" dirty="0"/>
          </a:p>
        </p:txBody>
      </p:sp>
      <p:sp>
        <p:nvSpPr>
          <p:cNvPr id="15" name="Text 10"/>
          <p:cNvSpPr/>
          <p:nvPr/>
        </p:nvSpPr>
        <p:spPr>
          <a:xfrm>
            <a:off x="8178000" y="2917726"/>
            <a:ext cx="3172539" cy="502047"/>
          </a:xfrm>
          <a:prstGeom prst="rect">
            <a:avLst/>
          </a:prstGeom>
          <a:noFill/>
          <a:ln/>
        </p:spPr>
        <p:txBody>
          <a:bodyPr wrap="square" lIns="0" tIns="0" rIns="0" bIns="0" rtlCol="0" anchor="t">
            <a:normAutofit/>
          </a:bodyPr>
          <a:lstStyle/>
          <a:p>
            <a:pPr marL="0" indent="0" algn="l">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Build a Data-Driven Decision-Making Process</a:t>
            </a:r>
            <a:endParaRPr lang="en-US" sz="1550" dirty="0"/>
          </a:p>
        </p:txBody>
      </p:sp>
      <p:sp>
        <p:nvSpPr>
          <p:cNvPr id="16" name="Text 11"/>
          <p:cNvSpPr/>
          <p:nvPr/>
        </p:nvSpPr>
        <p:spPr>
          <a:xfrm>
            <a:off x="8178000" y="3501628"/>
            <a:ext cx="3172539" cy="1901825"/>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Management should continuously monitor key performance indicators such as revenue, profit, profit margin, customer growth, order volume, and discount effectiveness through interactive dashboards. Regular performance reviews will enable faster decision-making and support sustainable business growth.</a:t>
            </a:r>
            <a:endParaRPr lang="en-US" sz="1250" dirty="0"/>
          </a:p>
        </p:txBody>
      </p:sp>
    </p:spTree>
    <p:extLst>
      <p:ext uri="{BB962C8B-B14F-4D97-AF65-F5344CB8AC3E}">
        <p14:creationId xmlns:p14="http://schemas.microsoft.com/office/powerpoint/2010/main" val="166264204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61475" y="3001070"/>
            <a:ext cx="10868745" cy="815181"/>
          </a:xfrm>
          <a:prstGeom prst="rect">
            <a:avLst/>
          </a:prstGeom>
          <a:noFill/>
          <a:ln/>
        </p:spPr>
        <p:txBody>
          <a:bodyPr wrap="none" lIns="0" tIns="0" rIns="0" bIns="0" rtlCol="0" anchor="t"/>
          <a:lstStyle/>
          <a:p>
            <a:pPr marL="0" indent="0" algn="l">
              <a:lnSpc>
                <a:spcPct val="104000"/>
              </a:lnSpc>
              <a:buNone/>
            </a:pPr>
            <a:r>
              <a:rPr lang="en-US" sz="5100" dirty="0">
                <a:solidFill>
                  <a:srgbClr val="152D47"/>
                </a:solidFill>
                <a:latin typeface="Crimson Pro SemiBold" pitchFamily="34" charset="0"/>
                <a:ea typeface="Crimson Pro SemiBold" pitchFamily="34" charset="-122"/>
                <a:cs typeface="Crimson Pro SemiBold" pitchFamily="34" charset="-120"/>
              </a:rPr>
              <a:t>Project Conclusion</a:t>
            </a:r>
            <a:endParaRPr lang="en-US" sz="5100" dirty="0"/>
          </a:p>
        </p:txBody>
      </p:sp>
      <p:sp>
        <p:nvSpPr>
          <p:cNvPr id="5" name="Shape 3"/>
          <p:cNvSpPr/>
          <p:nvPr/>
        </p:nvSpPr>
        <p:spPr>
          <a:xfrm>
            <a:off x="661475" y="4146947"/>
            <a:ext cx="10868745" cy="25400"/>
          </a:xfrm>
          <a:prstGeom prst="roundRect">
            <a:avLst>
              <a:gd name="adj" fmla="val 59999"/>
            </a:avLst>
          </a:prstGeom>
          <a:solidFill>
            <a:srgbClr val="4C4C4D">
              <a:alpha val="50000"/>
            </a:srgbClr>
          </a:solidFill>
          <a:ln/>
        </p:spPr>
      </p:sp>
    </p:spTree>
    <p:extLst>
      <p:ext uri="{BB962C8B-B14F-4D97-AF65-F5344CB8AC3E}">
        <p14:creationId xmlns:p14="http://schemas.microsoft.com/office/powerpoint/2010/main" val="191219635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082477"/>
            <a:ext cx="813970" cy="243979"/>
          </a:xfrm>
          <a:prstGeom prst="roundRect">
            <a:avLst>
              <a:gd name="adj" fmla="val 7902"/>
            </a:avLst>
          </a:prstGeom>
          <a:solidFill>
            <a:srgbClr val="CCD7FF"/>
          </a:solidFill>
          <a:ln/>
        </p:spPr>
      </p:sp>
      <p:sp>
        <p:nvSpPr>
          <p:cNvPr id="3" name="Text 1"/>
          <p:cNvSpPr/>
          <p:nvPr/>
        </p:nvSpPr>
        <p:spPr>
          <a:xfrm>
            <a:off x="757814" y="1130598"/>
            <a:ext cx="1230877" cy="147737"/>
          </a:xfrm>
          <a:prstGeom prst="rect">
            <a:avLst/>
          </a:prstGeom>
          <a:noFill/>
          <a:ln/>
        </p:spPr>
        <p:txBody>
          <a:bodyPr wrap="none" lIns="0" tIns="0" rIns="0" bIns="0" rtlCol="0" anchor="t"/>
          <a:lstStyle/>
          <a:p>
            <a:pPr marL="0" indent="0" algn="l">
              <a:lnSpc>
                <a:spcPct val="96000"/>
              </a:lnSpc>
              <a:buNone/>
            </a:pPr>
            <a:r>
              <a:rPr lang="en-US" sz="1000" dirty="0">
                <a:solidFill>
                  <a:srgbClr val="4C4C4D"/>
                </a:solidFill>
                <a:latin typeface="Heebo" pitchFamily="34" charset="0"/>
                <a:ea typeface="Heebo" pitchFamily="34" charset="-122"/>
                <a:cs typeface="Heebo" pitchFamily="34" charset="-120"/>
              </a:rPr>
              <a:t>SUMMARY</a:t>
            </a:r>
            <a:endParaRPr lang="en-US" sz="1000" dirty="0"/>
          </a:p>
        </p:txBody>
      </p:sp>
      <p:sp>
        <p:nvSpPr>
          <p:cNvPr id="4" name="Text 2"/>
          <p:cNvSpPr/>
          <p:nvPr/>
        </p:nvSpPr>
        <p:spPr>
          <a:xfrm>
            <a:off x="661475" y="1381026"/>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152D47"/>
                </a:solidFill>
                <a:latin typeface="Crimson Pro SemiBold" pitchFamily="34" charset="0"/>
                <a:ea typeface="Crimson Pro SemiBold" pitchFamily="34" charset="-122"/>
                <a:cs typeface="Crimson Pro SemiBold" pitchFamily="34" charset="-120"/>
              </a:rPr>
              <a:t>Key Findings &amp; Strategic Outlook</a:t>
            </a:r>
            <a:endParaRPr lang="en-US" sz="315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661475" y="2087860"/>
            <a:ext cx="3531901" cy="3687564"/>
          </a:xfrm>
          <a:prstGeom prst="rect">
            <a:avLst/>
          </a:prstGeom>
        </p:spPr>
      </p:pic>
      <p:sp>
        <p:nvSpPr>
          <p:cNvPr id="6" name="Text 3"/>
          <p:cNvSpPr/>
          <p:nvPr/>
        </p:nvSpPr>
        <p:spPr>
          <a:xfrm>
            <a:off x="917354" y="2267545"/>
            <a:ext cx="3096341" cy="309046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The analysis indicates that the company demonstrated strong business performance during the analysis period, with consistent growth in revenue, profit, and customer orders. The </a:t>
            </a:r>
            <a:r>
              <a:rPr lang="en-US" sz="1250" b="1" dirty="0">
                <a:solidFill>
                  <a:srgbClr val="4C4C4D"/>
                </a:solidFill>
                <a:latin typeface="Heebo Bold" pitchFamily="34" charset="0"/>
                <a:ea typeface="Heebo Bold" pitchFamily="34" charset="-122"/>
                <a:cs typeface="Heebo Bold" pitchFamily="34" charset="-120"/>
              </a:rPr>
              <a:t>United States</a:t>
            </a:r>
            <a:r>
              <a:rPr lang="en-US" sz="1250" dirty="0">
                <a:solidFill>
                  <a:srgbClr val="4C4C4D"/>
                </a:solidFill>
                <a:latin typeface="Heebo" pitchFamily="34" charset="0"/>
                <a:ea typeface="Heebo" pitchFamily="34" charset="-122"/>
                <a:cs typeface="Heebo" pitchFamily="34" charset="-120"/>
              </a:rPr>
              <a:t> emerged as the company's strongest market, while the </a:t>
            </a:r>
            <a:r>
              <a:rPr lang="en-US" sz="1250" b="1" dirty="0">
                <a:solidFill>
                  <a:srgbClr val="4C4C4D"/>
                </a:solidFill>
                <a:latin typeface="Heebo Bold" pitchFamily="34" charset="0"/>
                <a:ea typeface="Heebo Bold" pitchFamily="34" charset="-122"/>
                <a:cs typeface="Heebo Bold" pitchFamily="34" charset="-120"/>
              </a:rPr>
              <a:t>Electronics</a:t>
            </a:r>
            <a:r>
              <a:rPr lang="en-US" sz="1250" dirty="0">
                <a:solidFill>
                  <a:srgbClr val="4C4C4D"/>
                </a:solidFill>
                <a:latin typeface="Heebo" pitchFamily="34" charset="0"/>
                <a:ea typeface="Heebo" pitchFamily="34" charset="-122"/>
                <a:cs typeface="Heebo" pitchFamily="34" charset="-120"/>
              </a:rPr>
              <a:t> category and the </a:t>
            </a:r>
            <a:r>
              <a:rPr lang="en-US" sz="1250" b="1" dirty="0">
                <a:solidFill>
                  <a:srgbClr val="4C4C4D"/>
                </a:solidFill>
                <a:latin typeface="Heebo Bold" pitchFamily="34" charset="0"/>
                <a:ea typeface="Heebo Bold" pitchFamily="34" charset="-122"/>
                <a:cs typeface="Heebo Bold" pitchFamily="34" charset="-120"/>
              </a:rPr>
              <a:t>Website</a:t>
            </a:r>
            <a:r>
              <a:rPr lang="en-US" sz="1250" dirty="0">
                <a:solidFill>
                  <a:srgbClr val="4C4C4D"/>
                </a:solidFill>
                <a:latin typeface="Heebo" pitchFamily="34" charset="0"/>
                <a:ea typeface="Heebo" pitchFamily="34" charset="-122"/>
                <a:cs typeface="Heebo" pitchFamily="34" charset="-120"/>
              </a:rPr>
              <a:t> sales channel were the largest contributors to overall revenue and profitability. Additionally, </a:t>
            </a:r>
            <a:r>
              <a:rPr lang="en-US" sz="1250" b="1" dirty="0">
                <a:solidFill>
                  <a:srgbClr val="4C4C4D"/>
                </a:solidFill>
                <a:latin typeface="Heebo Bold" pitchFamily="34" charset="0"/>
                <a:ea typeface="Heebo Bold" pitchFamily="34" charset="-122"/>
                <a:cs typeface="Heebo Bold" pitchFamily="34" charset="-120"/>
              </a:rPr>
              <a:t>VIP customers</a:t>
            </a:r>
            <a:r>
              <a:rPr lang="en-US" sz="1250" dirty="0">
                <a:solidFill>
                  <a:srgbClr val="4C4C4D"/>
                </a:solidFill>
                <a:latin typeface="Heebo" pitchFamily="34" charset="0"/>
                <a:ea typeface="Heebo" pitchFamily="34" charset="-122"/>
                <a:cs typeface="Heebo" pitchFamily="34" charset="-120"/>
              </a:rPr>
              <a:t> generated the highest profit contribution, highlighting the importance of customer retention and loyalty initiatives.</a:t>
            </a:r>
            <a:endParaRPr lang="en-US" sz="12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329897" y="2087860"/>
            <a:ext cx="3531901" cy="3687564"/>
          </a:xfrm>
          <a:prstGeom prst="rect">
            <a:avLst/>
          </a:prstGeom>
        </p:spPr>
      </p:pic>
      <p:sp>
        <p:nvSpPr>
          <p:cNvPr id="8" name="Text 4"/>
          <p:cNvSpPr/>
          <p:nvPr/>
        </p:nvSpPr>
        <p:spPr>
          <a:xfrm>
            <a:off x="4585776" y="2267545"/>
            <a:ext cx="3096341" cy="309046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The profitability analysis showed that although the company used discounts to support sales, higher discount levels were associated with lower profit margins. Products sold without discounts generated the highest profitability, indicating that discount strategies should be carefully managed to balance customer acquisition with sustainable earnings. Furthermore, no country or sales channel showed negative profitability, demonstrating that the company's operations remain financially healthy across all major markets.</a:t>
            </a:r>
            <a:endParaRPr lang="en-US" sz="1250" dirty="0"/>
          </a:p>
        </p:txBody>
      </p:sp>
      <p:pic>
        <p:nvPicPr>
          <p:cNvPr id="9"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7998319" y="2087860"/>
            <a:ext cx="3531901" cy="3687564"/>
          </a:xfrm>
          <a:prstGeom prst="rect">
            <a:avLst/>
          </a:prstGeom>
        </p:spPr>
      </p:pic>
      <p:sp>
        <p:nvSpPr>
          <p:cNvPr id="10" name="Text 5"/>
          <p:cNvSpPr/>
          <p:nvPr/>
        </p:nvSpPr>
        <p:spPr>
          <a:xfrm>
            <a:off x="8254198" y="2267545"/>
            <a:ext cx="3096341" cy="3328194"/>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C4C4D"/>
                </a:solidFill>
                <a:latin typeface="Heebo" pitchFamily="34" charset="0"/>
                <a:ea typeface="Heebo" pitchFamily="34" charset="-122"/>
                <a:cs typeface="Heebo" pitchFamily="34" charset="-120"/>
              </a:rPr>
              <a:t>Overall, the business is in a strong financial position with healthy revenue growth, positive profitability, and well-performing markets. To sustain long-term growth, management should continue investing in high-performing products, categories, countries, and sales channels while optimizing discount strategies, strengthening customer relationships, and continuously monitoring key business performance indicators. These actions will help the company maintain its competitive advantage and support profitable, sustainable growth.</a:t>
            </a:r>
            <a:endParaRPr lang="en-US" sz="1250" dirty="0"/>
          </a:p>
        </p:txBody>
      </p:sp>
    </p:spTree>
    <p:extLst>
      <p:ext uri="{BB962C8B-B14F-4D97-AF65-F5344CB8AC3E}">
        <p14:creationId xmlns:p14="http://schemas.microsoft.com/office/powerpoint/2010/main" val="189439716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5367</Words>
  <Application>Microsoft Office PowerPoint</Application>
  <PresentationFormat>Widescreen</PresentationFormat>
  <Paragraphs>389</Paragraphs>
  <Slides>52</Slides>
  <Notes>52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Heebo</vt:lpstr>
      <vt:lpstr>Crimson Pro SemiBold</vt:lpstr>
      <vt:lpstr>Arial</vt:lpstr>
      <vt:lpstr>Heebo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T480</dc:creator>
  <cp:lastModifiedBy>T480</cp:lastModifiedBy>
  <cp:revision>4</cp:revision>
  <dcterms:created xsi:type="dcterms:W3CDTF">2026-07-26T12:12:47Z</dcterms:created>
  <dcterms:modified xsi:type="dcterms:W3CDTF">2026-08-07T05:11:18Z</dcterms:modified>
</cp:coreProperties>
</file>